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14F83D-C636-182F-BD7D-D920D0AEF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941E819-BCDD-E927-EEE4-2D7FFDD0C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B4EAA8-774C-487B-4F47-B28C1DFFE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8DD7AB-73BA-2E9D-6D5E-9F8CEC54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6B5D86-A04C-2EB3-250D-334955A3E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598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ECA95E-70BB-A74C-0366-BB59B3B71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5AC045-8E96-D57E-5AA6-D4803D50B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013CFE-D36F-EBE3-8AE3-32A493A8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C8ACC4-4434-75A9-FAF0-AF7568EC3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CC024B-9525-0811-E025-1499E86F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2392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201FDB-2865-5422-1E3E-C8F7C0C5D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4E80C7-3853-F486-618C-79E9433ED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E33B24-740A-15FC-1590-BE740F36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64C78B-676E-BEB6-F7A5-06E922F3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D3EE51-182E-0E76-96D5-B4D2722D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96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92BAC-C82C-5DA9-6F07-C32B6853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06E313-E960-6802-2A43-8736B6DC8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173E8C-AB1C-3593-825F-6067ACEAE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BCE2FD-53D9-E876-E068-FC001D95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DC9AF7-CF20-FE87-418E-F7015893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3E63A3-11F3-2AC3-58F6-E900F14B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1010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2D5FE0-4731-577D-151E-482E0C2E9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C63E35-A3FB-3677-BCB2-6192C0EC3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BB654D-0F5B-E795-288E-A7B3BE68E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BC98812-6A51-C9B4-ADF7-E1FB79AC0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8C631B2-912C-8352-00C7-0152AD812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7D37585-538F-0F6A-E0C6-D1B6705A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6B2D5F-4B47-658B-C3DE-B9A3BF74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CC6E4B1-0DD9-8346-3F2B-0E8BE1DB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76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0CC33C-3FCA-44B5-F5DC-3F12C6E3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8CC445-46E7-DEAE-3ED5-F0B349779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1AF95C-E7D5-67A8-A8C9-308D1241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241B3A3-4BB5-2024-D259-AB1067F3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550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BA86AE9-3215-9750-5BF6-96593FC1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8B916D-A231-AD24-8D53-147E59BA6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A1F8C8-AAC3-3E1A-3306-404DF9D0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9779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720963-282F-C95D-625C-208242F88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DF7169-931E-BCCD-FF0F-71E3273C9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E30F2A-F8EA-BB46-D8F7-5459F56B8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F5F74B-3D28-92AE-78FF-9CFB583A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535565-4C82-65C9-9FD5-30C111D5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5346F0-75FC-8950-A665-41E89CC9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95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F8D84B-4007-BC5E-6D5E-87785E08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38A113B-14D6-340D-72BC-112A1BD5C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E77749-B4DE-6F07-167F-1B10D5D06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698A53-140C-01A6-5335-B8E46D58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780FB8-A1A3-F381-59C0-4366D2221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41379A-2B46-1CE8-5FD1-50190AF2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1708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3779B-584C-3032-9D60-E8DB87BF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751BF6-36C1-4F89-0A5E-681A0F92D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945441-B23D-0580-4D13-D5AB7B8A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79ADF-8D40-6D2E-3ACA-60BEB738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C87CD4-7A3D-9D6C-54F5-7E8E7990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4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8DC3364-B219-26FE-FB3C-2E81890DE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E04ABDD-8D9C-07D0-71C3-9111E6BF2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122884-8AF8-C29F-7C4D-B3A613E96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723298-BFB5-DD4B-507F-6370170E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5469BF-CC51-2783-2BD2-8C6F5411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9170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C497F91-0D8B-131D-4CF3-59AC6E88F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EF8C84-87BC-B5E6-7069-D5AB7C7BC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6C9362-E889-F98B-ED11-9B247185C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A32FB-9189-49E3-8624-07143E7B93AC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B7A364-DEF8-071C-D4F1-B303B1ACA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E86A68-097C-5B1B-6515-1541A7E7B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033D9-CA53-4C42-AF37-B2B194808E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37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DF0BE9-4DD1-9613-0CF0-AB5962F2A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CB25C8-C21D-AA8D-AC26-C9F549564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3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2EE929-9263-95CA-6D03-EC8C7D608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AWS Config</a:t>
            </a:r>
            <a:r>
              <a:rPr kumimoji="1" lang="ja-JP" altLang="en-US" dirty="0"/>
              <a:t>によるポリシー違反の自動修正の登場人物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7E2F62-BBF4-AC78-FF55-BC3A448F7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ja-JP" dirty="0"/>
              <a:t>AWS Config</a:t>
            </a:r>
            <a:r>
              <a:rPr lang="ja-JP" altLang="en-US" dirty="0"/>
              <a:t>ルール（</a:t>
            </a:r>
            <a:r>
              <a:rPr lang="en-US" altLang="ja-JP" dirty="0" err="1"/>
              <a:t>aws_config_config_rule</a:t>
            </a:r>
            <a:r>
              <a:rPr lang="ja-JP" altLang="en-US" dirty="0"/>
              <a:t>）</a:t>
            </a:r>
          </a:p>
          <a:p>
            <a:pPr lvl="1"/>
            <a:r>
              <a:rPr lang="ja-JP" altLang="en-US" dirty="0"/>
              <a:t>セキュリティグループの違反（例：特定ポート開放）を自動検知</a:t>
            </a:r>
          </a:p>
          <a:p>
            <a:r>
              <a:rPr lang="en-US" altLang="ja-JP" dirty="0"/>
              <a:t>SSM Automation</a:t>
            </a:r>
            <a:r>
              <a:rPr lang="ja-JP" altLang="en-US" dirty="0"/>
              <a:t>ドキュメント（</a:t>
            </a:r>
            <a:r>
              <a:rPr lang="en-US" altLang="ja-JP" dirty="0" err="1"/>
              <a:t>aws_ssm_document</a:t>
            </a:r>
            <a:r>
              <a:rPr lang="ja-JP" altLang="en-US" dirty="0"/>
              <a:t>）</a:t>
            </a:r>
          </a:p>
          <a:p>
            <a:pPr lvl="1"/>
            <a:r>
              <a:rPr lang="ja-JP" altLang="en-US" dirty="0"/>
              <a:t>違反リソース（</a:t>
            </a:r>
            <a:r>
              <a:rPr lang="en-US" altLang="ja-JP" dirty="0" err="1"/>
              <a:t>SecurityGroup</a:t>
            </a:r>
            <a:r>
              <a:rPr lang="ja-JP" altLang="en-US" dirty="0"/>
              <a:t>）の修正手順を定義</a:t>
            </a:r>
          </a:p>
          <a:p>
            <a:r>
              <a:rPr lang="en-US" altLang="ja-JP" dirty="0"/>
              <a:t>Remediation</a:t>
            </a:r>
            <a:r>
              <a:rPr lang="ja-JP" altLang="en-US" dirty="0"/>
              <a:t>設定（</a:t>
            </a:r>
            <a:r>
              <a:rPr lang="en-US" altLang="ja-JP" dirty="0" err="1"/>
              <a:t>aws_config_remediation_configuration</a:t>
            </a:r>
            <a:r>
              <a:rPr lang="ja-JP" altLang="en-US" dirty="0"/>
              <a:t>）</a:t>
            </a:r>
          </a:p>
          <a:p>
            <a:pPr lvl="1"/>
            <a:r>
              <a:rPr lang="en-US" altLang="ja-JP" dirty="0"/>
              <a:t>Config</a:t>
            </a:r>
            <a:r>
              <a:rPr lang="ja-JP" altLang="en-US" dirty="0"/>
              <a:t>ルール違反時に</a:t>
            </a:r>
            <a:r>
              <a:rPr lang="en-US" altLang="ja-JP" dirty="0"/>
              <a:t>SSM Automation</a:t>
            </a:r>
            <a:r>
              <a:rPr lang="ja-JP" altLang="en-US" dirty="0"/>
              <a:t>を自動実行</a:t>
            </a:r>
          </a:p>
          <a:p>
            <a:r>
              <a:rPr lang="en-US" altLang="ja-JP" dirty="0"/>
              <a:t>Remediation</a:t>
            </a:r>
            <a:r>
              <a:rPr lang="ja-JP" altLang="en-US" dirty="0"/>
              <a:t>用</a:t>
            </a:r>
            <a:r>
              <a:rPr lang="en-US" altLang="ja-JP" dirty="0"/>
              <a:t>IAM</a:t>
            </a:r>
            <a:r>
              <a:rPr lang="ja-JP" altLang="en-US" dirty="0"/>
              <a:t>ロール（</a:t>
            </a:r>
            <a:r>
              <a:rPr lang="en-US" altLang="ja-JP" dirty="0" err="1"/>
              <a:t>aws_iam_role.remediation_role</a:t>
            </a:r>
            <a:r>
              <a:rPr lang="ja-JP" altLang="en-US" dirty="0"/>
              <a:t>）</a:t>
            </a:r>
          </a:p>
          <a:p>
            <a:pPr lvl="1"/>
            <a:r>
              <a:rPr lang="en-US" altLang="ja-JP" dirty="0"/>
              <a:t>SSM Automation</a:t>
            </a:r>
            <a:r>
              <a:rPr lang="ja-JP" altLang="en-US" dirty="0"/>
              <a:t>が権限を引き受けて修正操作を実行</a:t>
            </a:r>
            <a:endParaRPr lang="en-US" altLang="ja-JP" dirty="0"/>
          </a:p>
          <a:p>
            <a:r>
              <a:rPr lang="en-US" altLang="ja-JP" b="1" dirty="0"/>
              <a:t>1. S3</a:t>
            </a:r>
            <a:r>
              <a:rPr lang="ja-JP" altLang="en-US" b="1" dirty="0"/>
              <a:t>バケット（</a:t>
            </a:r>
            <a:r>
              <a:rPr lang="en-US" altLang="ja-JP" b="1" dirty="0" err="1"/>
              <a:t>config_bucket</a:t>
            </a:r>
            <a:r>
              <a:rPr lang="ja-JP" altLang="en-US" b="1" dirty="0"/>
              <a:t>）</a:t>
            </a:r>
          </a:p>
          <a:p>
            <a:pPr marL="0" indent="0">
              <a:buNone/>
            </a:pPr>
            <a:r>
              <a:rPr lang="en-US" altLang="ja-JP" dirty="0"/>
              <a:t>AWS Config</a:t>
            </a:r>
            <a:r>
              <a:rPr lang="ja-JP" altLang="en-US" dirty="0"/>
              <a:t>が記録した設定履歴や評価結果のログを保存するための</a:t>
            </a:r>
            <a:r>
              <a:rPr lang="en-US" altLang="ja-JP" dirty="0"/>
              <a:t>S3</a:t>
            </a:r>
            <a:r>
              <a:rPr lang="ja-JP" altLang="en-US" dirty="0"/>
              <a:t>バケットです。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b="1" dirty="0"/>
              <a:t>2. AWS Config </a:t>
            </a:r>
            <a:r>
              <a:rPr lang="ja-JP" altLang="en-US" b="1" dirty="0"/>
              <a:t>レコーダー（</a:t>
            </a:r>
            <a:r>
              <a:rPr lang="en-US" altLang="ja-JP" b="1" dirty="0" err="1"/>
              <a:t>aws_config_configuration_recorder.main</a:t>
            </a:r>
            <a:r>
              <a:rPr lang="ja-JP" altLang="en-US" b="1" dirty="0"/>
              <a:t>）</a:t>
            </a:r>
          </a:p>
          <a:p>
            <a:pPr marL="0" indent="0">
              <a:buNone/>
            </a:pPr>
            <a:r>
              <a:rPr lang="en-US" altLang="ja-JP" dirty="0"/>
              <a:t>AWS</a:t>
            </a:r>
            <a:r>
              <a:rPr lang="ja-JP" altLang="en-US" dirty="0"/>
              <a:t>リソースの設定変更を記録する「レコーダー」本体です。</a:t>
            </a:r>
          </a:p>
          <a:p>
            <a:pPr marL="0" indent="0">
              <a:buNone/>
            </a:pPr>
            <a:endParaRPr lang="ja-JP" altLang="en-US" dirty="0"/>
          </a:p>
          <a:p>
            <a:pPr marL="457200" lvl="1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2398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F1473-B9B9-3235-1F0B-D545595D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処理の流れ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B8C719-0811-069B-C00C-A75CB6A4B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AWS Config</a:t>
            </a:r>
            <a:r>
              <a:rPr lang="ja-JP" altLang="en-US" dirty="0"/>
              <a:t>ルールが</a:t>
            </a:r>
            <a:r>
              <a:rPr lang="en-US" altLang="ja-JP" dirty="0" err="1"/>
              <a:t>SecurityGroup</a:t>
            </a:r>
            <a:r>
              <a:rPr lang="ja-JP" altLang="en-US" dirty="0"/>
              <a:t>の違反（例：ポート</a:t>
            </a:r>
            <a:r>
              <a:rPr lang="en-US" altLang="ja-JP" dirty="0"/>
              <a:t>3820</a:t>
            </a:r>
            <a:r>
              <a:rPr lang="ja-JP" altLang="en-US" dirty="0"/>
              <a:t>開放）を検知</a:t>
            </a:r>
          </a:p>
          <a:p>
            <a:r>
              <a:rPr lang="en-US" altLang="ja-JP" dirty="0"/>
              <a:t>Remediation</a:t>
            </a:r>
            <a:r>
              <a:rPr lang="ja-JP" altLang="en-US" dirty="0"/>
              <a:t>設定により、違反リソース</a:t>
            </a:r>
            <a:r>
              <a:rPr lang="en-US" altLang="ja-JP" dirty="0"/>
              <a:t>ID</a:t>
            </a:r>
            <a:r>
              <a:rPr lang="ja-JP" altLang="en-US" dirty="0"/>
              <a:t>（</a:t>
            </a:r>
            <a:r>
              <a:rPr lang="en-US" altLang="ja-JP" dirty="0" err="1"/>
              <a:t>GroupId</a:t>
            </a:r>
            <a:r>
              <a:rPr lang="ja-JP" altLang="en-US" dirty="0"/>
              <a:t>）と</a:t>
            </a:r>
            <a:r>
              <a:rPr lang="en-US" altLang="ja-JP" dirty="0"/>
              <a:t>IAM</a:t>
            </a:r>
            <a:r>
              <a:rPr lang="ja-JP" altLang="en-US" dirty="0"/>
              <a:t>ロール（</a:t>
            </a:r>
            <a:r>
              <a:rPr lang="en-US" altLang="ja-JP" dirty="0" err="1"/>
              <a:t>AutomationAssumeRole</a:t>
            </a:r>
            <a:r>
              <a:rPr lang="ja-JP" altLang="en-US" dirty="0"/>
              <a:t>）をパラメータとして</a:t>
            </a:r>
            <a:r>
              <a:rPr lang="en-US" altLang="ja-JP" dirty="0"/>
              <a:t>SSM Automation</a:t>
            </a:r>
            <a:r>
              <a:rPr lang="ja-JP" altLang="en-US" dirty="0"/>
              <a:t>ドキュメントが自動実行される</a:t>
            </a:r>
          </a:p>
          <a:p>
            <a:r>
              <a:rPr lang="en-US" altLang="ja-JP" dirty="0"/>
              <a:t>SSM Automation</a:t>
            </a:r>
            <a:r>
              <a:rPr lang="ja-JP" altLang="en-US" dirty="0"/>
              <a:t>は、受け取った</a:t>
            </a:r>
            <a:r>
              <a:rPr lang="en-US" altLang="ja-JP" dirty="0" err="1"/>
              <a:t>GroupId</a:t>
            </a:r>
            <a:r>
              <a:rPr lang="ja-JP" altLang="en-US" dirty="0"/>
              <a:t>の</a:t>
            </a:r>
            <a:r>
              <a:rPr lang="en-US" altLang="ja-JP" dirty="0" err="1"/>
              <a:t>SecurityGroup</a:t>
            </a:r>
            <a:r>
              <a:rPr lang="ja-JP" altLang="en-US" dirty="0"/>
              <a:t>から該当ポートのインバウンドルールを削除</a:t>
            </a:r>
          </a:p>
          <a:p>
            <a:r>
              <a:rPr lang="ja-JP" altLang="en-US" dirty="0"/>
              <a:t>修正結果は</a:t>
            </a:r>
            <a:r>
              <a:rPr lang="en-US" altLang="ja-JP" dirty="0"/>
              <a:t>Config</a:t>
            </a:r>
            <a:r>
              <a:rPr lang="ja-JP" altLang="en-US" dirty="0"/>
              <a:t>や</a:t>
            </a:r>
            <a:r>
              <a:rPr lang="en-US" altLang="ja-JP" dirty="0"/>
              <a:t>CloudWatch Logs</a:t>
            </a:r>
            <a:r>
              <a:rPr lang="ja-JP" altLang="en-US" dirty="0"/>
              <a:t>に記録される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2764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B3288B-75E6-3983-0B48-DD305089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必要な権限と権限の受け渡し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E4682B-0739-1541-7502-5A3E9FDC5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Remediation</a:t>
            </a:r>
            <a:r>
              <a:rPr lang="ja-JP" altLang="en-US" dirty="0"/>
              <a:t>用</a:t>
            </a:r>
            <a:r>
              <a:rPr lang="en-US" altLang="ja-JP" dirty="0"/>
              <a:t>IAM</a:t>
            </a:r>
            <a:r>
              <a:rPr lang="ja-JP" altLang="en-US" dirty="0"/>
              <a:t>ロール（</a:t>
            </a:r>
            <a:r>
              <a:rPr lang="en-US" altLang="ja-JP" dirty="0" err="1"/>
              <a:t>remediation_role</a:t>
            </a:r>
            <a:r>
              <a:rPr lang="ja-JP" altLang="en-US" dirty="0"/>
              <a:t>）に必要な権限</a:t>
            </a:r>
          </a:p>
          <a:p>
            <a:pPr lvl="1"/>
            <a:r>
              <a:rPr lang="en-US" altLang="ja-JP" dirty="0" err="1"/>
              <a:t>ssm:StartAutomationExecution</a:t>
            </a:r>
            <a:r>
              <a:rPr lang="ja-JP" altLang="en-US" dirty="0"/>
              <a:t>（</a:t>
            </a:r>
            <a:r>
              <a:rPr lang="en-US" altLang="ja-JP" dirty="0"/>
              <a:t>Automation</a:t>
            </a:r>
            <a:r>
              <a:rPr lang="ja-JP" altLang="en-US" dirty="0"/>
              <a:t>実行）</a:t>
            </a:r>
          </a:p>
          <a:p>
            <a:pPr lvl="1"/>
            <a:r>
              <a:rPr lang="en-US" altLang="ja-JP" dirty="0"/>
              <a:t>ec2:RevokeSecurityGroupIngress, ec2:DescribeSecurityGroups</a:t>
            </a:r>
            <a:r>
              <a:rPr lang="ja-JP" altLang="en-US" dirty="0"/>
              <a:t>（</a:t>
            </a:r>
            <a:r>
              <a:rPr lang="en-US" altLang="ja-JP" dirty="0"/>
              <a:t>SG</a:t>
            </a:r>
            <a:r>
              <a:rPr lang="ja-JP" altLang="en-US" dirty="0"/>
              <a:t>操作）</a:t>
            </a:r>
          </a:p>
          <a:p>
            <a:r>
              <a:rPr lang="en-US" altLang="ja-JP" dirty="0"/>
              <a:t>SSM Automation</a:t>
            </a:r>
            <a:r>
              <a:rPr lang="ja-JP" altLang="en-US" dirty="0"/>
              <a:t>は、</a:t>
            </a:r>
            <a:r>
              <a:rPr lang="en-US" altLang="ja-JP" dirty="0" err="1"/>
              <a:t>AutomationAssumeRole</a:t>
            </a:r>
            <a:r>
              <a:rPr lang="ja-JP" altLang="en-US" dirty="0"/>
              <a:t>として</a:t>
            </a:r>
            <a:r>
              <a:rPr lang="en-US" altLang="ja-JP" dirty="0" err="1"/>
              <a:t>remediation_role</a:t>
            </a:r>
            <a:r>
              <a:rPr lang="ja-JP" altLang="en-US" dirty="0"/>
              <a:t>を引き受けて実行</a:t>
            </a:r>
          </a:p>
          <a:p>
            <a:r>
              <a:rPr lang="en-US" altLang="ja-JP" dirty="0" err="1"/>
              <a:t>assume_role_policy</a:t>
            </a:r>
            <a:r>
              <a:rPr lang="ja-JP" altLang="en-US" dirty="0"/>
              <a:t>で「</a:t>
            </a:r>
            <a:r>
              <a:rPr lang="en-US" altLang="ja-JP" dirty="0"/>
              <a:t>ssm.amazonaws.com</a:t>
            </a:r>
            <a:r>
              <a:rPr lang="ja-JP" altLang="en-US" dirty="0"/>
              <a:t>」からの</a:t>
            </a:r>
            <a:r>
              <a:rPr lang="en-US" altLang="ja-JP" dirty="0" err="1"/>
              <a:t>AssumeRole</a:t>
            </a:r>
            <a:r>
              <a:rPr lang="ja-JP" altLang="en-US" dirty="0"/>
              <a:t>を許可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485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F20D37-6C9C-DD69-9D9C-26B99A991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自律防御システム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212C26-F33C-6CC7-54BB-C54D1299B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000" b="1" dirty="0"/>
              <a:t>■ 登場人物リスト</a:t>
            </a:r>
          </a:p>
          <a:p>
            <a:r>
              <a:rPr lang="en-US" altLang="ja-JP" sz="2000" b="1" dirty="0" err="1"/>
              <a:t>GuardDuty</a:t>
            </a:r>
            <a:r>
              <a:rPr lang="en-US" altLang="ja-JP" sz="2000" b="1" dirty="0"/>
              <a:t> Detector</a:t>
            </a:r>
            <a:endParaRPr lang="ja-JP" altLang="en-US" sz="2000" dirty="0"/>
          </a:p>
          <a:p>
            <a:pPr lvl="1"/>
            <a:r>
              <a:rPr lang="en-US" altLang="ja-JP" sz="1800" dirty="0"/>
              <a:t>AWS</a:t>
            </a:r>
            <a:r>
              <a:rPr lang="ja-JP" altLang="en-US" sz="1800" dirty="0"/>
              <a:t>の脅威検知サービス本体。</a:t>
            </a:r>
            <a:r>
              <a:rPr lang="en-US" altLang="ja-JP" sz="1800" dirty="0"/>
              <a:t>VPC Flow Logs</a:t>
            </a:r>
            <a:r>
              <a:rPr lang="ja-JP" altLang="en-US" sz="1800" dirty="0"/>
              <a:t>等を監視し、脅威（</a:t>
            </a:r>
            <a:r>
              <a:rPr lang="en-US" altLang="ja-JP" sz="1800" dirty="0"/>
              <a:t>Finding</a:t>
            </a:r>
            <a:r>
              <a:rPr lang="ja-JP" altLang="en-US" sz="1800" dirty="0"/>
              <a:t>）を発生させる。</a:t>
            </a:r>
          </a:p>
          <a:p>
            <a:r>
              <a:rPr lang="en-US" altLang="ja-JP" sz="2000" b="1" dirty="0" err="1"/>
              <a:t>GuardDuty</a:t>
            </a:r>
            <a:r>
              <a:rPr lang="en-US" altLang="ja-JP" sz="2000" b="1" dirty="0"/>
              <a:t> Finding</a:t>
            </a:r>
            <a:r>
              <a:rPr lang="ja-JP" altLang="en-US" sz="2000" b="1" dirty="0"/>
              <a:t>（検知イベント）</a:t>
            </a:r>
            <a:endParaRPr lang="ja-JP" altLang="en-US" sz="2000" dirty="0"/>
          </a:p>
          <a:p>
            <a:pPr lvl="1"/>
            <a:r>
              <a:rPr lang="en-US" altLang="ja-JP" sz="1800" dirty="0" err="1"/>
              <a:t>GuardDuty</a:t>
            </a:r>
            <a:r>
              <a:rPr lang="ja-JP" altLang="en-US" sz="1800" dirty="0"/>
              <a:t>が検知した脅威の詳細情報（</a:t>
            </a:r>
            <a:r>
              <a:rPr lang="en-US" altLang="ja-JP" sz="1800" dirty="0"/>
              <a:t>JSON</a:t>
            </a:r>
            <a:r>
              <a:rPr lang="ja-JP" altLang="en-US" sz="1800" dirty="0"/>
              <a:t>形式）。</a:t>
            </a:r>
            <a:r>
              <a:rPr lang="en-US" altLang="ja-JP" sz="1800" dirty="0" err="1"/>
              <a:t>EventBridge</a:t>
            </a:r>
            <a:r>
              <a:rPr lang="ja-JP" altLang="en-US" sz="1800" dirty="0"/>
              <a:t>のトリガーとなる。</a:t>
            </a:r>
          </a:p>
          <a:p>
            <a:r>
              <a:rPr lang="en-US" altLang="ja-JP" sz="2000" b="1" dirty="0" err="1"/>
              <a:t>EventBridge</a:t>
            </a:r>
            <a:r>
              <a:rPr lang="en-US" altLang="ja-JP" sz="2000" b="1" dirty="0"/>
              <a:t> Rule</a:t>
            </a:r>
            <a:r>
              <a:rPr lang="ja-JP" altLang="en-US" sz="2000" b="1" dirty="0"/>
              <a:t>（</a:t>
            </a:r>
            <a:r>
              <a:rPr lang="en-US" altLang="ja-JP" sz="2000" b="1" dirty="0"/>
              <a:t>CloudWatch Event Rule</a:t>
            </a:r>
            <a:r>
              <a:rPr lang="ja-JP" altLang="en-US" sz="2000" b="1" dirty="0"/>
              <a:t>）</a:t>
            </a:r>
            <a:endParaRPr lang="ja-JP" altLang="en-US" sz="2000" dirty="0"/>
          </a:p>
          <a:p>
            <a:pPr lvl="1"/>
            <a:r>
              <a:rPr lang="en-US" altLang="ja-JP" sz="1800" dirty="0" err="1"/>
              <a:t>GuardDuty</a:t>
            </a:r>
            <a:r>
              <a:rPr lang="ja-JP" altLang="en-US" sz="1800" dirty="0"/>
              <a:t>の</a:t>
            </a:r>
            <a:r>
              <a:rPr lang="en-US" altLang="ja-JP" sz="1800" dirty="0"/>
              <a:t>Finding</a:t>
            </a:r>
            <a:r>
              <a:rPr lang="ja-JP" altLang="en-US" sz="1800" dirty="0"/>
              <a:t>イベントを受け取り、</a:t>
            </a:r>
            <a:r>
              <a:rPr lang="en-US" altLang="ja-JP" sz="1800" dirty="0"/>
              <a:t>Lambda</a:t>
            </a:r>
            <a:r>
              <a:rPr lang="ja-JP" altLang="en-US" sz="1800" dirty="0"/>
              <a:t>関数を自動実行するルール。</a:t>
            </a:r>
          </a:p>
          <a:p>
            <a:r>
              <a:rPr lang="en-US" altLang="ja-JP" sz="2000" b="1" dirty="0"/>
              <a:t>Lambda Function</a:t>
            </a:r>
            <a:endParaRPr lang="ja-JP" altLang="en-US" sz="2000" dirty="0"/>
          </a:p>
          <a:p>
            <a:pPr lvl="1"/>
            <a:r>
              <a:rPr lang="en-US" altLang="ja-JP" sz="1800" dirty="0" err="1"/>
              <a:t>EventBridge</a:t>
            </a:r>
            <a:r>
              <a:rPr lang="ja-JP" altLang="en-US" sz="1800" dirty="0"/>
              <a:t>から呼び出され、</a:t>
            </a:r>
            <a:r>
              <a:rPr lang="en-US" altLang="ja-JP" sz="1800" dirty="0"/>
              <a:t>Finding</a:t>
            </a:r>
            <a:r>
              <a:rPr lang="ja-JP" altLang="en-US" sz="1800" dirty="0"/>
              <a:t>イベントの内容（攻撃元</a:t>
            </a:r>
            <a:r>
              <a:rPr lang="en-US" altLang="ja-JP" sz="1800" dirty="0"/>
              <a:t>IP</a:t>
            </a:r>
            <a:r>
              <a:rPr lang="ja-JP" altLang="en-US" sz="1800" dirty="0"/>
              <a:t>やポート番号）を解析し、</a:t>
            </a:r>
            <a:r>
              <a:rPr lang="en-US" altLang="ja-JP" sz="1800" dirty="0"/>
              <a:t>WAF</a:t>
            </a:r>
            <a:r>
              <a:rPr lang="ja-JP" altLang="en-US" sz="1800" dirty="0"/>
              <a:t>や</a:t>
            </a:r>
            <a:r>
              <a:rPr lang="en-US" altLang="ja-JP" sz="1800" dirty="0"/>
              <a:t>NACL</a:t>
            </a:r>
            <a:r>
              <a:rPr lang="ja-JP" altLang="en-US" sz="1800" dirty="0"/>
              <a:t>に</a:t>
            </a:r>
            <a:r>
              <a:rPr lang="en-US" altLang="ja-JP" sz="1800" dirty="0"/>
              <a:t>IP</a:t>
            </a:r>
            <a:r>
              <a:rPr lang="ja-JP" altLang="en-US" sz="1800" dirty="0"/>
              <a:t>を登録する自動防御ロジック。</a:t>
            </a:r>
          </a:p>
          <a:p>
            <a:r>
              <a:rPr lang="en-US" altLang="ja-JP" sz="2000" b="1" dirty="0"/>
              <a:t>WAF IP</a:t>
            </a:r>
            <a:r>
              <a:rPr lang="ja-JP" altLang="en-US" sz="2000" b="1" dirty="0"/>
              <a:t>セット／</a:t>
            </a:r>
            <a:r>
              <a:rPr lang="en-US" altLang="ja-JP" sz="2000" b="1" dirty="0"/>
              <a:t>Network ACL</a:t>
            </a:r>
            <a:r>
              <a:rPr lang="ja-JP" altLang="en-US" sz="2000" b="1" dirty="0"/>
              <a:t>（</a:t>
            </a:r>
            <a:r>
              <a:rPr lang="en-US" altLang="ja-JP" sz="2000" b="1" dirty="0"/>
              <a:t>NACL</a:t>
            </a:r>
            <a:r>
              <a:rPr lang="ja-JP" altLang="en-US" sz="2000" b="1" dirty="0"/>
              <a:t>）</a:t>
            </a:r>
            <a:endParaRPr lang="ja-JP" altLang="en-US" sz="2000" dirty="0"/>
          </a:p>
          <a:p>
            <a:pPr lvl="1"/>
            <a:r>
              <a:rPr lang="en-US" altLang="ja-JP" sz="1800" dirty="0"/>
              <a:t>Lambda</a:t>
            </a:r>
            <a:r>
              <a:rPr lang="ja-JP" altLang="en-US" sz="1800" dirty="0"/>
              <a:t>から操作され、攻撃元</a:t>
            </a:r>
            <a:r>
              <a:rPr lang="en-US" altLang="ja-JP" sz="1800" dirty="0"/>
              <a:t>IP</a:t>
            </a:r>
            <a:r>
              <a:rPr lang="ja-JP" altLang="en-US" sz="1800" dirty="0"/>
              <a:t>をブロックするリソース。</a:t>
            </a:r>
          </a:p>
          <a:p>
            <a:pPr marL="0" indent="0">
              <a:buNone/>
            </a:pP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63960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17D4CB-B901-316D-43E5-A8B3A03F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■ 登場人物の関わり方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7EC53B-5E7F-468F-E5CF-0974DE0A2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GuardDuty</a:t>
            </a:r>
            <a:r>
              <a:rPr lang="ja-JP" altLang="en-US" dirty="0"/>
              <a:t>が脅威（</a:t>
            </a:r>
            <a:r>
              <a:rPr lang="en-US" altLang="ja-JP" dirty="0"/>
              <a:t>Finding</a:t>
            </a:r>
            <a:r>
              <a:rPr lang="ja-JP" altLang="en-US" dirty="0"/>
              <a:t>）を検知</a:t>
            </a:r>
          </a:p>
          <a:p>
            <a:r>
              <a:rPr lang="en-US" altLang="ja-JP" dirty="0" err="1"/>
              <a:t>EventBridge</a:t>
            </a:r>
            <a:r>
              <a:rPr lang="en-US" altLang="ja-JP" dirty="0"/>
              <a:t> Rule</a:t>
            </a:r>
            <a:r>
              <a:rPr lang="ja-JP" altLang="en-US" dirty="0"/>
              <a:t>が</a:t>
            </a:r>
            <a:r>
              <a:rPr lang="en-US" altLang="ja-JP" dirty="0"/>
              <a:t>Finding</a:t>
            </a:r>
            <a:r>
              <a:rPr lang="ja-JP" altLang="en-US" dirty="0"/>
              <a:t>イベントを受信し、</a:t>
            </a:r>
            <a:r>
              <a:rPr lang="en-US" altLang="ja-JP" dirty="0"/>
              <a:t>Lambda</a:t>
            </a:r>
            <a:r>
              <a:rPr lang="ja-JP" altLang="en-US" dirty="0"/>
              <a:t>を自動実行</a:t>
            </a:r>
          </a:p>
          <a:p>
            <a:r>
              <a:rPr lang="en-US" altLang="ja-JP" dirty="0"/>
              <a:t>Lambda</a:t>
            </a:r>
            <a:r>
              <a:rPr lang="ja-JP" altLang="en-US" dirty="0"/>
              <a:t>が</a:t>
            </a:r>
            <a:r>
              <a:rPr lang="en-US" altLang="ja-JP" dirty="0"/>
              <a:t>Finding</a:t>
            </a:r>
            <a:r>
              <a:rPr lang="ja-JP" altLang="en-US" dirty="0"/>
              <a:t>の内容を解析し、攻撃元</a:t>
            </a:r>
            <a:r>
              <a:rPr lang="en-US" altLang="ja-JP" dirty="0"/>
              <a:t>IP</a:t>
            </a:r>
            <a:r>
              <a:rPr lang="ja-JP" altLang="en-US" dirty="0"/>
              <a:t>やポート番号を抽出</a:t>
            </a:r>
          </a:p>
          <a:p>
            <a:r>
              <a:rPr lang="en-US" altLang="ja-JP" dirty="0"/>
              <a:t>Lambda</a:t>
            </a:r>
            <a:r>
              <a:rPr lang="ja-JP" altLang="en-US" dirty="0"/>
              <a:t>が</a:t>
            </a:r>
            <a:r>
              <a:rPr lang="en-US" altLang="ja-JP" dirty="0"/>
              <a:t>WAF IP</a:t>
            </a:r>
            <a:r>
              <a:rPr lang="ja-JP" altLang="en-US" dirty="0"/>
              <a:t>セットや</a:t>
            </a:r>
            <a:r>
              <a:rPr lang="en-US" altLang="ja-JP" dirty="0"/>
              <a:t>NACL</a:t>
            </a:r>
            <a:r>
              <a:rPr lang="ja-JP" altLang="en-US" dirty="0"/>
              <a:t>に</a:t>
            </a:r>
            <a:r>
              <a:rPr lang="en-US" altLang="ja-JP" dirty="0"/>
              <a:t>IP</a:t>
            </a:r>
            <a:r>
              <a:rPr lang="ja-JP" altLang="en-US" dirty="0"/>
              <a:t>を追加し、以降のアクセスを自動でブロック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7699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E779AE-C3E9-C9E6-0BDE-E6D4A0D8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■ Terraform</a:t>
            </a:r>
            <a:r>
              <a:rPr lang="ja-JP" altLang="en-US" b="1" dirty="0"/>
              <a:t>での記述箇所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80988E-F5B8-8150-CD8F-07F248326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ja-JP" b="1" dirty="0" err="1"/>
              <a:t>GuardDuty</a:t>
            </a:r>
            <a:r>
              <a:rPr lang="en-US" altLang="ja-JP" b="1" dirty="0"/>
              <a:t> Detector</a:t>
            </a:r>
            <a:endParaRPr lang="en-US" altLang="ja-JP" dirty="0"/>
          </a:p>
          <a:p>
            <a:pPr lvl="1"/>
            <a:r>
              <a:rPr lang="en-US" altLang="ja-JP" dirty="0"/>
              <a:t>resource "</a:t>
            </a:r>
            <a:r>
              <a:rPr lang="en-US" altLang="ja-JP" dirty="0" err="1"/>
              <a:t>aws_guardduty_detector</a:t>
            </a:r>
            <a:r>
              <a:rPr lang="en-US" altLang="ja-JP" dirty="0"/>
              <a:t>" "main" { ... }</a:t>
            </a:r>
          </a:p>
          <a:p>
            <a:r>
              <a:rPr lang="en-US" altLang="ja-JP" b="1" dirty="0" err="1"/>
              <a:t>EventBridge</a:t>
            </a:r>
            <a:r>
              <a:rPr lang="en-US" altLang="ja-JP" b="1" dirty="0"/>
              <a:t> Rule</a:t>
            </a:r>
            <a:endParaRPr lang="en-US" altLang="ja-JP" dirty="0"/>
          </a:p>
          <a:p>
            <a:pPr lvl="1"/>
            <a:r>
              <a:rPr lang="en-US" altLang="ja-JP" dirty="0"/>
              <a:t>resource "</a:t>
            </a:r>
            <a:r>
              <a:rPr lang="en-US" altLang="ja-JP" dirty="0" err="1"/>
              <a:t>aws_cloudwatch_event_rule</a:t>
            </a:r>
            <a:r>
              <a:rPr lang="en-US" altLang="ja-JP" dirty="0"/>
              <a:t>" "</a:t>
            </a:r>
            <a:r>
              <a:rPr lang="en-US" altLang="ja-JP" dirty="0" err="1"/>
              <a:t>guardduty_finding</a:t>
            </a:r>
            <a:r>
              <a:rPr lang="en-US" altLang="ja-JP" dirty="0"/>
              <a:t>" { ... }</a:t>
            </a:r>
          </a:p>
          <a:p>
            <a:pPr lvl="2"/>
            <a:r>
              <a:rPr lang="en-US" altLang="ja-JP" dirty="0" err="1"/>
              <a:t>event_pattern</a:t>
            </a:r>
            <a:r>
              <a:rPr lang="ja-JP" altLang="en-US" dirty="0"/>
              <a:t>で</a:t>
            </a:r>
            <a:r>
              <a:rPr lang="en-US" altLang="ja-JP" dirty="0" err="1"/>
              <a:t>GuardDuty</a:t>
            </a:r>
            <a:r>
              <a:rPr lang="ja-JP" altLang="en-US" dirty="0"/>
              <a:t>の</a:t>
            </a:r>
            <a:r>
              <a:rPr lang="en-US" altLang="ja-JP" dirty="0"/>
              <a:t>Finding</a:t>
            </a:r>
            <a:r>
              <a:rPr lang="ja-JP" altLang="en-US" dirty="0"/>
              <a:t>イベントを指定</a:t>
            </a:r>
          </a:p>
          <a:p>
            <a:r>
              <a:rPr lang="en-US" altLang="ja-JP" b="1" dirty="0"/>
              <a:t>Lambda Function</a:t>
            </a:r>
            <a:endParaRPr lang="en-US" altLang="ja-JP" dirty="0"/>
          </a:p>
          <a:p>
            <a:pPr lvl="1"/>
            <a:r>
              <a:rPr lang="en-US" altLang="ja-JP" dirty="0"/>
              <a:t>resource "</a:t>
            </a:r>
            <a:r>
              <a:rPr lang="en-US" altLang="ja-JP" dirty="0" err="1"/>
              <a:t>aws_lambda_function</a:t>
            </a:r>
            <a:r>
              <a:rPr lang="en-US" altLang="ja-JP" dirty="0"/>
              <a:t>" "</a:t>
            </a:r>
            <a:r>
              <a:rPr lang="en-US" altLang="ja-JP" dirty="0" err="1"/>
              <a:t>block_ip</a:t>
            </a:r>
            <a:r>
              <a:rPr lang="en-US" altLang="ja-JP" dirty="0"/>
              <a:t>" { ... }</a:t>
            </a:r>
          </a:p>
          <a:p>
            <a:pPr lvl="1"/>
            <a:r>
              <a:rPr lang="en-US" altLang="ja-JP" dirty="0"/>
              <a:t>resource "</a:t>
            </a:r>
            <a:r>
              <a:rPr lang="en-US" altLang="ja-JP" dirty="0" err="1"/>
              <a:t>aws_iam_role</a:t>
            </a:r>
            <a:r>
              <a:rPr lang="en-US" altLang="ja-JP" dirty="0"/>
              <a:t>" "</a:t>
            </a:r>
            <a:r>
              <a:rPr lang="en-US" altLang="ja-JP" dirty="0" err="1"/>
              <a:t>lambda_exec</a:t>
            </a:r>
            <a:r>
              <a:rPr lang="en-US" altLang="ja-JP" dirty="0"/>
              <a:t>" { ... }</a:t>
            </a:r>
          </a:p>
          <a:p>
            <a:pPr lvl="1"/>
            <a:r>
              <a:rPr lang="en-US" altLang="ja-JP" dirty="0"/>
              <a:t>resource "</a:t>
            </a:r>
            <a:r>
              <a:rPr lang="en-US" altLang="ja-JP" dirty="0" err="1"/>
              <a:t>aws_iam_role_policy</a:t>
            </a:r>
            <a:r>
              <a:rPr lang="en-US" altLang="ja-JP" dirty="0"/>
              <a:t>" "</a:t>
            </a:r>
            <a:r>
              <a:rPr lang="en-US" altLang="ja-JP" dirty="0" err="1"/>
              <a:t>lambda_policy</a:t>
            </a:r>
            <a:r>
              <a:rPr lang="en-US" altLang="ja-JP" dirty="0"/>
              <a:t>" { ... }</a:t>
            </a:r>
          </a:p>
          <a:p>
            <a:r>
              <a:rPr lang="en-US" altLang="ja-JP" b="1" dirty="0" err="1"/>
              <a:t>EventBridge</a:t>
            </a:r>
            <a:r>
              <a:rPr lang="ja-JP" altLang="en-US" b="1" dirty="0"/>
              <a:t>と</a:t>
            </a:r>
            <a:r>
              <a:rPr lang="en-US" altLang="ja-JP" b="1" dirty="0"/>
              <a:t>Lambda</a:t>
            </a:r>
            <a:r>
              <a:rPr lang="ja-JP" altLang="en-US" b="1" dirty="0"/>
              <a:t>の連携</a:t>
            </a:r>
            <a:endParaRPr lang="ja-JP" altLang="en-US" dirty="0"/>
          </a:p>
          <a:p>
            <a:pPr lvl="1"/>
            <a:r>
              <a:rPr lang="en-US" altLang="ja-JP" dirty="0"/>
              <a:t>resource "</a:t>
            </a:r>
            <a:r>
              <a:rPr lang="en-US" altLang="ja-JP" dirty="0" err="1"/>
              <a:t>aws_cloudwatch_event_target</a:t>
            </a:r>
            <a:r>
              <a:rPr lang="en-US" altLang="ja-JP" dirty="0"/>
              <a:t>" "</a:t>
            </a:r>
            <a:r>
              <a:rPr lang="en-US" altLang="ja-JP" dirty="0" err="1"/>
              <a:t>guardduty_to_lambda</a:t>
            </a:r>
            <a:r>
              <a:rPr lang="en-US" altLang="ja-JP" dirty="0"/>
              <a:t>" { ... }</a:t>
            </a:r>
          </a:p>
          <a:p>
            <a:pPr lvl="1"/>
            <a:r>
              <a:rPr lang="en-US" altLang="ja-JP" dirty="0"/>
              <a:t>resource "</a:t>
            </a:r>
            <a:r>
              <a:rPr lang="en-US" altLang="ja-JP" dirty="0" err="1"/>
              <a:t>aws_lambda_permission</a:t>
            </a:r>
            <a:r>
              <a:rPr lang="en-US" altLang="ja-JP" dirty="0"/>
              <a:t>" "</a:t>
            </a:r>
            <a:r>
              <a:rPr lang="en-US" altLang="ja-JP" dirty="0" err="1"/>
              <a:t>allow_eventbridge</a:t>
            </a:r>
            <a:r>
              <a:rPr lang="en-US" altLang="ja-JP" dirty="0"/>
              <a:t>" { ... }</a:t>
            </a:r>
          </a:p>
          <a:p>
            <a:r>
              <a:rPr lang="en-US" altLang="ja-JP" b="1" dirty="0"/>
              <a:t>WAF IP</a:t>
            </a:r>
            <a:r>
              <a:rPr lang="ja-JP" altLang="en-US" b="1" dirty="0"/>
              <a:t>セットや</a:t>
            </a:r>
            <a:r>
              <a:rPr lang="en-US" altLang="ja-JP" b="1" dirty="0"/>
              <a:t>NACL</a:t>
            </a:r>
            <a:endParaRPr lang="en-US" altLang="ja-JP" dirty="0"/>
          </a:p>
          <a:p>
            <a:pPr lvl="1"/>
            <a:r>
              <a:rPr lang="ja-JP" altLang="en-US" dirty="0"/>
              <a:t>（必要に応じて）</a:t>
            </a:r>
            <a:r>
              <a:rPr lang="en-US" altLang="ja-JP" dirty="0"/>
              <a:t>resource "aws_wafv2_ip_set" ...</a:t>
            </a:r>
            <a:r>
              <a:rPr lang="ja-JP" altLang="en-US" dirty="0"/>
              <a:t>や</a:t>
            </a:r>
            <a:r>
              <a:rPr lang="en-US" altLang="ja-JP" dirty="0"/>
              <a:t>resource "</a:t>
            </a:r>
            <a:r>
              <a:rPr lang="en-US" altLang="ja-JP" dirty="0" err="1"/>
              <a:t>aws_network_acl</a:t>
            </a:r>
            <a:r>
              <a:rPr lang="en-US" altLang="ja-JP" dirty="0"/>
              <a:t>" ...</a:t>
            </a:r>
            <a:r>
              <a:rPr lang="ja-JP" altLang="en-US" dirty="0"/>
              <a:t>など</a:t>
            </a:r>
          </a:p>
          <a:p>
            <a:br>
              <a:rPr lang="ja-JP" altLang="en-US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95997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47753F-172E-5CE2-047D-EA395E3A2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IAM Roles Anywhere </a:t>
            </a:r>
            <a:r>
              <a:rPr lang="ja-JP" altLang="en-US" dirty="0"/>
              <a:t>を活用した</a:t>
            </a:r>
            <a:br>
              <a:rPr lang="en-US" altLang="ja-JP" dirty="0"/>
            </a:br>
            <a:r>
              <a:rPr lang="ja-JP" altLang="en-US" dirty="0"/>
              <a:t>「脱・</a:t>
            </a:r>
            <a:r>
              <a:rPr lang="en-US" altLang="ja-JP" dirty="0"/>
              <a:t>IAM</a:t>
            </a:r>
            <a:r>
              <a:rPr lang="ja-JP" altLang="en-US" dirty="0"/>
              <a:t>ユーザー」構成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58DCCF-CD1E-BFDC-8ED7-738A2F0B9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/>
              <a:t>■ 目的</a:t>
            </a:r>
          </a:p>
          <a:p>
            <a:r>
              <a:rPr lang="ja-JP" altLang="en-US" dirty="0"/>
              <a:t>オンプレミス（物理サーバーやルーター等）から</a:t>
            </a:r>
            <a:r>
              <a:rPr lang="en-US" altLang="ja-JP" dirty="0"/>
              <a:t>AWS CLI</a:t>
            </a:r>
            <a:r>
              <a:rPr lang="ja-JP" altLang="en-US" dirty="0"/>
              <a:t>や</a:t>
            </a:r>
            <a:r>
              <a:rPr lang="en-US" altLang="ja-JP" dirty="0"/>
              <a:t>SDK</a:t>
            </a:r>
            <a:r>
              <a:rPr lang="ja-JP" altLang="en-US" dirty="0"/>
              <a:t>を安全に利用し、</a:t>
            </a:r>
            <a:br>
              <a:rPr lang="ja-JP" altLang="en-US" dirty="0"/>
            </a:br>
            <a:r>
              <a:rPr lang="ja-JP" altLang="en-US" dirty="0"/>
              <a:t>アクセスキーの発行・管理・漏洩リスクをゼロにする。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5171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66F85F-1FCB-DB48-44D3-62C070BE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■ 構成・仕組み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56E196-CAAA-4799-F918-3AD5E6768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ja-JP" b="1" dirty="0"/>
              <a:t>IAM Roles Anywhere</a:t>
            </a:r>
            <a:r>
              <a:rPr lang="ja-JP" altLang="en-US" b="1" dirty="0"/>
              <a:t>の有効化</a:t>
            </a:r>
            <a:endParaRPr lang="ja-JP" altLang="en-US" dirty="0"/>
          </a:p>
          <a:p>
            <a:pPr lvl="1"/>
            <a:r>
              <a:rPr lang="en-US" altLang="ja-JP" dirty="0"/>
              <a:t>AWS</a:t>
            </a:r>
            <a:r>
              <a:rPr lang="ja-JP" altLang="en-US" dirty="0"/>
              <a:t>上で</a:t>
            </a:r>
            <a:r>
              <a:rPr lang="en-US" altLang="ja-JP" dirty="0"/>
              <a:t>Roles Anywhere</a:t>
            </a:r>
            <a:r>
              <a:rPr lang="ja-JP" altLang="en-US" dirty="0"/>
              <a:t>をセットアップ</a:t>
            </a:r>
          </a:p>
          <a:p>
            <a:r>
              <a:rPr lang="en-US" altLang="ja-JP" b="1" dirty="0"/>
              <a:t>Trust Anchor</a:t>
            </a:r>
            <a:r>
              <a:rPr lang="ja-JP" altLang="en-US" b="1" dirty="0"/>
              <a:t>（信頼の基点）の作成</a:t>
            </a:r>
            <a:endParaRPr lang="ja-JP" altLang="en-US" dirty="0"/>
          </a:p>
          <a:p>
            <a:pPr lvl="1"/>
            <a:r>
              <a:rPr lang="ja-JP" altLang="en-US" dirty="0"/>
              <a:t>自前の認証局（</a:t>
            </a:r>
            <a:r>
              <a:rPr lang="en-US" altLang="ja-JP" dirty="0"/>
              <a:t>Private CA</a:t>
            </a:r>
            <a:r>
              <a:rPr lang="ja-JP" altLang="en-US" dirty="0"/>
              <a:t>）を</a:t>
            </a:r>
            <a:r>
              <a:rPr lang="en-US" altLang="ja-JP" dirty="0"/>
              <a:t>AWS</a:t>
            </a:r>
            <a:r>
              <a:rPr lang="ja-JP" altLang="en-US" dirty="0"/>
              <a:t>に登録</a:t>
            </a:r>
          </a:p>
          <a:p>
            <a:r>
              <a:rPr lang="en-US" altLang="ja-JP" b="1" dirty="0"/>
              <a:t>IAM</a:t>
            </a:r>
            <a:r>
              <a:rPr lang="ja-JP" altLang="en-US" b="1" dirty="0"/>
              <a:t>ロールの作成</a:t>
            </a:r>
            <a:endParaRPr lang="ja-JP" altLang="en-US" dirty="0"/>
          </a:p>
          <a:p>
            <a:pPr lvl="1"/>
            <a:r>
              <a:rPr lang="ja-JP" altLang="en-US" dirty="0"/>
              <a:t>必要な権限を持つ</a:t>
            </a:r>
            <a:r>
              <a:rPr lang="en-US" altLang="ja-JP" dirty="0"/>
              <a:t>IAM</a:t>
            </a:r>
            <a:r>
              <a:rPr lang="ja-JP" altLang="en-US" dirty="0"/>
              <a:t>ロールを作成し、</a:t>
            </a:r>
            <a:r>
              <a:rPr lang="en-US" altLang="ja-JP" dirty="0"/>
              <a:t>Roles Anywhere</a:t>
            </a:r>
            <a:r>
              <a:rPr lang="ja-JP" altLang="en-US" dirty="0"/>
              <a:t>から引き受け可能に設定</a:t>
            </a:r>
          </a:p>
          <a:p>
            <a:r>
              <a:rPr lang="ja-JP" altLang="en-US" b="1" dirty="0"/>
              <a:t>オンプレミス側で証明書発行</a:t>
            </a:r>
            <a:endParaRPr lang="ja-JP" altLang="en-US" dirty="0"/>
          </a:p>
          <a:p>
            <a:pPr lvl="1"/>
            <a:r>
              <a:rPr lang="en-US" altLang="ja-JP" dirty="0"/>
              <a:t>Private CA</a:t>
            </a:r>
            <a:r>
              <a:rPr lang="ja-JP" altLang="en-US" dirty="0"/>
              <a:t>でクライアント証明書を発行し、サーバーやルーターにインストール</a:t>
            </a:r>
          </a:p>
          <a:p>
            <a:r>
              <a:rPr lang="ja-JP" altLang="en-US" b="1" dirty="0"/>
              <a:t>一時的な認証情報の取得</a:t>
            </a:r>
            <a:endParaRPr lang="ja-JP" altLang="en-US" dirty="0"/>
          </a:p>
          <a:p>
            <a:pPr lvl="1"/>
            <a:r>
              <a:rPr lang="ja-JP" altLang="en-US" dirty="0"/>
              <a:t>証明書を使い、オンプレミスから</a:t>
            </a:r>
            <a:r>
              <a:rPr lang="en-US" altLang="ja-JP" dirty="0" err="1"/>
              <a:t>aws_signing_helper</a:t>
            </a:r>
            <a:r>
              <a:rPr lang="ja-JP" altLang="en-US" dirty="0"/>
              <a:t>コマンドで一時的な認証情報を取得</a:t>
            </a:r>
          </a:p>
          <a:p>
            <a:pPr lvl="1"/>
            <a:r>
              <a:rPr lang="ja-JP" altLang="en-US" dirty="0"/>
              <a:t>取得したクレデンシャルで</a:t>
            </a:r>
            <a:r>
              <a:rPr lang="en-US" altLang="ja-JP" dirty="0"/>
              <a:t>AWS CLI</a:t>
            </a:r>
            <a:r>
              <a:rPr lang="ja-JP" altLang="en-US" dirty="0"/>
              <a:t>や</a:t>
            </a:r>
            <a:r>
              <a:rPr lang="en-US" altLang="ja-JP" dirty="0"/>
              <a:t>SDK</a:t>
            </a:r>
            <a:r>
              <a:rPr lang="ja-JP" altLang="en-US" dirty="0"/>
              <a:t>を利用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64546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C130D6-BA88-9664-BEB3-6AD76C71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■ 導入ステップ（概要）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B2EF35-6F71-3472-C887-C91480596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AWS</a:t>
            </a:r>
            <a:r>
              <a:rPr lang="ja-JP" altLang="en-US" dirty="0"/>
              <a:t>コンソールで「</a:t>
            </a:r>
            <a:r>
              <a:rPr lang="en-US" altLang="ja-JP" dirty="0"/>
              <a:t>IAM Roles Anywhere</a:t>
            </a:r>
            <a:r>
              <a:rPr lang="ja-JP" altLang="en-US" dirty="0"/>
              <a:t>」を有効化</a:t>
            </a:r>
          </a:p>
          <a:p>
            <a:r>
              <a:rPr lang="en-US" altLang="ja-JP" dirty="0"/>
              <a:t>Private CA</a:t>
            </a:r>
            <a:r>
              <a:rPr lang="ja-JP" altLang="en-US" dirty="0"/>
              <a:t>（</a:t>
            </a:r>
            <a:r>
              <a:rPr lang="en-US" altLang="ja-JP" dirty="0"/>
              <a:t>ACM PCA</a:t>
            </a:r>
            <a:r>
              <a:rPr lang="ja-JP" altLang="en-US" dirty="0"/>
              <a:t>や自前</a:t>
            </a:r>
            <a:r>
              <a:rPr lang="en-US" altLang="ja-JP" dirty="0"/>
              <a:t>CA</a:t>
            </a:r>
            <a:r>
              <a:rPr lang="ja-JP" altLang="en-US" dirty="0"/>
              <a:t>）を作成し、証明書を発行</a:t>
            </a:r>
          </a:p>
          <a:p>
            <a:r>
              <a:rPr lang="en-US" altLang="ja-JP" dirty="0"/>
              <a:t>Trust Anchor</a:t>
            </a:r>
            <a:r>
              <a:rPr lang="ja-JP" altLang="en-US" dirty="0"/>
              <a:t>として</a:t>
            </a:r>
            <a:r>
              <a:rPr lang="en-US" altLang="ja-JP" dirty="0"/>
              <a:t>CA</a:t>
            </a:r>
            <a:r>
              <a:rPr lang="ja-JP" altLang="en-US" dirty="0"/>
              <a:t>証明書を登録</a:t>
            </a:r>
          </a:p>
          <a:p>
            <a:r>
              <a:rPr lang="en-US" altLang="ja-JP" dirty="0"/>
              <a:t>IAM</a:t>
            </a:r>
            <a:r>
              <a:rPr lang="ja-JP" altLang="en-US" dirty="0"/>
              <a:t>ロールを作成し、</a:t>
            </a:r>
            <a:r>
              <a:rPr lang="en-US" altLang="ja-JP" dirty="0"/>
              <a:t>Roles Anywhere</a:t>
            </a:r>
            <a:r>
              <a:rPr lang="ja-JP" altLang="en-US" dirty="0"/>
              <a:t>から</a:t>
            </a:r>
            <a:r>
              <a:rPr lang="en-US" altLang="ja-JP" dirty="0" err="1"/>
              <a:t>AssumeRole</a:t>
            </a:r>
            <a:r>
              <a:rPr lang="ja-JP" altLang="en-US" dirty="0"/>
              <a:t>できるよう信頼ポリシーを設定</a:t>
            </a:r>
          </a:p>
          <a:p>
            <a:r>
              <a:rPr lang="en-US" altLang="ja-JP" dirty="0"/>
              <a:t>Profile</a:t>
            </a:r>
            <a:r>
              <a:rPr lang="ja-JP" altLang="en-US" dirty="0"/>
              <a:t>（</a:t>
            </a:r>
            <a:r>
              <a:rPr lang="en-US" altLang="ja-JP" dirty="0"/>
              <a:t>Roles Anywhere Profile</a:t>
            </a:r>
            <a:r>
              <a:rPr lang="ja-JP" altLang="en-US" dirty="0"/>
              <a:t>）を作成し、ロールと紐付け</a:t>
            </a:r>
          </a:p>
          <a:p>
            <a:r>
              <a:rPr lang="ja-JP" altLang="en-US" dirty="0"/>
              <a:t>オンプレミスで証明書を使い、</a:t>
            </a:r>
            <a:r>
              <a:rPr lang="en-US" altLang="ja-JP" dirty="0" err="1"/>
              <a:t>aws_signing_helper</a:t>
            </a:r>
            <a:r>
              <a:rPr lang="ja-JP" altLang="en-US" dirty="0"/>
              <a:t>で一時クレデンシャルを取得</a:t>
            </a:r>
          </a:p>
          <a:p>
            <a:r>
              <a:rPr lang="ja-JP" altLang="en-US" dirty="0"/>
              <a:t>そのクレデンシャルで</a:t>
            </a:r>
            <a:r>
              <a:rPr lang="en-US" altLang="ja-JP" dirty="0"/>
              <a:t>AWS CLI</a:t>
            </a:r>
            <a:r>
              <a:rPr lang="ja-JP" altLang="en-US" dirty="0"/>
              <a:t>や</a:t>
            </a:r>
            <a:r>
              <a:rPr lang="en-US" altLang="ja-JP" dirty="0"/>
              <a:t>SDK</a:t>
            </a:r>
            <a:r>
              <a:rPr lang="ja-JP" altLang="en-US" dirty="0"/>
              <a:t>を利用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3324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9214C5-254D-DD40-A5EF-B33EF135B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ADA033-8D8E-4C33-07B9-CE8E538E6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/>
              <a:t>■ メリット・インパクト</a:t>
            </a:r>
          </a:p>
          <a:p>
            <a:r>
              <a:rPr lang="ja-JP" altLang="en-US" dirty="0"/>
              <a:t>アクセスキーの発行・ローテーション・廃止が不要</a:t>
            </a:r>
          </a:p>
          <a:p>
            <a:r>
              <a:rPr lang="ja-JP" altLang="en-US" dirty="0"/>
              <a:t>証明書の有効期限や失効管理でセキュリティ向上</a:t>
            </a:r>
          </a:p>
          <a:p>
            <a:r>
              <a:rPr lang="ja-JP" altLang="en-US" dirty="0"/>
              <a:t>オンプレミス機器からも「一時的な認証情報」で安全に</a:t>
            </a:r>
            <a:r>
              <a:rPr lang="en-US" altLang="ja-JP" dirty="0"/>
              <a:t>AWS</a:t>
            </a:r>
            <a:r>
              <a:rPr lang="ja-JP" altLang="en-US" dirty="0"/>
              <a:t>操作が可能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49890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B12C13-66E2-CFE9-A4C7-42DF5114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IAM Roles Anywhere</a:t>
            </a:r>
            <a:r>
              <a:rPr lang="ja-JP" altLang="en-US" dirty="0"/>
              <a:t>用の証明書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AEEC01F-90CC-FCC9-CBF7-964DBA822CF5}"/>
              </a:ext>
            </a:extLst>
          </p:cNvPr>
          <p:cNvSpPr txBox="1"/>
          <p:nvPr/>
        </p:nvSpPr>
        <p:spPr>
          <a:xfrm>
            <a:off x="256761" y="1386439"/>
            <a:ext cx="11678478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400" b="1" dirty="0"/>
              <a:t>1. </a:t>
            </a:r>
            <a:r>
              <a:rPr lang="ja-JP" altLang="en-US" sz="1400" b="1" dirty="0"/>
              <a:t>自前の認証局（</a:t>
            </a:r>
            <a:r>
              <a:rPr lang="en-US" altLang="ja-JP" sz="1400" b="1" dirty="0"/>
              <a:t>CA</a:t>
            </a:r>
            <a:r>
              <a:rPr lang="ja-JP" altLang="en-US" sz="1400" b="1" dirty="0"/>
              <a:t>）を作成</a:t>
            </a:r>
          </a:p>
          <a:p>
            <a:r>
              <a:rPr lang="en-US" altLang="ja-JP" sz="1400" b="1" dirty="0"/>
              <a:t>OpenSSL</a:t>
            </a:r>
            <a:r>
              <a:rPr lang="ja-JP" altLang="en-US" sz="1400" b="1" dirty="0"/>
              <a:t>で自己署名</a:t>
            </a:r>
            <a:r>
              <a:rPr lang="en-US" altLang="ja-JP" sz="1400" b="1" dirty="0"/>
              <a:t>CA</a:t>
            </a:r>
            <a:r>
              <a:rPr lang="ja-JP" altLang="en-US" sz="1400" b="1" dirty="0"/>
              <a:t>を作成する例</a:t>
            </a:r>
          </a:p>
          <a:p>
            <a:endParaRPr lang="en-US" altLang="ja-JP" sz="1400" dirty="0"/>
          </a:p>
          <a:p>
            <a:r>
              <a:rPr lang="ja-JP" altLang="en-US" sz="1400" dirty="0"/>
              <a:t># CA秘密鍵の作成</a:t>
            </a:r>
            <a:endParaRPr lang="en-US" altLang="ja-JP" sz="1400" dirty="0"/>
          </a:p>
          <a:p>
            <a:r>
              <a:rPr lang="ja-JP" altLang="en-US" sz="1400" dirty="0"/>
              <a:t>openssl genrsa -out myCA.key 2048</a:t>
            </a:r>
            <a:endParaRPr lang="en-US" altLang="ja-JP" sz="1400" dirty="0"/>
          </a:p>
          <a:p>
            <a:r>
              <a:rPr lang="ja-JP" altLang="en-US" sz="1400" dirty="0"/>
              <a:t># CA証明書の作成</a:t>
            </a:r>
            <a:endParaRPr lang="en-US" altLang="ja-JP" sz="1400" dirty="0"/>
          </a:p>
          <a:p>
            <a:r>
              <a:rPr lang="ja-JP" altLang="en-US" sz="1400" dirty="0"/>
              <a:t>openssl req -x509 -new -nodes -key myCA.key -sha256 -days 3650 -out myCA.pem \  -subj "/C=JP/ST=Tokyo/L=Chiyoda/O=MyOrg/OU=IT/CN=MyRootCA"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416123-4541-42B4-42DD-39159D4CEC0C}"/>
              </a:ext>
            </a:extLst>
          </p:cNvPr>
          <p:cNvSpPr txBox="1"/>
          <p:nvPr/>
        </p:nvSpPr>
        <p:spPr>
          <a:xfrm>
            <a:off x="256761" y="3429000"/>
            <a:ext cx="11678478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400" b="1" dirty="0"/>
              <a:t>2. </a:t>
            </a:r>
            <a:r>
              <a:rPr lang="ja-JP" altLang="en-US" sz="1400" b="1" dirty="0"/>
              <a:t>クライアント証明書の作成</a:t>
            </a:r>
          </a:p>
          <a:p>
            <a:endParaRPr lang="en-US" altLang="ja-JP" sz="1400" dirty="0"/>
          </a:p>
          <a:p>
            <a:r>
              <a:rPr lang="ja-JP" altLang="en-US" sz="1400" dirty="0"/>
              <a:t># クライアント秘密鍵の作成</a:t>
            </a:r>
            <a:endParaRPr lang="en-US" altLang="ja-JP" sz="1400" dirty="0"/>
          </a:p>
          <a:p>
            <a:r>
              <a:rPr lang="ja-JP" altLang="en-US" sz="1400" dirty="0"/>
              <a:t>openssl genrsa -out client.key 2048</a:t>
            </a:r>
            <a:endParaRPr lang="en-US" altLang="ja-JP" sz="1400" dirty="0"/>
          </a:p>
          <a:p>
            <a:r>
              <a:rPr lang="ja-JP" altLang="en-US" sz="1400" dirty="0"/>
              <a:t># クライアント証明書署名要求（CSR）の作成</a:t>
            </a:r>
            <a:endParaRPr lang="en-US" altLang="ja-JP" sz="1400" dirty="0"/>
          </a:p>
          <a:p>
            <a:r>
              <a:rPr lang="ja-JP" altLang="en-US" sz="1400" dirty="0"/>
              <a:t>openssl req -new -key client.key -out client.csr \  -subj "/C=JP/ST=Tokyo/L=Chiyoda/O=MyOrg/OU=IT/CN=myclient“</a:t>
            </a:r>
            <a:endParaRPr lang="en-US" altLang="ja-JP" sz="1400" dirty="0"/>
          </a:p>
          <a:p>
            <a:r>
              <a:rPr lang="ja-JP" altLang="en-US" sz="1400" dirty="0"/>
              <a:t># CAでクライアント証明書に署名</a:t>
            </a:r>
            <a:endParaRPr lang="en-US" altLang="ja-JP" sz="1400" dirty="0"/>
          </a:p>
          <a:p>
            <a:r>
              <a:rPr lang="ja-JP" altLang="en-US" sz="1400" dirty="0"/>
              <a:t>openssl x509 -req -in client.csr -CA myCA.pem -CAkey myCA.key -CAcreateserial \  -out client.crt -days 365 -sha256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5E89C9D-3194-829A-BDC1-7DD655BC268E}"/>
              </a:ext>
            </a:extLst>
          </p:cNvPr>
          <p:cNvSpPr txBox="1"/>
          <p:nvPr/>
        </p:nvSpPr>
        <p:spPr>
          <a:xfrm>
            <a:off x="256761" y="5326338"/>
            <a:ext cx="11678478" cy="1315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ja-JP" b="1" i="0" dirty="0">
                <a:effectLst/>
                <a:latin typeface="Segoe WPC"/>
              </a:rPr>
              <a:t>3. AWS</a:t>
            </a:r>
            <a:r>
              <a:rPr lang="ja-JP" altLang="en-US" b="1" i="0" dirty="0">
                <a:effectLst/>
                <a:latin typeface="Segoe WPC"/>
              </a:rPr>
              <a:t>への登録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b="0" i="0" dirty="0">
                <a:effectLst/>
                <a:latin typeface="Segoe WPC"/>
              </a:rPr>
              <a:t>CA</a:t>
            </a:r>
            <a:r>
              <a:rPr lang="ja-JP" altLang="en-US" b="0" i="0" dirty="0">
                <a:effectLst/>
                <a:latin typeface="Segoe WPC"/>
              </a:rPr>
              <a:t>証明書（</a:t>
            </a:r>
            <a:r>
              <a:rPr lang="en-US" altLang="ja-JP" b="0" i="0" dirty="0" err="1">
                <a:effectLst/>
                <a:latin typeface="Segoe WPC"/>
              </a:rPr>
              <a:t>myCA.pem</a:t>
            </a:r>
            <a:r>
              <a:rPr lang="ja-JP" altLang="en-US" b="0" i="0" dirty="0">
                <a:effectLst/>
                <a:latin typeface="Segoe WPC"/>
              </a:rPr>
              <a:t>）を</a:t>
            </a:r>
            <a:r>
              <a:rPr lang="en-US" altLang="ja-JP" b="0" i="0" dirty="0">
                <a:effectLst/>
                <a:latin typeface="Segoe WPC"/>
              </a:rPr>
              <a:t>Trust Anchor</a:t>
            </a:r>
            <a:r>
              <a:rPr lang="ja-JP" altLang="en-US" b="0" i="0" dirty="0">
                <a:effectLst/>
                <a:latin typeface="Segoe WPC"/>
              </a:rPr>
              <a:t>として</a:t>
            </a:r>
            <a:r>
              <a:rPr lang="en-US" altLang="ja-JP" b="0" i="0" dirty="0">
                <a:effectLst/>
                <a:latin typeface="Segoe WPC"/>
              </a:rPr>
              <a:t>AWS</a:t>
            </a:r>
            <a:r>
              <a:rPr lang="ja-JP" altLang="en-US" b="0" i="0" dirty="0">
                <a:effectLst/>
                <a:latin typeface="Segoe WPC"/>
              </a:rPr>
              <a:t>に登録します（</a:t>
            </a:r>
            <a:r>
              <a:rPr lang="en-US" altLang="ja-JP" b="0" i="0" dirty="0">
                <a:effectLst/>
                <a:latin typeface="Segoe WPC"/>
              </a:rPr>
              <a:t>Terraform</a:t>
            </a:r>
            <a:r>
              <a:rPr lang="ja-JP" altLang="en-US" b="0" i="0" dirty="0">
                <a:effectLst/>
                <a:latin typeface="Segoe WPC"/>
              </a:rPr>
              <a:t>や</a:t>
            </a:r>
            <a:r>
              <a:rPr lang="en-US" altLang="ja-JP" b="0" i="0" dirty="0">
                <a:effectLst/>
                <a:latin typeface="Segoe WPC"/>
              </a:rPr>
              <a:t>AWS</a:t>
            </a:r>
            <a:r>
              <a:rPr lang="ja-JP" altLang="en-US" b="0" i="0" dirty="0">
                <a:effectLst/>
                <a:latin typeface="Segoe WPC"/>
              </a:rPr>
              <a:t>コンソールで）。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b="0" i="0" dirty="0">
                <a:effectLst/>
                <a:latin typeface="Segoe WPC"/>
              </a:rPr>
              <a:t>クライアント証明書（</a:t>
            </a:r>
            <a:r>
              <a:rPr lang="en-US" altLang="ja-JP" b="0" i="0" dirty="0">
                <a:effectLst/>
                <a:latin typeface="Segoe WPC"/>
              </a:rPr>
              <a:t>client.crt</a:t>
            </a:r>
            <a:r>
              <a:rPr lang="ja-JP" altLang="en-US" b="0" i="0" dirty="0">
                <a:effectLst/>
                <a:latin typeface="Segoe WPC"/>
              </a:rPr>
              <a:t>）と秘密鍵（</a:t>
            </a:r>
            <a:r>
              <a:rPr lang="en-US" altLang="ja-JP" b="0" i="0" dirty="0" err="1">
                <a:effectLst/>
                <a:latin typeface="Segoe WPC"/>
              </a:rPr>
              <a:t>client.key</a:t>
            </a:r>
            <a:r>
              <a:rPr lang="ja-JP" altLang="en-US" b="0" i="0" dirty="0">
                <a:effectLst/>
                <a:latin typeface="Segoe WPC"/>
              </a:rPr>
              <a:t>）は、オンプレミス側で</a:t>
            </a:r>
            <a:r>
              <a:rPr lang="en-US" altLang="ja-JP" b="0" i="0" dirty="0" err="1">
                <a:effectLst/>
                <a:latin typeface="Segoe WPC"/>
              </a:rPr>
              <a:t>aws_signing_helper</a:t>
            </a:r>
            <a:r>
              <a:rPr lang="ja-JP" altLang="en-US" b="0" i="0" dirty="0">
                <a:effectLst/>
                <a:latin typeface="Segoe WPC"/>
              </a:rPr>
              <a:t>等に利用します。</a:t>
            </a:r>
          </a:p>
        </p:txBody>
      </p:sp>
    </p:spTree>
    <p:extLst>
      <p:ext uri="{BB962C8B-B14F-4D97-AF65-F5344CB8AC3E}">
        <p14:creationId xmlns:p14="http://schemas.microsoft.com/office/powerpoint/2010/main" val="3771243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CC5CD0-15BC-1DEF-F339-EC9A6B57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証明書の作り方その１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FECE9D-7E81-B880-DBE7-72A626FC8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WSL</a:t>
            </a:r>
            <a:r>
              <a:rPr kumimoji="1" lang="ja-JP" altLang="en-US" dirty="0"/>
              <a:t>の中に</a:t>
            </a:r>
            <a:r>
              <a:rPr kumimoji="1" lang="en-US" altLang="ja-JP" dirty="0"/>
              <a:t>ubuntu</a:t>
            </a:r>
            <a:r>
              <a:rPr kumimoji="1" lang="ja-JP" altLang="en-US" dirty="0"/>
              <a:t>があるので、そこで証明書を作成する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cp -r /</a:t>
            </a:r>
            <a:r>
              <a:rPr lang="en-US" altLang="ja-JP" dirty="0" err="1"/>
              <a:t>mnt</a:t>
            </a:r>
            <a:r>
              <a:rPr lang="en-US" altLang="ja-JP" dirty="0"/>
              <a:t>/c/Users/0018550835/Desktop/</a:t>
            </a:r>
            <a:r>
              <a:rPr lang="ja-JP" altLang="en-US" dirty="0"/>
              <a:t>案件</a:t>
            </a:r>
            <a:r>
              <a:rPr lang="en-US" altLang="ja-JP" dirty="0"/>
              <a:t>/</a:t>
            </a:r>
            <a:r>
              <a:rPr lang="en-US" altLang="ja-JP" dirty="0" err="1"/>
              <a:t>portforio</a:t>
            </a:r>
            <a:r>
              <a:rPr lang="en-US" altLang="ja-JP" dirty="0"/>
              <a:t>/openssl-4.0.0 ~/</a:t>
            </a:r>
          </a:p>
          <a:p>
            <a:pPr marL="0" indent="0">
              <a:buNone/>
            </a:pPr>
            <a:r>
              <a:rPr lang="en-US" altLang="ja-JP" dirty="0"/>
              <a:t>cd ~/openssl-4.0.0</a:t>
            </a:r>
          </a:p>
          <a:p>
            <a:pPr marL="0" indent="0">
              <a:buNone/>
            </a:pPr>
            <a:r>
              <a:rPr lang="en-US" altLang="ja-JP" dirty="0"/>
              <a:t>export LD_LIBRARY_PATH=$PWD</a:t>
            </a:r>
          </a:p>
          <a:p>
            <a:pPr marL="0" indent="0">
              <a:buNone/>
            </a:pPr>
            <a:r>
              <a:rPr lang="en-US" altLang="ja-JP" dirty="0"/>
              <a:t>./apps/</a:t>
            </a:r>
            <a:r>
              <a:rPr lang="en-US" altLang="ja-JP" dirty="0" err="1"/>
              <a:t>openssl</a:t>
            </a:r>
            <a:r>
              <a:rPr lang="en-US" altLang="ja-JP" dirty="0"/>
              <a:t> version</a:t>
            </a:r>
          </a:p>
          <a:p>
            <a:pPr marL="0" indent="0">
              <a:buNone/>
            </a:pPr>
            <a:r>
              <a:rPr lang="en-US" altLang="ja-JP" dirty="0"/>
              <a:t>nano </a:t>
            </a:r>
            <a:r>
              <a:rPr lang="en-US" altLang="ja-JP" dirty="0" err="1"/>
              <a:t>ca.cnf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8F478B-FE3E-E0B2-F3E2-36EFF915A04E}"/>
              </a:ext>
            </a:extLst>
          </p:cNvPr>
          <p:cNvSpPr txBox="1"/>
          <p:nvPr/>
        </p:nvSpPr>
        <p:spPr>
          <a:xfrm>
            <a:off x="8316567" y="3429000"/>
            <a:ext cx="36899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[ req ]</a:t>
            </a:r>
          </a:p>
          <a:p>
            <a:r>
              <a:rPr lang="ja-JP" altLang="en-US" sz="1100" dirty="0"/>
              <a:t>default_bits       = 2048</a:t>
            </a:r>
          </a:p>
          <a:p>
            <a:r>
              <a:rPr lang="ja-JP" altLang="en-US" sz="1100" dirty="0"/>
              <a:t>distinguished_name = dn</a:t>
            </a:r>
          </a:p>
          <a:p>
            <a:r>
              <a:rPr lang="ja-JP" altLang="en-US" sz="1100" dirty="0"/>
              <a:t>x509_extensions    = v3_ca</a:t>
            </a:r>
          </a:p>
          <a:p>
            <a:r>
              <a:rPr lang="ja-JP" altLang="en-US" sz="1100" dirty="0"/>
              <a:t>prompt             = no</a:t>
            </a:r>
          </a:p>
          <a:p>
            <a:endParaRPr lang="ja-JP" altLang="en-US" sz="1100" dirty="0"/>
          </a:p>
          <a:p>
            <a:r>
              <a:rPr lang="ja-JP" altLang="en-US" sz="1100" dirty="0"/>
              <a:t>[ dn ]</a:t>
            </a:r>
          </a:p>
          <a:p>
            <a:r>
              <a:rPr lang="ja-JP" altLang="en-US" sz="1100" dirty="0"/>
              <a:t>C  = JP</a:t>
            </a:r>
          </a:p>
          <a:p>
            <a:r>
              <a:rPr lang="ja-JP" altLang="en-US" sz="1100" dirty="0"/>
              <a:t>ST = Tokyo</a:t>
            </a:r>
          </a:p>
          <a:p>
            <a:r>
              <a:rPr lang="ja-JP" altLang="en-US" sz="1100" dirty="0"/>
              <a:t>L  = Chiyoda</a:t>
            </a:r>
          </a:p>
          <a:p>
            <a:r>
              <a:rPr lang="ja-JP" altLang="en-US" sz="1100" dirty="0"/>
              <a:t>O  = MyOrg</a:t>
            </a:r>
          </a:p>
          <a:p>
            <a:r>
              <a:rPr lang="ja-JP" altLang="en-US" sz="1100" dirty="0"/>
              <a:t>OU = IT</a:t>
            </a:r>
          </a:p>
          <a:p>
            <a:r>
              <a:rPr lang="ja-JP" altLang="en-US" sz="1100" dirty="0"/>
              <a:t>CN = MyRootCA</a:t>
            </a:r>
          </a:p>
          <a:p>
            <a:endParaRPr lang="ja-JP" altLang="en-US" sz="1100" dirty="0"/>
          </a:p>
          <a:p>
            <a:r>
              <a:rPr lang="ja-JP" altLang="en-US" sz="1100" dirty="0"/>
              <a:t>[ v3_ca ]</a:t>
            </a:r>
          </a:p>
          <a:p>
            <a:r>
              <a:rPr lang="ja-JP" altLang="en-US" sz="1100" dirty="0"/>
              <a:t>basicConstraints = critical, CA:TRUE</a:t>
            </a:r>
          </a:p>
          <a:p>
            <a:r>
              <a:rPr lang="ja-JP" altLang="en-US" sz="1100" dirty="0"/>
              <a:t>keyUsage = critical, keyCertSign, cRLSign</a:t>
            </a:r>
          </a:p>
          <a:p>
            <a:r>
              <a:rPr lang="ja-JP" altLang="en-US" sz="1100" dirty="0"/>
              <a:t>subjectKeyIdentifier = hash</a:t>
            </a:r>
          </a:p>
        </p:txBody>
      </p:sp>
    </p:spTree>
    <p:extLst>
      <p:ext uri="{BB962C8B-B14F-4D97-AF65-F5344CB8AC3E}">
        <p14:creationId xmlns:p14="http://schemas.microsoft.com/office/powerpoint/2010/main" val="88400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EE554-8E28-48E8-10FF-FAA2736D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4F9925-85B4-34C6-69FC-C213C5844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証明書の作り方その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301112-3013-FEA2-1D2A-E14617E2DCE9}"/>
              </a:ext>
            </a:extLst>
          </p:cNvPr>
          <p:cNvSpPr txBox="1"/>
          <p:nvPr/>
        </p:nvSpPr>
        <p:spPr>
          <a:xfrm>
            <a:off x="838200" y="2076055"/>
            <a:ext cx="49563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■</a:t>
            </a:r>
            <a:r>
              <a:rPr lang="en-US" altLang="ja-JP" dirty="0"/>
              <a:t>CA</a:t>
            </a:r>
            <a:r>
              <a:rPr lang="ja-JP" altLang="en-US" dirty="0"/>
              <a:t>（認証局）を作る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 err="1"/>
              <a:t>openssl</a:t>
            </a:r>
            <a:r>
              <a:rPr lang="en-US" altLang="ja-JP" dirty="0"/>
              <a:t> </a:t>
            </a:r>
            <a:r>
              <a:rPr lang="en-US" altLang="ja-JP" dirty="0" err="1"/>
              <a:t>genrsa</a:t>
            </a:r>
            <a:r>
              <a:rPr lang="en-US" altLang="ja-JP" dirty="0"/>
              <a:t> -out </a:t>
            </a:r>
            <a:r>
              <a:rPr lang="en-US" altLang="ja-JP" dirty="0" err="1"/>
              <a:t>myCA.key</a:t>
            </a:r>
            <a:r>
              <a:rPr lang="en-US" altLang="ja-JP" dirty="0"/>
              <a:t> 2048</a:t>
            </a:r>
          </a:p>
          <a:p>
            <a:pPr marL="0" indent="0">
              <a:buNone/>
            </a:pPr>
            <a:r>
              <a:rPr lang="en-US" altLang="ja-JP" dirty="0" err="1"/>
              <a:t>openssl</a:t>
            </a:r>
            <a:r>
              <a:rPr lang="en-US" altLang="ja-JP" dirty="0"/>
              <a:t> req -x509 -new -nodes \</a:t>
            </a:r>
          </a:p>
          <a:p>
            <a:pPr marL="0" indent="0">
              <a:buNone/>
            </a:pPr>
            <a:r>
              <a:rPr lang="en-US" altLang="ja-JP" dirty="0"/>
              <a:t>  -key </a:t>
            </a:r>
            <a:r>
              <a:rPr lang="en-US" altLang="ja-JP" dirty="0" err="1"/>
              <a:t>myCA.key</a:t>
            </a:r>
            <a:r>
              <a:rPr lang="en-US" altLang="ja-JP" dirty="0"/>
              <a:t> \</a:t>
            </a:r>
          </a:p>
          <a:p>
            <a:pPr marL="0" indent="0">
              <a:buNone/>
            </a:pPr>
            <a:r>
              <a:rPr lang="en-US" altLang="ja-JP" dirty="0"/>
              <a:t>  -sha256 -days 3650 \</a:t>
            </a:r>
          </a:p>
          <a:p>
            <a:pPr marL="0" indent="0">
              <a:buNone/>
            </a:pPr>
            <a:r>
              <a:rPr lang="en-US" altLang="ja-JP" dirty="0"/>
              <a:t>  -out </a:t>
            </a:r>
            <a:r>
              <a:rPr lang="en-US" altLang="ja-JP" dirty="0" err="1"/>
              <a:t>myCA.pem</a:t>
            </a:r>
            <a:r>
              <a:rPr lang="en-US" altLang="ja-JP" dirty="0"/>
              <a:t> \</a:t>
            </a:r>
          </a:p>
          <a:p>
            <a:pPr marL="0" indent="0">
              <a:buNone/>
            </a:pPr>
            <a:r>
              <a:rPr lang="en-US" altLang="ja-JP" dirty="0"/>
              <a:t>  -config </a:t>
            </a:r>
            <a:r>
              <a:rPr lang="en-US" altLang="ja-JP" dirty="0" err="1"/>
              <a:t>ca.cnf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■</a:t>
            </a:r>
            <a:r>
              <a:rPr kumimoji="1" lang="ja-JP" altLang="en-US" dirty="0"/>
              <a:t>確認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 err="1"/>
              <a:t>openssl</a:t>
            </a:r>
            <a:r>
              <a:rPr lang="en-US" altLang="ja-JP" dirty="0"/>
              <a:t> x509 -in </a:t>
            </a:r>
            <a:r>
              <a:rPr lang="en-US" altLang="ja-JP" dirty="0" err="1"/>
              <a:t>myCA.pem</a:t>
            </a:r>
            <a:r>
              <a:rPr lang="en-US" altLang="ja-JP" dirty="0"/>
              <a:t> -text -</a:t>
            </a:r>
            <a:r>
              <a:rPr lang="en-US" altLang="ja-JP" dirty="0" err="1"/>
              <a:t>noout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72E3185-3382-6698-97E4-B67F012234CA}"/>
              </a:ext>
            </a:extLst>
          </p:cNvPr>
          <p:cNvSpPr txBox="1"/>
          <p:nvPr/>
        </p:nvSpPr>
        <p:spPr>
          <a:xfrm>
            <a:off x="5794513" y="1837515"/>
            <a:ext cx="609765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■クライアント証明書を作る</a:t>
            </a:r>
            <a:endParaRPr lang="en-US" altLang="ja-JP" sz="1400" dirty="0"/>
          </a:p>
          <a:p>
            <a:endParaRPr lang="en-US" altLang="ja-JP" sz="1400" dirty="0"/>
          </a:p>
          <a:p>
            <a:r>
              <a:rPr lang="ja-JP" altLang="en-US" sz="1400" dirty="0"/>
              <a:t>■秘密鍵</a:t>
            </a:r>
            <a:endParaRPr lang="en-US" altLang="ja-JP" sz="1400" dirty="0"/>
          </a:p>
          <a:p>
            <a:r>
              <a:rPr lang="ja-JP" altLang="en-US" sz="1400" dirty="0"/>
              <a:t>openssl genrsa -out client.key 2048</a:t>
            </a:r>
            <a:endParaRPr lang="en-US" altLang="ja-JP" sz="1400" dirty="0"/>
          </a:p>
          <a:p>
            <a:endParaRPr lang="en-US" altLang="ja-JP" sz="1400" dirty="0"/>
          </a:p>
          <a:p>
            <a:r>
              <a:rPr lang="ja-JP" altLang="en-US" sz="1400" dirty="0"/>
              <a:t>■</a:t>
            </a:r>
            <a:r>
              <a:rPr lang="en-US" altLang="ja-JP" sz="1400" dirty="0"/>
              <a:t>CSR</a:t>
            </a:r>
            <a:r>
              <a:rPr lang="ja-JP" altLang="en-US" sz="1400" dirty="0"/>
              <a:t>（証明書リクエスト）</a:t>
            </a:r>
            <a:endParaRPr lang="en-US" altLang="ja-JP" sz="1400" dirty="0"/>
          </a:p>
          <a:p>
            <a:r>
              <a:rPr lang="en-US" altLang="ja-JP" sz="1400" dirty="0" err="1"/>
              <a:t>openssl</a:t>
            </a:r>
            <a:r>
              <a:rPr lang="en-US" altLang="ja-JP" sz="1400" dirty="0"/>
              <a:t> req -new \</a:t>
            </a:r>
          </a:p>
          <a:p>
            <a:r>
              <a:rPr lang="en-US" altLang="ja-JP" sz="1400" dirty="0"/>
              <a:t>  -key </a:t>
            </a:r>
            <a:r>
              <a:rPr lang="en-US" altLang="ja-JP" sz="1400" dirty="0" err="1"/>
              <a:t>client.key</a:t>
            </a:r>
            <a:r>
              <a:rPr lang="en-US" altLang="ja-JP" sz="1400" dirty="0"/>
              <a:t> \</a:t>
            </a:r>
          </a:p>
          <a:p>
            <a:r>
              <a:rPr lang="en-US" altLang="ja-JP" sz="1400" dirty="0"/>
              <a:t>  -out </a:t>
            </a:r>
            <a:r>
              <a:rPr lang="en-US" altLang="ja-JP" sz="1400" dirty="0" err="1"/>
              <a:t>client.csr</a:t>
            </a:r>
            <a:r>
              <a:rPr lang="en-US" altLang="ja-JP" sz="1400" dirty="0"/>
              <a:t> \</a:t>
            </a:r>
          </a:p>
          <a:p>
            <a:r>
              <a:rPr lang="en-US" altLang="ja-JP" sz="1400" dirty="0"/>
              <a:t>  -subj "/C=JP/ST=Tokyo/L=Chiyoda/O=</a:t>
            </a:r>
            <a:r>
              <a:rPr lang="en-US" altLang="ja-JP" sz="1400" dirty="0" err="1"/>
              <a:t>MyOrg</a:t>
            </a:r>
            <a:r>
              <a:rPr lang="en-US" altLang="ja-JP" sz="1400" dirty="0"/>
              <a:t>/OU=IT/CN=</a:t>
            </a:r>
            <a:r>
              <a:rPr lang="en-US" altLang="ja-JP" sz="1400" dirty="0" err="1"/>
              <a:t>myclient</a:t>
            </a:r>
            <a:r>
              <a:rPr lang="en-US" altLang="ja-JP" sz="1400" dirty="0"/>
              <a:t>“</a:t>
            </a:r>
          </a:p>
          <a:p>
            <a:endParaRPr lang="en-US" altLang="ja-JP" sz="1400" dirty="0"/>
          </a:p>
          <a:p>
            <a:r>
              <a:rPr lang="ja-JP" altLang="en-US" sz="1400" dirty="0"/>
              <a:t>■</a:t>
            </a:r>
            <a:r>
              <a:rPr lang="en-US" altLang="ja-JP" sz="1400" dirty="0"/>
              <a:t>CA</a:t>
            </a:r>
            <a:r>
              <a:rPr lang="ja-JP" altLang="en-US" sz="1400" dirty="0"/>
              <a:t>で署名</a:t>
            </a:r>
            <a:endParaRPr lang="en-US" altLang="ja-JP" sz="1400" dirty="0"/>
          </a:p>
          <a:p>
            <a:r>
              <a:rPr lang="en-US" altLang="ja-JP" sz="1400" dirty="0" err="1"/>
              <a:t>openssl</a:t>
            </a:r>
            <a:r>
              <a:rPr lang="en-US" altLang="ja-JP" sz="1400" dirty="0"/>
              <a:t> x509 -req \</a:t>
            </a:r>
          </a:p>
          <a:p>
            <a:r>
              <a:rPr lang="en-US" altLang="ja-JP" sz="1400" dirty="0"/>
              <a:t>  -in </a:t>
            </a:r>
            <a:r>
              <a:rPr lang="en-US" altLang="ja-JP" sz="1400" dirty="0" err="1"/>
              <a:t>client.csr</a:t>
            </a:r>
            <a:r>
              <a:rPr lang="en-US" altLang="ja-JP" sz="1400" dirty="0"/>
              <a:t> \</a:t>
            </a:r>
          </a:p>
          <a:p>
            <a:r>
              <a:rPr lang="en-US" altLang="ja-JP" sz="1400" dirty="0"/>
              <a:t>  -CA </a:t>
            </a:r>
            <a:r>
              <a:rPr lang="en-US" altLang="ja-JP" sz="1400" dirty="0" err="1"/>
              <a:t>myCA.pem</a:t>
            </a:r>
            <a:r>
              <a:rPr lang="en-US" altLang="ja-JP" sz="1400" dirty="0"/>
              <a:t> \</a:t>
            </a:r>
          </a:p>
          <a:p>
            <a:r>
              <a:rPr lang="en-US" altLang="ja-JP" sz="1400" dirty="0"/>
              <a:t>  -</a:t>
            </a:r>
            <a:r>
              <a:rPr lang="en-US" altLang="ja-JP" sz="1400" dirty="0" err="1"/>
              <a:t>CAkey</a:t>
            </a:r>
            <a:r>
              <a:rPr lang="en-US" altLang="ja-JP" sz="1400" dirty="0"/>
              <a:t> </a:t>
            </a:r>
            <a:r>
              <a:rPr lang="en-US" altLang="ja-JP" sz="1400" dirty="0" err="1"/>
              <a:t>myCA.key</a:t>
            </a:r>
            <a:r>
              <a:rPr lang="en-US" altLang="ja-JP" sz="1400" dirty="0"/>
              <a:t> \</a:t>
            </a:r>
          </a:p>
          <a:p>
            <a:r>
              <a:rPr lang="en-US" altLang="ja-JP" sz="1400" dirty="0"/>
              <a:t>  -</a:t>
            </a:r>
            <a:r>
              <a:rPr lang="en-US" altLang="ja-JP" sz="1400" dirty="0" err="1"/>
              <a:t>CAcreateserial</a:t>
            </a:r>
            <a:r>
              <a:rPr lang="en-US" altLang="ja-JP" sz="1400" dirty="0"/>
              <a:t> \</a:t>
            </a:r>
          </a:p>
          <a:p>
            <a:r>
              <a:rPr lang="en-US" altLang="ja-JP" sz="1400" dirty="0"/>
              <a:t>  -out client.crt \</a:t>
            </a:r>
          </a:p>
          <a:p>
            <a:r>
              <a:rPr lang="en-US" altLang="ja-JP" sz="1400" dirty="0"/>
              <a:t>  -days 365 \</a:t>
            </a:r>
          </a:p>
          <a:p>
            <a:r>
              <a:rPr lang="en-US" altLang="ja-JP" sz="1400" dirty="0"/>
              <a:t>  -sha256</a:t>
            </a:r>
            <a:endParaRPr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34745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520244-15E2-70EB-25C8-244096EC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DF83E8-B8B1-89D2-D5FD-58F8B61E3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cp </a:t>
            </a:r>
            <a:r>
              <a:rPr lang="en-US" altLang="ja-JP" dirty="0" err="1"/>
              <a:t>myCA.pem</a:t>
            </a:r>
            <a:r>
              <a:rPr lang="en-US" altLang="ja-JP" dirty="0"/>
              <a:t> /</a:t>
            </a:r>
            <a:r>
              <a:rPr lang="en-US" altLang="ja-JP" dirty="0" err="1"/>
              <a:t>mnt</a:t>
            </a:r>
            <a:r>
              <a:rPr lang="en-US" altLang="ja-JP" dirty="0"/>
              <a:t>/c/Users/0018550835/Desktop/</a:t>
            </a:r>
          </a:p>
          <a:p>
            <a:pPr marL="0" indent="0">
              <a:buNone/>
            </a:pPr>
            <a:r>
              <a:rPr lang="en-US" altLang="ja-JP" dirty="0"/>
              <a:t>cp client.crt /</a:t>
            </a:r>
            <a:r>
              <a:rPr lang="en-US" altLang="ja-JP" dirty="0" err="1"/>
              <a:t>mnt</a:t>
            </a:r>
            <a:r>
              <a:rPr lang="en-US" altLang="ja-JP" dirty="0"/>
              <a:t>/c/Users/0018550835/Desktop/</a:t>
            </a:r>
          </a:p>
          <a:p>
            <a:pPr marL="0" indent="0">
              <a:buNone/>
            </a:pPr>
            <a:r>
              <a:rPr lang="en-US" altLang="ja-JP" dirty="0"/>
              <a:t>cp </a:t>
            </a:r>
            <a:r>
              <a:rPr lang="en-US" altLang="ja-JP" dirty="0" err="1"/>
              <a:t>client.key</a:t>
            </a:r>
            <a:r>
              <a:rPr lang="en-US" altLang="ja-JP" dirty="0"/>
              <a:t> /</a:t>
            </a:r>
            <a:r>
              <a:rPr lang="en-US" altLang="ja-JP" dirty="0" err="1"/>
              <a:t>mnt</a:t>
            </a:r>
            <a:r>
              <a:rPr lang="en-US" altLang="ja-JP" dirty="0"/>
              <a:t>/c/Users/0018550835/Desktop/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41835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A9CDC-D1F7-E630-225B-251816F2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D8CFB5-28A5-AF77-B82B-D7042250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F31F3-9E06-CFAB-E56C-4A23026CC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cp </a:t>
            </a:r>
            <a:r>
              <a:rPr lang="en-US" altLang="ja-JP" dirty="0" err="1"/>
              <a:t>myCA.pem</a:t>
            </a:r>
            <a:r>
              <a:rPr lang="en-US" altLang="ja-JP" dirty="0"/>
              <a:t> /</a:t>
            </a:r>
            <a:r>
              <a:rPr lang="en-US" altLang="ja-JP" dirty="0" err="1"/>
              <a:t>mnt</a:t>
            </a:r>
            <a:r>
              <a:rPr lang="en-US" altLang="ja-JP" dirty="0"/>
              <a:t>/c/Users/0018550835/Desktop/</a:t>
            </a:r>
          </a:p>
          <a:p>
            <a:pPr marL="0" indent="0">
              <a:buNone/>
            </a:pPr>
            <a:r>
              <a:rPr lang="en-US" altLang="ja-JP" dirty="0"/>
              <a:t>cp client.crt /</a:t>
            </a:r>
            <a:r>
              <a:rPr lang="en-US" altLang="ja-JP" dirty="0" err="1"/>
              <a:t>mnt</a:t>
            </a:r>
            <a:r>
              <a:rPr lang="en-US" altLang="ja-JP" dirty="0"/>
              <a:t>/c/Users/0018550835/Desktop/</a:t>
            </a:r>
          </a:p>
          <a:p>
            <a:pPr marL="0" indent="0">
              <a:buNone/>
            </a:pPr>
            <a:r>
              <a:rPr lang="en-US" altLang="ja-JP" dirty="0"/>
              <a:t>cp </a:t>
            </a:r>
            <a:r>
              <a:rPr lang="en-US" altLang="ja-JP" dirty="0" err="1"/>
              <a:t>client.key</a:t>
            </a:r>
            <a:r>
              <a:rPr lang="en-US" altLang="ja-JP" dirty="0"/>
              <a:t> /</a:t>
            </a:r>
            <a:r>
              <a:rPr lang="en-US" altLang="ja-JP" dirty="0" err="1"/>
              <a:t>mnt</a:t>
            </a:r>
            <a:r>
              <a:rPr lang="en-US" altLang="ja-JP" dirty="0"/>
              <a:t>/c/Users/0018550835/Desktop/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9901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5F4265-7CC2-326B-1143-AA629C8D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CF7A32-37B5-3C8A-F974-55A0709EA596}"/>
              </a:ext>
            </a:extLst>
          </p:cNvPr>
          <p:cNvSpPr txBox="1"/>
          <p:nvPr/>
        </p:nvSpPr>
        <p:spPr>
          <a:xfrm>
            <a:off x="838199" y="1956138"/>
            <a:ext cx="105155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aws_signing_helper credential-process \</a:t>
            </a:r>
          </a:p>
          <a:p>
            <a:r>
              <a:rPr lang="ja-JP" altLang="en-US" dirty="0"/>
              <a:t>  --certificate client.crt \</a:t>
            </a:r>
          </a:p>
          <a:p>
            <a:r>
              <a:rPr lang="ja-JP" altLang="en-US" dirty="0"/>
              <a:t>  --private-key client.key \</a:t>
            </a:r>
          </a:p>
          <a:p>
            <a:r>
              <a:rPr lang="ja-JP" altLang="en-US" dirty="0"/>
              <a:t>  --trust-anchor-arn </a:t>
            </a:r>
            <a:r>
              <a:rPr lang="en-US" altLang="ja-JP" dirty="0"/>
              <a:t>arn:aws:rolesanywhere:us-east-2:638892640336:trust-anchor/c4a6d52e-77f1-4fd5-a35a-47bc5bf95d9b</a:t>
            </a:r>
            <a:r>
              <a:rPr lang="ja-JP" altLang="en-US" dirty="0"/>
              <a:t> \</a:t>
            </a:r>
          </a:p>
          <a:p>
            <a:r>
              <a:rPr lang="ja-JP" altLang="en-US" dirty="0"/>
              <a:t>  --profile-arn </a:t>
            </a:r>
            <a:r>
              <a:rPr lang="en-US" altLang="ja-JP" dirty="0"/>
              <a:t>arn:aws:rolesanywhere:us-east-2:638892640336:profile/f87e8514-00cd-4bd0-803a-a48585976250</a:t>
            </a:r>
            <a:r>
              <a:rPr lang="ja-JP" altLang="en-US" dirty="0"/>
              <a:t> \</a:t>
            </a:r>
          </a:p>
          <a:p>
            <a:r>
              <a:rPr lang="ja-JP" altLang="en-US" dirty="0"/>
              <a:t>  --role-arn </a:t>
            </a:r>
            <a:r>
              <a:rPr lang="en-US" altLang="ja-JP" dirty="0" err="1"/>
              <a:t>arn:aws:iam</a:t>
            </a:r>
            <a:r>
              <a:rPr lang="en-US" altLang="ja-JP" dirty="0"/>
              <a:t>::638892640336:role/</a:t>
            </a:r>
            <a:r>
              <a:rPr lang="en-US" altLang="ja-JP" dirty="0" err="1"/>
              <a:t>rolesanywhere</a:t>
            </a:r>
            <a:r>
              <a:rPr lang="en-US" altLang="ja-JP" dirty="0"/>
              <a:t>-demo-role </a:t>
            </a:r>
            <a:r>
              <a:rPr lang="ja-JP" altLang="en-US" dirty="0"/>
              <a:t>\</a:t>
            </a:r>
          </a:p>
          <a:p>
            <a:r>
              <a:rPr lang="ja-JP" altLang="en-US" dirty="0"/>
              <a:t>  --region </a:t>
            </a:r>
            <a:r>
              <a:rPr lang="en-US" altLang="ja-JP" dirty="0"/>
              <a:t>us-east-2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49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1716</Words>
  <Application>Microsoft Office PowerPoint</Application>
  <PresentationFormat>ワイド画面</PresentationFormat>
  <Paragraphs>174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Segoe WPC</vt:lpstr>
      <vt:lpstr>游ゴシック</vt:lpstr>
      <vt:lpstr>游ゴシック Light</vt:lpstr>
      <vt:lpstr>Arial</vt:lpstr>
      <vt:lpstr>Office テーマ</vt:lpstr>
      <vt:lpstr>PowerPoint プレゼンテーション</vt:lpstr>
      <vt:lpstr>AWS Configによるポリシー違反の自動修正の登場人物</vt:lpstr>
      <vt:lpstr>処理の流れ</vt:lpstr>
      <vt:lpstr>必要な権限と権限の受け渡し</vt:lpstr>
      <vt:lpstr>自律防御システム</vt:lpstr>
      <vt:lpstr>■ 登場人物の関わり方</vt:lpstr>
      <vt:lpstr>■ Terraformでの記述箇所</vt:lpstr>
      <vt:lpstr>IAM Roles Anywhere を活用した 「脱・IAMユーザー」構成</vt:lpstr>
      <vt:lpstr>■ 構成・仕組み</vt:lpstr>
      <vt:lpstr>■ 導入ステップ（概要）</vt:lpstr>
      <vt:lpstr>PowerPoint プレゼンテーション</vt:lpstr>
      <vt:lpstr>IAM Roles Anywhere用の証明書</vt:lpstr>
      <vt:lpstr>証明書の作り方その１</vt:lpstr>
      <vt:lpstr>証明書の作り方その2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Yoshida, Hiroshi (SMOJ)</dc:creator>
  <cp:lastModifiedBy>Yoshida, Hiroshi (SMOJ)</cp:lastModifiedBy>
  <cp:revision>4</cp:revision>
  <dcterms:created xsi:type="dcterms:W3CDTF">2026-05-01T04:59:27Z</dcterms:created>
  <dcterms:modified xsi:type="dcterms:W3CDTF">2026-05-02T07:15:14Z</dcterms:modified>
</cp:coreProperties>
</file>