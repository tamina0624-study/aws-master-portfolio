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7" r:id="rId19"/>
    <p:sldId id="275" r:id="rId20"/>
    <p:sldId id="276" r:id="rId21"/>
    <p:sldId id="273" r:id="rId22"/>
    <p:sldId id="274"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8F3326D-1074-40D1-8398-92D143C0A6AF}">
          <p14:sldIdLst>
            <p14:sldId id="256"/>
            <p14:sldId id="257"/>
            <p14:sldId id="258"/>
            <p14:sldId id="259"/>
            <p14:sldId id="260"/>
            <p14:sldId id="261"/>
            <p14:sldId id="262"/>
            <p14:sldId id="263"/>
            <p14:sldId id="264"/>
            <p14:sldId id="265"/>
            <p14:sldId id="266"/>
            <p14:sldId id="267"/>
            <p14:sldId id="268"/>
            <p14:sldId id="269"/>
            <p14:sldId id="270"/>
            <p14:sldId id="272"/>
            <p14:sldId id="271"/>
            <p14:sldId id="277"/>
            <p14:sldId id="275"/>
            <p14:sldId id="276"/>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25" d="100"/>
          <a:sy n="125" d="100"/>
        </p:scale>
        <p:origin x="9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F971DC-F3A6-462E-36B4-40778D216AD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E10890F-EA85-3534-28FA-FA244ADA2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4172432-7FA3-21F3-D7D2-CD18171A80B3}"/>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E45B11AE-763C-617E-BF0F-BD97566342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E9B03C-2013-9300-3121-EAEDEB0117A5}"/>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209043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78468E-A3BE-2443-3485-61A4554189A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9F7CE84-2565-B657-0D64-27EE51AFDDE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DEF3CD-FBA3-7095-415F-B9CAABE5F8D9}"/>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3EFF3E29-6C91-396E-721E-E0B6FEB012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C201B8-CCE4-B014-E7BF-2EC76968A394}"/>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593387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4CCA3E-7070-C124-E574-0F896C3D885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7CB86CA-03B9-9200-C8AB-EA8BBAF563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97558FA-9BC6-2A99-4B7D-7E41BEDA647B}"/>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A90E8646-0A75-523E-9C60-ED55AEA43E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CE433E-D44B-BF65-157C-AA647C6E30C6}"/>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2923602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80D947-47DD-4DC0-FD7D-052FA6A3560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2B6B228-7291-9AE9-2A23-F89F9074FB6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D588420-C5B2-53CF-822D-AA952111909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D922075-CA26-829D-70D4-A2483E64E44D}"/>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6" name="フッター プレースホルダー 5">
            <a:extLst>
              <a:ext uri="{FF2B5EF4-FFF2-40B4-BE49-F238E27FC236}">
                <a16:creationId xmlns:a16="http://schemas.microsoft.com/office/drawing/2014/main" id="{6FE69106-5392-8A98-564F-6709E922E0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72EC355-FF49-B645-7D56-3AD90C606495}"/>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3900639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818923-D3A6-D6ED-5B0C-A5F269D1A73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7C264AF-4B6D-5DDA-186E-2DB386DB4C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2BAB709-7621-2033-8BC6-4051414C9EB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1DDDAC-56FB-003C-2F48-9D4BBDDF74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A438639-8D93-7D2F-F6BB-5E1787BD42B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AE8601C-A810-1BE1-8711-55CE9D64576C}"/>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8" name="フッター プレースホルダー 7">
            <a:extLst>
              <a:ext uri="{FF2B5EF4-FFF2-40B4-BE49-F238E27FC236}">
                <a16:creationId xmlns:a16="http://schemas.microsoft.com/office/drawing/2014/main" id="{2B7A4378-3A76-2076-255D-8BD4359DD3E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051215D-336F-2B25-EEA9-E3ECF0F03456}"/>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2731849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FC35BC-368D-DD7B-C260-747BB113349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3952795-49BE-5CEF-0E91-04D46E16B0AA}"/>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4" name="フッター プレースホルダー 3">
            <a:extLst>
              <a:ext uri="{FF2B5EF4-FFF2-40B4-BE49-F238E27FC236}">
                <a16:creationId xmlns:a16="http://schemas.microsoft.com/office/drawing/2014/main" id="{44782978-1EBD-FCDF-96CD-38D1BC6A82C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06DD0A4-4BFF-FA01-4797-BDBD9A8D863D}"/>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208332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3C7828D-4876-1C60-540E-FB98A399AB4B}"/>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3" name="フッター プレースホルダー 2">
            <a:extLst>
              <a:ext uri="{FF2B5EF4-FFF2-40B4-BE49-F238E27FC236}">
                <a16:creationId xmlns:a16="http://schemas.microsoft.com/office/drawing/2014/main" id="{3BFEDBBD-492C-4AB1-2A0F-74BEC74D4FC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9E87F95-9CFD-70A9-1939-1E910EB7F97E}"/>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2313038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D2BB8B-0496-CCBB-94E7-D1D364E393B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D85A49D-1291-FDEE-4862-80228A4E1D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E6DD41B-1721-B68A-76AE-88110283DD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D89229C-76F7-6235-A595-B040774213E3}"/>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6" name="フッター プレースホルダー 5">
            <a:extLst>
              <a:ext uri="{FF2B5EF4-FFF2-40B4-BE49-F238E27FC236}">
                <a16:creationId xmlns:a16="http://schemas.microsoft.com/office/drawing/2014/main" id="{BC0DE280-D936-27E5-8B51-21DED9D7727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4787CB-8911-6341-EFFA-982FE4F3BB9C}"/>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120798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46332D-A289-3D90-698B-C44C7126D6D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674DB8A-383D-3E90-3338-DDD83AAAF2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BD389E-F1B2-E40D-BFD6-A5B7709F1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6BAD594-87FE-7D34-F0CB-8D1810E4506B}"/>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6" name="フッター プレースホルダー 5">
            <a:extLst>
              <a:ext uri="{FF2B5EF4-FFF2-40B4-BE49-F238E27FC236}">
                <a16:creationId xmlns:a16="http://schemas.microsoft.com/office/drawing/2014/main" id="{D6A55E05-87F4-B88E-6774-842BBDB9717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40441D-1D40-0991-BE95-9AA76E116526}"/>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3833846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59D3AF-1D90-DBF5-419C-638F6C7E0CC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C6EFC-CC03-05E5-7156-2851F826650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6898A2-67F2-CE8D-A2A5-5A2A3FCB682C}"/>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13EB3B85-18C7-CDE3-27A7-20DA079658D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B2FFA7-0457-5056-02AA-D4A6E7E540E3}"/>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1057748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F572EC0-C6F2-4262-93CE-D96804FE124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352B82-7E72-5AD0-8C71-685219346CE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2D55E3-42DB-4F4D-98B0-A857E93DBDFE}"/>
              </a:ext>
            </a:extLst>
          </p:cNvPr>
          <p:cNvSpPr>
            <a:spLocks noGrp="1"/>
          </p:cNvSpPr>
          <p:nvPr>
            <p:ph type="dt" sz="half" idx="10"/>
          </p:nvPr>
        </p:nvSpPr>
        <p:spPr/>
        <p:txBody>
          <a:bodyPr/>
          <a:lstStyle/>
          <a:p>
            <a:fld id="{6DB6C3DD-A017-42D5-A622-E79630F28899}" type="datetimeFigureOut">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D206F2A6-BE55-1286-F80B-80E97D2DC1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5246C1-2AB2-1D3F-B992-45F9747E7829}"/>
              </a:ext>
            </a:extLst>
          </p:cNvPr>
          <p:cNvSpPr>
            <a:spLocks noGrp="1"/>
          </p:cNvSpPr>
          <p:nvPr>
            <p:ph type="sldNum" sz="quarter" idx="12"/>
          </p:nvPr>
        </p:nvSpPr>
        <p:spPr/>
        <p:txBody>
          <a:body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171349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93FAF5E-0BC6-D638-30E8-F5F77462F0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0A71C7D-1006-CD3F-8DA3-A4E99546C1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511611-6826-978C-F758-4A26B54C6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B6C3DD-A017-42D5-A622-E79630F28899}" type="datetimeFigureOut">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5549E46C-57F9-D978-46D2-0EEEF7C222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FB5D095-A130-2C30-E01A-2AC9B25ADE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5D64C3-9B6E-479A-BF01-95CA882A52CD}" type="slidenum">
              <a:rPr kumimoji="1" lang="ja-JP" altLang="en-US" smtClean="0"/>
              <a:t>‹#›</a:t>
            </a:fld>
            <a:endParaRPr kumimoji="1" lang="ja-JP" altLang="en-US"/>
          </a:p>
        </p:txBody>
      </p:sp>
    </p:spTree>
    <p:extLst>
      <p:ext uri="{BB962C8B-B14F-4D97-AF65-F5344CB8AC3E}">
        <p14:creationId xmlns:p14="http://schemas.microsoft.com/office/powerpoint/2010/main" val="3542950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s-east-2.console.aws.amazon.com/vpc/home?region=us-east-2#vpcs:vpcId=vpc-0af1e93b0e283ee74" TargetMode="External"/><Relationship Id="rId2" Type="http://schemas.openxmlformats.org/officeDocument/2006/relationships/hyperlink" Target="https://us-east-2.console.aws.amazon.com/vpc/home?region=us-east-2#vpcs:vpcId=vpc-0ddf423ec42ecc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0AF6E8AD-EA8B-EC25-46FC-2282F3D1B352}"/>
              </a:ext>
            </a:extLst>
          </p:cNvPr>
          <p:cNvSpPr/>
          <p:nvPr/>
        </p:nvSpPr>
        <p:spPr>
          <a:xfrm>
            <a:off x="576470" y="1361661"/>
            <a:ext cx="4412973" cy="27332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6018BE5A-3BAC-C39C-DA09-A6A79BD8F064}"/>
              </a:ext>
            </a:extLst>
          </p:cNvPr>
          <p:cNvSpPr/>
          <p:nvPr/>
        </p:nvSpPr>
        <p:spPr>
          <a:xfrm>
            <a:off x="6553201" y="1361661"/>
            <a:ext cx="4412973" cy="27332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8E4FA2F-BA65-CF7D-7C6F-2CB855E0766B}"/>
              </a:ext>
            </a:extLst>
          </p:cNvPr>
          <p:cNvSpPr txBox="1"/>
          <p:nvPr/>
        </p:nvSpPr>
        <p:spPr>
          <a:xfrm>
            <a:off x="504411" y="809247"/>
            <a:ext cx="4007955" cy="369332"/>
          </a:xfrm>
          <a:prstGeom prst="rect">
            <a:avLst/>
          </a:prstGeom>
          <a:noFill/>
        </p:spPr>
        <p:txBody>
          <a:bodyPr wrap="square">
            <a:spAutoFit/>
          </a:bodyPr>
          <a:lstStyle/>
          <a:p>
            <a:r>
              <a:rPr lang="en-US" altLang="ja-JP" b="0" i="0" dirty="0">
                <a:solidFill>
                  <a:srgbClr val="006CE0"/>
                </a:solidFill>
                <a:effectLst/>
                <a:latin typeface="Amazon Ember"/>
                <a:hlinkClick r:id="rId2"/>
              </a:rPr>
              <a:t>vpc-0ddf423ec42ecc332 (portfolio-</a:t>
            </a:r>
            <a:r>
              <a:rPr lang="en-US" altLang="ja-JP" b="0" i="0" dirty="0" err="1">
                <a:solidFill>
                  <a:srgbClr val="006CE0"/>
                </a:solidFill>
                <a:effectLst/>
                <a:latin typeface="Amazon Ember"/>
                <a:hlinkClick r:id="rId2"/>
              </a:rPr>
              <a:t>vpc</a:t>
            </a:r>
            <a:r>
              <a:rPr lang="en-US" altLang="ja-JP" b="0" i="0" dirty="0">
                <a:solidFill>
                  <a:srgbClr val="006CE0"/>
                </a:solidFill>
                <a:effectLst/>
                <a:latin typeface="Amazon Ember"/>
                <a:hlinkClick r:id="rId2"/>
              </a:rPr>
              <a:t>) </a:t>
            </a:r>
            <a:endParaRPr lang="ja-JP" altLang="en-US" dirty="0"/>
          </a:p>
        </p:txBody>
      </p:sp>
      <p:sp>
        <p:nvSpPr>
          <p:cNvPr id="9" name="テキスト ボックス 8">
            <a:extLst>
              <a:ext uri="{FF2B5EF4-FFF2-40B4-BE49-F238E27FC236}">
                <a16:creationId xmlns:a16="http://schemas.microsoft.com/office/drawing/2014/main" id="{24AEB949-EDAA-682F-669C-0D8AE56D906E}"/>
              </a:ext>
            </a:extLst>
          </p:cNvPr>
          <p:cNvSpPr txBox="1"/>
          <p:nvPr/>
        </p:nvSpPr>
        <p:spPr>
          <a:xfrm>
            <a:off x="6467889" y="729733"/>
            <a:ext cx="4007955" cy="369332"/>
          </a:xfrm>
          <a:prstGeom prst="rect">
            <a:avLst/>
          </a:prstGeom>
          <a:noFill/>
        </p:spPr>
        <p:txBody>
          <a:bodyPr wrap="square">
            <a:spAutoFit/>
          </a:bodyPr>
          <a:lstStyle/>
          <a:p>
            <a:r>
              <a:rPr lang="en-US" altLang="ja-JP" b="0" i="0" dirty="0">
                <a:solidFill>
                  <a:srgbClr val="006CE0"/>
                </a:solidFill>
                <a:effectLst/>
                <a:latin typeface="Amazon Ember"/>
                <a:hlinkClick r:id="rId3"/>
              </a:rPr>
              <a:t>vpc-0af1e93b0e283ee74 (OnPrem-VPC) </a:t>
            </a:r>
            <a:endParaRPr lang="ja-JP" altLang="en-US" dirty="0"/>
          </a:p>
        </p:txBody>
      </p:sp>
      <p:sp>
        <p:nvSpPr>
          <p:cNvPr id="10" name="正方形/長方形 9">
            <a:extLst>
              <a:ext uri="{FF2B5EF4-FFF2-40B4-BE49-F238E27FC236}">
                <a16:creationId xmlns:a16="http://schemas.microsoft.com/office/drawing/2014/main" id="{6904A4E4-C194-22EF-F450-C17A2D7621EA}"/>
              </a:ext>
            </a:extLst>
          </p:cNvPr>
          <p:cNvSpPr/>
          <p:nvPr/>
        </p:nvSpPr>
        <p:spPr>
          <a:xfrm>
            <a:off x="1371600" y="1659835"/>
            <a:ext cx="2633870" cy="63610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dirty="0"/>
              <a:t>EC2</a:t>
            </a:r>
          </a:p>
          <a:p>
            <a:pPr algn="ctr"/>
            <a:r>
              <a:rPr lang="en-US" altLang="ja-JP" b="1" dirty="0"/>
              <a:t>portfolio-web-server</a:t>
            </a:r>
          </a:p>
        </p:txBody>
      </p:sp>
      <p:sp>
        <p:nvSpPr>
          <p:cNvPr id="14" name="正方形/長方形 13">
            <a:extLst>
              <a:ext uri="{FF2B5EF4-FFF2-40B4-BE49-F238E27FC236}">
                <a16:creationId xmlns:a16="http://schemas.microsoft.com/office/drawing/2014/main" id="{D9C04229-2D93-3151-EF4A-B33CCCB3B1B9}"/>
              </a:ext>
            </a:extLst>
          </p:cNvPr>
          <p:cNvSpPr/>
          <p:nvPr/>
        </p:nvSpPr>
        <p:spPr>
          <a:xfrm>
            <a:off x="7442752" y="1464366"/>
            <a:ext cx="2633870" cy="63610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dirty="0"/>
              <a:t>EC2</a:t>
            </a:r>
          </a:p>
          <a:p>
            <a:r>
              <a:rPr lang="en-US" altLang="ja-JP" b="1" dirty="0"/>
              <a:t>OnPrem-VPN-Router</a:t>
            </a:r>
          </a:p>
        </p:txBody>
      </p:sp>
      <p:sp>
        <p:nvSpPr>
          <p:cNvPr id="16" name="テキスト ボックス 15">
            <a:extLst>
              <a:ext uri="{FF2B5EF4-FFF2-40B4-BE49-F238E27FC236}">
                <a16:creationId xmlns:a16="http://schemas.microsoft.com/office/drawing/2014/main" id="{291CFF4B-C73D-E881-B292-D441D8585962}"/>
              </a:ext>
            </a:extLst>
          </p:cNvPr>
          <p:cNvSpPr txBox="1"/>
          <p:nvPr/>
        </p:nvSpPr>
        <p:spPr>
          <a:xfrm>
            <a:off x="7197172" y="2120996"/>
            <a:ext cx="1274694" cy="430887"/>
          </a:xfrm>
          <a:prstGeom prst="rect">
            <a:avLst/>
          </a:prstGeom>
          <a:solidFill>
            <a:srgbClr val="FFC000"/>
          </a:solidFill>
        </p:spPr>
        <p:txBody>
          <a:bodyPr wrap="square">
            <a:spAutoFit/>
          </a:bodyPr>
          <a:lstStyle/>
          <a:p>
            <a:r>
              <a:rPr lang="ja-JP" altLang="en-US" sz="1100" b="1" i="0" dirty="0">
                <a:solidFill>
                  <a:srgbClr val="0F141A"/>
                </a:solidFill>
                <a:effectLst/>
                <a:latin typeface="Amazon Ember"/>
              </a:rPr>
              <a:t>パブリック </a:t>
            </a:r>
            <a:r>
              <a:rPr lang="en-US" altLang="ja-JP" sz="1100" b="1" i="0" dirty="0">
                <a:solidFill>
                  <a:srgbClr val="0F141A"/>
                </a:solidFill>
                <a:effectLst/>
                <a:latin typeface="Amazon Ember"/>
              </a:rPr>
              <a:t>IPv4</a:t>
            </a:r>
            <a:endParaRPr lang="en-US" altLang="ja-JP" sz="1100" b="0" i="0" dirty="0">
              <a:solidFill>
                <a:srgbClr val="000000"/>
              </a:solidFill>
              <a:effectLst/>
              <a:latin typeface="Noto Sans JP" panose="020B0200000000000000" pitchFamily="50" charset="-128"/>
              <a:ea typeface="Noto Sans JP" panose="020B0200000000000000" pitchFamily="50" charset="-128"/>
            </a:endParaRPr>
          </a:p>
          <a:p>
            <a:r>
              <a:rPr lang="en-US" altLang="ja-JP" sz="1100" b="0" i="0" dirty="0">
                <a:solidFill>
                  <a:srgbClr val="000000"/>
                </a:solidFill>
                <a:effectLst/>
                <a:latin typeface="Noto Sans JP" panose="020B0200000000000000" pitchFamily="50" charset="-128"/>
                <a:ea typeface="Noto Sans JP" panose="020B0200000000000000" pitchFamily="50" charset="-128"/>
              </a:rPr>
              <a:t>3.15.49.151</a:t>
            </a:r>
            <a:endParaRPr lang="ja-JP" altLang="en-US" sz="1100" dirty="0"/>
          </a:p>
        </p:txBody>
      </p:sp>
      <p:sp>
        <p:nvSpPr>
          <p:cNvPr id="18" name="テキスト ボックス 17">
            <a:extLst>
              <a:ext uri="{FF2B5EF4-FFF2-40B4-BE49-F238E27FC236}">
                <a16:creationId xmlns:a16="http://schemas.microsoft.com/office/drawing/2014/main" id="{78551AB8-391D-042D-CB36-17AB6624608D}"/>
              </a:ext>
            </a:extLst>
          </p:cNvPr>
          <p:cNvSpPr txBox="1"/>
          <p:nvPr/>
        </p:nvSpPr>
        <p:spPr>
          <a:xfrm>
            <a:off x="8759687" y="2095885"/>
            <a:ext cx="1366630" cy="400110"/>
          </a:xfrm>
          <a:prstGeom prst="rect">
            <a:avLst/>
          </a:prstGeom>
          <a:solidFill>
            <a:srgbClr val="FFC000"/>
          </a:solidFill>
        </p:spPr>
        <p:txBody>
          <a:bodyPr wrap="square">
            <a:spAutoFit/>
          </a:bodyPr>
          <a:lstStyle/>
          <a:p>
            <a:r>
              <a:rPr lang="ja-JP" altLang="en-US" sz="1000" b="1" i="0" dirty="0">
                <a:solidFill>
                  <a:srgbClr val="0F141A"/>
                </a:solidFill>
                <a:effectLst/>
                <a:latin typeface="Amazon Ember"/>
              </a:rPr>
              <a:t>プライベート </a:t>
            </a:r>
            <a:r>
              <a:rPr lang="en-US" altLang="ja-JP" sz="1000" b="1" i="0" dirty="0">
                <a:solidFill>
                  <a:srgbClr val="0F141A"/>
                </a:solidFill>
                <a:effectLst/>
                <a:latin typeface="Amazon Ember"/>
              </a:rPr>
              <a:t>IPv4</a:t>
            </a:r>
          </a:p>
          <a:p>
            <a:r>
              <a:rPr lang="en-US" altLang="ja-JP" sz="1000" dirty="0"/>
              <a:t>172.16.0.223</a:t>
            </a:r>
            <a:endParaRPr lang="ja-JP" altLang="en-US" sz="1000" dirty="0"/>
          </a:p>
        </p:txBody>
      </p:sp>
      <p:sp>
        <p:nvSpPr>
          <p:cNvPr id="21" name="テキスト ボックス 20">
            <a:extLst>
              <a:ext uri="{FF2B5EF4-FFF2-40B4-BE49-F238E27FC236}">
                <a16:creationId xmlns:a16="http://schemas.microsoft.com/office/drawing/2014/main" id="{94D3685A-D484-A56D-E626-D2CB3F792062}"/>
              </a:ext>
            </a:extLst>
          </p:cNvPr>
          <p:cNvSpPr txBox="1"/>
          <p:nvPr/>
        </p:nvSpPr>
        <p:spPr>
          <a:xfrm>
            <a:off x="1014205" y="2232896"/>
            <a:ext cx="1274694" cy="400110"/>
          </a:xfrm>
          <a:prstGeom prst="rect">
            <a:avLst/>
          </a:prstGeom>
          <a:solidFill>
            <a:srgbClr val="FFC000"/>
          </a:solidFill>
        </p:spPr>
        <p:txBody>
          <a:bodyPr wrap="square">
            <a:spAutoFit/>
          </a:bodyPr>
          <a:lstStyle/>
          <a:p>
            <a:r>
              <a:rPr lang="ja-JP" altLang="en-US" sz="1000" b="1" i="0" dirty="0">
                <a:solidFill>
                  <a:srgbClr val="0F141A"/>
                </a:solidFill>
                <a:effectLst/>
                <a:latin typeface="Amazon Ember"/>
              </a:rPr>
              <a:t>パブリック </a:t>
            </a:r>
            <a:r>
              <a:rPr lang="en-US" altLang="ja-JP" sz="1000" b="1" i="0" dirty="0">
                <a:solidFill>
                  <a:srgbClr val="0F141A"/>
                </a:solidFill>
                <a:effectLst/>
                <a:latin typeface="Amazon Ember"/>
              </a:rPr>
              <a:t>IPv4</a:t>
            </a:r>
            <a:endParaRPr lang="en-US" altLang="ja-JP" sz="1000" b="0" i="0" dirty="0">
              <a:solidFill>
                <a:srgbClr val="000000"/>
              </a:solidFill>
              <a:effectLst/>
              <a:latin typeface="Noto Sans JP" panose="020B0200000000000000" pitchFamily="50" charset="-128"/>
              <a:ea typeface="Noto Sans JP" panose="020B0200000000000000" pitchFamily="50" charset="-128"/>
            </a:endParaRPr>
          </a:p>
          <a:p>
            <a:r>
              <a:rPr lang="en-US" altLang="ja-JP" sz="1000" dirty="0"/>
              <a:t>18.118.32.99</a:t>
            </a:r>
            <a:endParaRPr lang="ja-JP" altLang="en-US" sz="1000" dirty="0"/>
          </a:p>
        </p:txBody>
      </p:sp>
      <p:sp>
        <p:nvSpPr>
          <p:cNvPr id="22" name="テキスト ボックス 21">
            <a:extLst>
              <a:ext uri="{FF2B5EF4-FFF2-40B4-BE49-F238E27FC236}">
                <a16:creationId xmlns:a16="http://schemas.microsoft.com/office/drawing/2014/main" id="{0203B8DE-7C42-C1D6-2391-6A7D77B5D346}"/>
              </a:ext>
            </a:extLst>
          </p:cNvPr>
          <p:cNvSpPr txBox="1"/>
          <p:nvPr/>
        </p:nvSpPr>
        <p:spPr>
          <a:xfrm>
            <a:off x="2922519" y="2263673"/>
            <a:ext cx="1366630" cy="400110"/>
          </a:xfrm>
          <a:prstGeom prst="rect">
            <a:avLst/>
          </a:prstGeom>
          <a:solidFill>
            <a:srgbClr val="FFC000"/>
          </a:solidFill>
        </p:spPr>
        <p:txBody>
          <a:bodyPr wrap="square">
            <a:spAutoFit/>
          </a:bodyPr>
          <a:lstStyle/>
          <a:p>
            <a:r>
              <a:rPr lang="ja-JP" altLang="en-US" sz="1000" b="1" i="0" dirty="0">
                <a:solidFill>
                  <a:srgbClr val="0F141A"/>
                </a:solidFill>
                <a:effectLst/>
                <a:latin typeface="Amazon Ember"/>
              </a:rPr>
              <a:t>プライベート </a:t>
            </a:r>
            <a:r>
              <a:rPr lang="en-US" altLang="ja-JP" sz="1000" b="1" i="0" dirty="0">
                <a:solidFill>
                  <a:srgbClr val="0F141A"/>
                </a:solidFill>
                <a:effectLst/>
                <a:latin typeface="Amazon Ember"/>
              </a:rPr>
              <a:t>IPv4</a:t>
            </a:r>
            <a:endParaRPr lang="en-US" altLang="ja-JP" sz="1000" dirty="0"/>
          </a:p>
          <a:p>
            <a:r>
              <a:rPr lang="en-US" altLang="ja-JP" sz="1000" dirty="0"/>
              <a:t>10.0.1.83</a:t>
            </a:r>
            <a:endParaRPr lang="ja-JP" altLang="en-US" sz="1000" dirty="0"/>
          </a:p>
        </p:txBody>
      </p:sp>
      <p:sp>
        <p:nvSpPr>
          <p:cNvPr id="24" name="テキスト ボックス 23">
            <a:extLst>
              <a:ext uri="{FF2B5EF4-FFF2-40B4-BE49-F238E27FC236}">
                <a16:creationId xmlns:a16="http://schemas.microsoft.com/office/drawing/2014/main" id="{36FA3E41-CCAC-3D75-DAE6-7BD07CFA8FE5}"/>
              </a:ext>
            </a:extLst>
          </p:cNvPr>
          <p:cNvSpPr txBox="1"/>
          <p:nvPr/>
        </p:nvSpPr>
        <p:spPr>
          <a:xfrm>
            <a:off x="5956853" y="3217351"/>
            <a:ext cx="1643268"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r>
              <a:rPr lang="ja-JP" altLang="en-US" sz="1000" dirty="0"/>
              <a:t>カスタマーゲートウェイ</a:t>
            </a:r>
            <a:endParaRPr lang="en-US" altLang="ja-JP" sz="1000" dirty="0"/>
          </a:p>
          <a:p>
            <a:r>
              <a:rPr lang="en-US" altLang="ja-JP" sz="1000" dirty="0"/>
              <a:t>3.15.49.151</a:t>
            </a:r>
            <a:endParaRPr lang="ja-JP" altLang="en-US" sz="1000" dirty="0"/>
          </a:p>
        </p:txBody>
      </p:sp>
      <p:sp>
        <p:nvSpPr>
          <p:cNvPr id="23" name="フローチャート: 和接合 22">
            <a:extLst>
              <a:ext uri="{FF2B5EF4-FFF2-40B4-BE49-F238E27FC236}">
                <a16:creationId xmlns:a16="http://schemas.microsoft.com/office/drawing/2014/main" id="{254FD99C-7CF6-DE90-9B34-FA91209C4306}"/>
              </a:ext>
            </a:extLst>
          </p:cNvPr>
          <p:cNvSpPr/>
          <p:nvPr/>
        </p:nvSpPr>
        <p:spPr>
          <a:xfrm>
            <a:off x="4706177" y="2115064"/>
            <a:ext cx="516835" cy="506895"/>
          </a:xfrm>
          <a:prstGeom prst="flowChartSummingJunct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30" name="フローチャート: 和接合 29">
            <a:extLst>
              <a:ext uri="{FF2B5EF4-FFF2-40B4-BE49-F238E27FC236}">
                <a16:creationId xmlns:a16="http://schemas.microsoft.com/office/drawing/2014/main" id="{AFAD6FF1-E7BE-6B02-CC35-CD46FC8DC6AA}"/>
              </a:ext>
            </a:extLst>
          </p:cNvPr>
          <p:cNvSpPr/>
          <p:nvPr/>
        </p:nvSpPr>
        <p:spPr>
          <a:xfrm>
            <a:off x="6347792" y="2663783"/>
            <a:ext cx="516835" cy="506895"/>
          </a:xfrm>
          <a:prstGeom prst="flowChartSummingJunction">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33" name="フローチャート: 直接アクセス記憶 32">
            <a:extLst>
              <a:ext uri="{FF2B5EF4-FFF2-40B4-BE49-F238E27FC236}">
                <a16:creationId xmlns:a16="http://schemas.microsoft.com/office/drawing/2014/main" id="{924E4AA4-7A4B-4E02-FBB3-710B0EAB0600}"/>
              </a:ext>
            </a:extLst>
          </p:cNvPr>
          <p:cNvSpPr/>
          <p:nvPr/>
        </p:nvSpPr>
        <p:spPr>
          <a:xfrm rot="20673743">
            <a:off x="5137958" y="2897247"/>
            <a:ext cx="1358349" cy="209496"/>
          </a:xfrm>
          <a:prstGeom prst="flowChartMagneticDrum">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AFDA690-1531-2B3E-3287-B817A8DA8293}"/>
              </a:ext>
            </a:extLst>
          </p:cNvPr>
          <p:cNvSpPr txBox="1"/>
          <p:nvPr/>
        </p:nvSpPr>
        <p:spPr>
          <a:xfrm>
            <a:off x="5151369" y="1792490"/>
            <a:ext cx="1239905" cy="246221"/>
          </a:xfrm>
          <a:prstGeom prst="rect">
            <a:avLst/>
          </a:prstGeom>
          <a:solidFill>
            <a:srgbClr val="FFFF00"/>
          </a:solidFill>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en-US" altLang="ja-JP" sz="1000" dirty="0">
                <a:solidFill>
                  <a:schemeClr val="tx1"/>
                </a:solidFill>
              </a:rPr>
              <a:t>Site to Site VPN</a:t>
            </a:r>
            <a:endParaRPr lang="ja-JP" altLang="en-US" sz="1000" dirty="0">
              <a:solidFill>
                <a:schemeClr val="tx1"/>
              </a:solidFill>
            </a:endParaRPr>
          </a:p>
        </p:txBody>
      </p:sp>
      <p:sp>
        <p:nvSpPr>
          <p:cNvPr id="3" name="テキスト ボックス 2">
            <a:extLst>
              <a:ext uri="{FF2B5EF4-FFF2-40B4-BE49-F238E27FC236}">
                <a16:creationId xmlns:a16="http://schemas.microsoft.com/office/drawing/2014/main" id="{82509529-7B0F-B6F3-D1DA-65EEDEDCEF86}"/>
              </a:ext>
            </a:extLst>
          </p:cNvPr>
          <p:cNvSpPr txBox="1"/>
          <p:nvPr/>
        </p:nvSpPr>
        <p:spPr>
          <a:xfrm>
            <a:off x="3371393" y="4228501"/>
            <a:ext cx="3023566" cy="923330"/>
          </a:xfrm>
          <a:prstGeom prst="rect">
            <a:avLst/>
          </a:prstGeom>
          <a:noFill/>
        </p:spPr>
        <p:txBody>
          <a:bodyPr wrap="square">
            <a:spAutoFit/>
          </a:bodyPr>
          <a:lstStyle/>
          <a:p>
            <a:r>
              <a:rPr lang="en-US" altLang="ja-JP" b="0" i="0" dirty="0">
                <a:solidFill>
                  <a:srgbClr val="0F141A"/>
                </a:solidFill>
                <a:effectLst/>
                <a:latin typeface="Amazon Ember"/>
              </a:rPr>
              <a:t>Tunnel1 </a:t>
            </a:r>
          </a:p>
          <a:p>
            <a:r>
              <a:rPr lang="ja-JP" altLang="en-US" b="0" i="0" dirty="0">
                <a:solidFill>
                  <a:srgbClr val="0F141A"/>
                </a:solidFill>
                <a:effectLst/>
                <a:latin typeface="Amazon Ember"/>
              </a:rPr>
              <a:t>外部</a:t>
            </a:r>
            <a:r>
              <a:rPr lang="en-US" altLang="ja-JP" b="0" i="0" dirty="0">
                <a:solidFill>
                  <a:srgbClr val="0F141A"/>
                </a:solidFill>
                <a:effectLst/>
                <a:latin typeface="Amazon Ember"/>
              </a:rPr>
              <a:t>IP</a:t>
            </a:r>
            <a:r>
              <a:rPr lang="ja-JP" altLang="en-US" b="0" i="0" dirty="0">
                <a:solidFill>
                  <a:srgbClr val="0F141A"/>
                </a:solidFill>
                <a:effectLst/>
                <a:latin typeface="Amazon Ember"/>
              </a:rPr>
              <a:t>　</a:t>
            </a:r>
            <a:r>
              <a:rPr lang="en-US" altLang="ja-JP" dirty="0"/>
              <a:t>3.18.50.193</a:t>
            </a:r>
            <a:endParaRPr lang="en-US" altLang="ja-JP" b="0" i="0" dirty="0">
              <a:solidFill>
                <a:srgbClr val="0F141A"/>
              </a:solidFill>
              <a:effectLst/>
              <a:latin typeface="Amazon Ember"/>
            </a:endParaRPr>
          </a:p>
          <a:p>
            <a:r>
              <a:rPr lang="ja-JP" altLang="en-US" dirty="0">
                <a:solidFill>
                  <a:srgbClr val="0F141A"/>
                </a:solidFill>
                <a:latin typeface="Amazon Ember"/>
              </a:rPr>
              <a:t>内部</a:t>
            </a:r>
            <a:r>
              <a:rPr lang="en-US" altLang="ja-JP" dirty="0">
                <a:solidFill>
                  <a:srgbClr val="0F141A"/>
                </a:solidFill>
                <a:latin typeface="Amazon Ember"/>
              </a:rPr>
              <a:t>IP</a:t>
            </a:r>
            <a:r>
              <a:rPr lang="ja-JP" altLang="en-US" dirty="0">
                <a:solidFill>
                  <a:srgbClr val="0F141A"/>
                </a:solidFill>
                <a:latin typeface="Amazon Ember"/>
              </a:rPr>
              <a:t>　</a:t>
            </a:r>
            <a:r>
              <a:rPr lang="en-US" altLang="ja-JP" dirty="0"/>
              <a:t>169.254.49.224/30</a:t>
            </a:r>
            <a:endParaRPr lang="en-US" altLang="ja-JP" dirty="0">
              <a:solidFill>
                <a:srgbClr val="0F141A"/>
              </a:solidFill>
              <a:latin typeface="Amazon Ember"/>
            </a:endParaRPr>
          </a:p>
        </p:txBody>
      </p:sp>
      <p:sp>
        <p:nvSpPr>
          <p:cNvPr id="2" name="フローチャート: 和接合 1">
            <a:extLst>
              <a:ext uri="{FF2B5EF4-FFF2-40B4-BE49-F238E27FC236}">
                <a16:creationId xmlns:a16="http://schemas.microsoft.com/office/drawing/2014/main" id="{237D2A47-254C-2A50-4062-9E37979DFE2C}"/>
              </a:ext>
            </a:extLst>
          </p:cNvPr>
          <p:cNvSpPr/>
          <p:nvPr/>
        </p:nvSpPr>
        <p:spPr>
          <a:xfrm>
            <a:off x="4678017" y="2979831"/>
            <a:ext cx="516835" cy="506895"/>
          </a:xfrm>
          <a:prstGeom prst="flowChartSummingJunct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6" name="フローチャート: 直接アクセス記憶 5">
            <a:extLst>
              <a:ext uri="{FF2B5EF4-FFF2-40B4-BE49-F238E27FC236}">
                <a16:creationId xmlns:a16="http://schemas.microsoft.com/office/drawing/2014/main" id="{FAADFCB9-8265-2C43-2268-95BAE84B8EBC}"/>
              </a:ext>
            </a:extLst>
          </p:cNvPr>
          <p:cNvSpPr/>
          <p:nvPr/>
        </p:nvSpPr>
        <p:spPr>
          <a:xfrm rot="1582064">
            <a:off x="5143572" y="2507094"/>
            <a:ext cx="1358349" cy="209496"/>
          </a:xfrm>
          <a:prstGeom prst="flowChartMagneticDrum">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8EB873C-7AF4-CC4E-1C52-6E3ABB2E4C8F}"/>
              </a:ext>
            </a:extLst>
          </p:cNvPr>
          <p:cNvSpPr txBox="1"/>
          <p:nvPr/>
        </p:nvSpPr>
        <p:spPr>
          <a:xfrm>
            <a:off x="4061542" y="2739490"/>
            <a:ext cx="1643268" cy="24622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ja-JP" altLang="en-US" sz="1000" dirty="0"/>
              <a:t>Virtual Private Gateway</a:t>
            </a:r>
          </a:p>
        </p:txBody>
      </p:sp>
      <p:sp>
        <p:nvSpPr>
          <p:cNvPr id="12" name="テキスト ボックス 11">
            <a:extLst>
              <a:ext uri="{FF2B5EF4-FFF2-40B4-BE49-F238E27FC236}">
                <a16:creationId xmlns:a16="http://schemas.microsoft.com/office/drawing/2014/main" id="{2CCAB345-13C6-EA2D-FA77-5C5C4F66ED9D}"/>
              </a:ext>
            </a:extLst>
          </p:cNvPr>
          <p:cNvSpPr txBox="1"/>
          <p:nvPr/>
        </p:nvSpPr>
        <p:spPr>
          <a:xfrm>
            <a:off x="3371393" y="5151831"/>
            <a:ext cx="3023566" cy="923330"/>
          </a:xfrm>
          <a:prstGeom prst="rect">
            <a:avLst/>
          </a:prstGeom>
          <a:noFill/>
        </p:spPr>
        <p:txBody>
          <a:bodyPr wrap="square">
            <a:spAutoFit/>
          </a:bodyPr>
          <a:lstStyle/>
          <a:p>
            <a:r>
              <a:rPr lang="en-US" altLang="ja-JP" b="0" i="0" dirty="0">
                <a:solidFill>
                  <a:srgbClr val="0F141A"/>
                </a:solidFill>
                <a:effectLst/>
                <a:latin typeface="Amazon Ember"/>
              </a:rPr>
              <a:t>Tunnel2</a:t>
            </a:r>
          </a:p>
          <a:p>
            <a:r>
              <a:rPr lang="ja-JP" altLang="en-US" b="0" i="0" dirty="0">
                <a:solidFill>
                  <a:srgbClr val="0F141A"/>
                </a:solidFill>
                <a:effectLst/>
                <a:latin typeface="Amazon Ember"/>
              </a:rPr>
              <a:t>外部</a:t>
            </a:r>
            <a:r>
              <a:rPr lang="en-US" altLang="ja-JP" b="0" i="0" dirty="0">
                <a:solidFill>
                  <a:srgbClr val="0F141A"/>
                </a:solidFill>
                <a:effectLst/>
                <a:latin typeface="Amazon Ember"/>
              </a:rPr>
              <a:t>IP</a:t>
            </a:r>
            <a:r>
              <a:rPr lang="ja-JP" altLang="en-US" b="0" i="0" dirty="0">
                <a:solidFill>
                  <a:srgbClr val="0F141A"/>
                </a:solidFill>
                <a:effectLst/>
                <a:latin typeface="Amazon Ember"/>
              </a:rPr>
              <a:t>　</a:t>
            </a:r>
            <a:r>
              <a:rPr lang="en-US" altLang="ja-JP" dirty="0"/>
              <a:t>18.221.57.88</a:t>
            </a:r>
            <a:endParaRPr lang="en-US" altLang="ja-JP" b="0" i="0" dirty="0">
              <a:solidFill>
                <a:srgbClr val="0F141A"/>
              </a:solidFill>
              <a:effectLst/>
              <a:latin typeface="Amazon Ember"/>
            </a:endParaRPr>
          </a:p>
          <a:p>
            <a:r>
              <a:rPr lang="ja-JP" altLang="en-US" dirty="0">
                <a:solidFill>
                  <a:srgbClr val="0F141A"/>
                </a:solidFill>
                <a:latin typeface="Amazon Ember"/>
              </a:rPr>
              <a:t>内部</a:t>
            </a:r>
            <a:r>
              <a:rPr lang="en-US" altLang="ja-JP" dirty="0">
                <a:solidFill>
                  <a:srgbClr val="0F141A"/>
                </a:solidFill>
                <a:latin typeface="Amazon Ember"/>
              </a:rPr>
              <a:t>IP</a:t>
            </a:r>
            <a:r>
              <a:rPr lang="ja-JP" altLang="en-US" dirty="0">
                <a:solidFill>
                  <a:srgbClr val="0F141A"/>
                </a:solidFill>
                <a:latin typeface="Amazon Ember"/>
              </a:rPr>
              <a:t>　</a:t>
            </a:r>
            <a:r>
              <a:rPr lang="en-US" altLang="ja-JP" dirty="0"/>
              <a:t>169.254.233.32/30</a:t>
            </a:r>
            <a:endParaRPr lang="en-US" altLang="ja-JP" dirty="0">
              <a:solidFill>
                <a:srgbClr val="0F141A"/>
              </a:solidFill>
              <a:latin typeface="Amazon Ember"/>
            </a:endParaRPr>
          </a:p>
        </p:txBody>
      </p:sp>
    </p:spTree>
    <p:extLst>
      <p:ext uri="{BB962C8B-B14F-4D97-AF65-F5344CB8AC3E}">
        <p14:creationId xmlns:p14="http://schemas.microsoft.com/office/powerpoint/2010/main" val="2577566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F3308D-9A6A-F2DC-1CE2-60B7810EC67F}"/>
              </a:ext>
            </a:extLst>
          </p:cNvPr>
          <p:cNvSpPr>
            <a:spLocks noGrp="1"/>
          </p:cNvSpPr>
          <p:nvPr>
            <p:ph type="title"/>
          </p:nvPr>
        </p:nvSpPr>
        <p:spPr/>
        <p:txBody>
          <a:bodyPr/>
          <a:lstStyle/>
          <a:p>
            <a:r>
              <a:rPr lang="ja-JP" altLang="en-US" dirty="0"/>
              <a:t>主要技術</a:t>
            </a:r>
            <a:endParaRPr kumimoji="1" lang="ja-JP" altLang="en-US" dirty="0"/>
          </a:p>
        </p:txBody>
      </p:sp>
      <p:graphicFrame>
        <p:nvGraphicFramePr>
          <p:cNvPr id="4" name="表 3">
            <a:extLst>
              <a:ext uri="{FF2B5EF4-FFF2-40B4-BE49-F238E27FC236}">
                <a16:creationId xmlns:a16="http://schemas.microsoft.com/office/drawing/2014/main" id="{ACEF3D3B-C322-5964-C7A1-C220B5587378}"/>
              </a:ext>
            </a:extLst>
          </p:cNvPr>
          <p:cNvGraphicFramePr>
            <a:graphicFrameLocks noGrp="1"/>
          </p:cNvGraphicFramePr>
          <p:nvPr>
            <p:extLst>
              <p:ext uri="{D42A27DB-BD31-4B8C-83A1-F6EECF244321}">
                <p14:modId xmlns:p14="http://schemas.microsoft.com/office/powerpoint/2010/main" val="1408271579"/>
              </p:ext>
            </p:extLst>
          </p:nvPr>
        </p:nvGraphicFramePr>
        <p:xfrm>
          <a:off x="337930" y="3916680"/>
          <a:ext cx="11221279" cy="2392680"/>
        </p:xfrm>
        <a:graphic>
          <a:graphicData uri="http://schemas.openxmlformats.org/drawingml/2006/table">
            <a:tbl>
              <a:tblPr firstRow="1" bandRow="1">
                <a:tableStyleId>{5C22544A-7EE6-4342-B048-85BDC9FD1C3A}</a:tableStyleId>
              </a:tblPr>
              <a:tblGrid>
                <a:gridCol w="6648892">
                  <a:extLst>
                    <a:ext uri="{9D8B030D-6E8A-4147-A177-3AD203B41FA5}">
                      <a16:colId xmlns:a16="http://schemas.microsoft.com/office/drawing/2014/main" val="1891059934"/>
                    </a:ext>
                  </a:extLst>
                </a:gridCol>
                <a:gridCol w="4572387">
                  <a:extLst>
                    <a:ext uri="{9D8B030D-6E8A-4147-A177-3AD203B41FA5}">
                      <a16:colId xmlns:a16="http://schemas.microsoft.com/office/drawing/2014/main" val="2897593947"/>
                    </a:ext>
                  </a:extLst>
                </a:gridCol>
              </a:tblGrid>
              <a:tr h="370840">
                <a:tc>
                  <a:txBody>
                    <a:bodyPr/>
                    <a:lstStyle/>
                    <a:p>
                      <a:r>
                        <a:rPr kumimoji="1" lang="ja-JP" altLang="en-US" dirty="0"/>
                        <a:t>コマンド</a:t>
                      </a:r>
                    </a:p>
                  </a:txBody>
                  <a:tcPr/>
                </a:tc>
                <a:tc>
                  <a:txBody>
                    <a:bodyPr/>
                    <a:lstStyle/>
                    <a:p>
                      <a:r>
                        <a:rPr kumimoji="1" lang="ja-JP" altLang="en-US" dirty="0"/>
                        <a:t>用途</a:t>
                      </a:r>
                    </a:p>
                  </a:txBody>
                  <a:tcPr/>
                </a:tc>
                <a:extLst>
                  <a:ext uri="{0D108BD9-81ED-4DB2-BD59-A6C34878D82A}">
                    <a16:rowId xmlns:a16="http://schemas.microsoft.com/office/drawing/2014/main" val="5111002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dirty="0" err="1"/>
                        <a:t>sudo</a:t>
                      </a:r>
                      <a:r>
                        <a:rPr lang="en-US" altLang="ja-JP" sz="1800" dirty="0"/>
                        <a:t> apt update</a:t>
                      </a:r>
                    </a:p>
                  </a:txBody>
                  <a:tcPr/>
                </a:tc>
                <a:tc>
                  <a:txBody>
                    <a:bodyPr/>
                    <a:lstStyle/>
                    <a:p>
                      <a:r>
                        <a:rPr kumimoji="1" lang="ja-JP" altLang="en-US" dirty="0"/>
                        <a:t>パッケージ情報の更新</a:t>
                      </a:r>
                    </a:p>
                  </a:txBody>
                  <a:tcPr/>
                </a:tc>
                <a:extLst>
                  <a:ext uri="{0D108BD9-81ED-4DB2-BD59-A6C34878D82A}">
                    <a16:rowId xmlns:a16="http://schemas.microsoft.com/office/drawing/2014/main" val="1418683717"/>
                  </a:ext>
                </a:extLst>
              </a:tr>
              <a:tr h="370840">
                <a:tc>
                  <a:txBody>
                    <a:bodyPr/>
                    <a:lstStyle/>
                    <a:p>
                      <a:r>
                        <a:rPr lang="en-US" altLang="ja-JP" sz="1800" dirty="0" err="1"/>
                        <a:t>sudo</a:t>
                      </a:r>
                      <a:r>
                        <a:rPr lang="en-US" altLang="ja-JP" sz="1800" dirty="0"/>
                        <a:t> apt install </a:t>
                      </a:r>
                      <a:r>
                        <a:rPr lang="en-US" altLang="ja-JP" sz="1800" dirty="0" err="1"/>
                        <a:t>strongswan</a:t>
                      </a:r>
                      <a:r>
                        <a:rPr lang="en-US" altLang="ja-JP" sz="1800" dirty="0"/>
                        <a:t> </a:t>
                      </a:r>
                      <a:r>
                        <a:rPr lang="en-US" altLang="ja-JP" sz="1800" dirty="0" err="1"/>
                        <a:t>strongswan-swanctl</a:t>
                      </a:r>
                      <a:r>
                        <a:rPr lang="en-US" altLang="ja-JP" sz="1800" dirty="0"/>
                        <a:t> </a:t>
                      </a:r>
                      <a:r>
                        <a:rPr lang="en-US" altLang="ja-JP" sz="1800" dirty="0" err="1"/>
                        <a:t>charon-systemd</a:t>
                      </a:r>
                      <a:endParaRPr kumimoji="1" lang="ja-JP" altLang="en-US" dirty="0"/>
                    </a:p>
                  </a:txBody>
                  <a:tcPr/>
                </a:tc>
                <a:tc>
                  <a:txBody>
                    <a:bodyPr/>
                    <a:lstStyle/>
                    <a:p>
                      <a:r>
                        <a:rPr lang="en-US" altLang="ja-JP" dirty="0"/>
                        <a:t>IPsec VPN</a:t>
                      </a:r>
                      <a:r>
                        <a:rPr lang="ja-JP" altLang="en-US" dirty="0"/>
                        <a:t>（暗号化通信トンネル）を構築・管理するためのツールです。</a:t>
                      </a:r>
                      <a:endParaRPr kumimoji="1" lang="ja-JP" altLang="en-US" dirty="0"/>
                    </a:p>
                  </a:txBody>
                  <a:tcPr/>
                </a:tc>
                <a:extLst>
                  <a:ext uri="{0D108BD9-81ED-4DB2-BD59-A6C34878D82A}">
                    <a16:rowId xmlns:a16="http://schemas.microsoft.com/office/drawing/2014/main" val="759857219"/>
                  </a:ext>
                </a:extLst>
              </a:tr>
              <a:tr h="370840">
                <a:tc>
                  <a:txBody>
                    <a:bodyPr/>
                    <a:lstStyle/>
                    <a:p>
                      <a:r>
                        <a:rPr lang="en-US" altLang="ja-JP" sz="1800" dirty="0" err="1"/>
                        <a:t>sudo</a:t>
                      </a:r>
                      <a:r>
                        <a:rPr lang="en-US" altLang="ja-JP" sz="1800" dirty="0"/>
                        <a:t> apt install net-tools</a:t>
                      </a:r>
                      <a:endParaRPr kumimoji="1" lang="ja-JP" altLang="en-US" dirty="0"/>
                    </a:p>
                  </a:txBody>
                  <a:tcPr/>
                </a:tc>
                <a:tc>
                  <a:txBody>
                    <a:bodyPr/>
                    <a:lstStyle/>
                    <a:p>
                      <a:r>
                        <a:rPr kumimoji="1" lang="en-US" altLang="ja-JP" dirty="0" err="1"/>
                        <a:t>ifconfig</a:t>
                      </a:r>
                      <a:endParaRPr kumimoji="1" lang="ja-JP" altLang="en-US" dirty="0"/>
                    </a:p>
                  </a:txBody>
                  <a:tcPr/>
                </a:tc>
                <a:extLst>
                  <a:ext uri="{0D108BD9-81ED-4DB2-BD59-A6C34878D82A}">
                    <a16:rowId xmlns:a16="http://schemas.microsoft.com/office/drawing/2014/main" val="9520625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dirty="0" err="1"/>
                        <a:t>sudo</a:t>
                      </a:r>
                      <a:r>
                        <a:rPr lang="en-US" altLang="ja-JP" sz="1800" dirty="0"/>
                        <a:t> apt install </a:t>
                      </a:r>
                      <a:r>
                        <a:rPr lang="en-US" altLang="ja-JP" sz="1800" dirty="0" err="1"/>
                        <a:t>frr</a:t>
                      </a:r>
                      <a:endParaRPr lang="en-US" altLang="ja-JP" sz="1800" dirty="0"/>
                    </a:p>
                  </a:txBody>
                  <a:tcPr/>
                </a:tc>
                <a:tc>
                  <a:txBody>
                    <a:bodyPr/>
                    <a:lstStyle/>
                    <a:p>
                      <a:r>
                        <a:rPr lang="ja-JP" altLang="en-US" dirty="0"/>
                        <a:t>動的ルーティングを扱うソフトウェアルータです。</a:t>
                      </a:r>
                      <a:endParaRPr kumimoji="1" lang="ja-JP" altLang="en-US" dirty="0"/>
                    </a:p>
                  </a:txBody>
                  <a:tcPr/>
                </a:tc>
                <a:extLst>
                  <a:ext uri="{0D108BD9-81ED-4DB2-BD59-A6C34878D82A}">
                    <a16:rowId xmlns:a16="http://schemas.microsoft.com/office/drawing/2014/main" val="1783778930"/>
                  </a:ext>
                </a:extLst>
              </a:tr>
            </a:tbl>
          </a:graphicData>
        </a:graphic>
      </p:graphicFrame>
      <p:sp>
        <p:nvSpPr>
          <p:cNvPr id="8" name="テキスト ボックス 7">
            <a:extLst>
              <a:ext uri="{FF2B5EF4-FFF2-40B4-BE49-F238E27FC236}">
                <a16:creationId xmlns:a16="http://schemas.microsoft.com/office/drawing/2014/main" id="{A8E616C8-D125-DCB6-F0E1-5EBE1513E00E}"/>
              </a:ext>
            </a:extLst>
          </p:cNvPr>
          <p:cNvSpPr txBox="1"/>
          <p:nvPr/>
        </p:nvSpPr>
        <p:spPr>
          <a:xfrm>
            <a:off x="603802" y="1690688"/>
            <a:ext cx="6097656" cy="923330"/>
          </a:xfrm>
          <a:prstGeom prst="rect">
            <a:avLst/>
          </a:prstGeom>
          <a:noFill/>
        </p:spPr>
        <p:txBody>
          <a:bodyPr wrap="square">
            <a:spAutoFit/>
          </a:bodyPr>
          <a:lstStyle/>
          <a:p>
            <a:r>
              <a:rPr kumimoji="1" lang="en-US" altLang="ja-JP" dirty="0"/>
              <a:t>BGP</a:t>
            </a:r>
          </a:p>
          <a:p>
            <a:r>
              <a:rPr lang="en-US" altLang="ja-JP" dirty="0"/>
              <a:t>Site to Site VPN</a:t>
            </a:r>
          </a:p>
          <a:p>
            <a:r>
              <a:rPr lang="en-US" altLang="ja-JP" dirty="0"/>
              <a:t>VTI</a:t>
            </a:r>
            <a:r>
              <a:rPr lang="ja-JP" altLang="en-US" dirty="0"/>
              <a:t>（仮想トンネル</a:t>
            </a:r>
            <a:r>
              <a:rPr lang="en-US" altLang="ja-JP" dirty="0"/>
              <a:t>IF</a:t>
            </a:r>
            <a:r>
              <a:rPr lang="ja-JP" altLang="en-US" dirty="0"/>
              <a:t>）</a:t>
            </a:r>
            <a:endParaRPr lang="en-US" altLang="ja-JP" dirty="0"/>
          </a:p>
        </p:txBody>
      </p:sp>
      <p:sp>
        <p:nvSpPr>
          <p:cNvPr id="10" name="テキスト ボックス 9">
            <a:extLst>
              <a:ext uri="{FF2B5EF4-FFF2-40B4-BE49-F238E27FC236}">
                <a16:creationId xmlns:a16="http://schemas.microsoft.com/office/drawing/2014/main" id="{566D4478-A5A4-FF11-A1BE-DDFD6E5F0A2A}"/>
              </a:ext>
            </a:extLst>
          </p:cNvPr>
          <p:cNvSpPr txBox="1"/>
          <p:nvPr/>
        </p:nvSpPr>
        <p:spPr>
          <a:xfrm>
            <a:off x="337930" y="3429000"/>
            <a:ext cx="2745685" cy="369332"/>
          </a:xfrm>
          <a:prstGeom prst="rect">
            <a:avLst/>
          </a:prstGeom>
          <a:noFill/>
        </p:spPr>
        <p:txBody>
          <a:bodyPr wrap="square">
            <a:spAutoFit/>
          </a:bodyPr>
          <a:lstStyle/>
          <a:p>
            <a:r>
              <a:rPr lang="en-US" altLang="ja-JP" dirty="0"/>
              <a:t>EC2</a:t>
            </a:r>
            <a:r>
              <a:rPr lang="ja-JP" altLang="en-US" dirty="0"/>
              <a:t>側の必要モジュール</a:t>
            </a:r>
          </a:p>
        </p:txBody>
      </p:sp>
    </p:spTree>
    <p:extLst>
      <p:ext uri="{BB962C8B-B14F-4D97-AF65-F5344CB8AC3E}">
        <p14:creationId xmlns:p14="http://schemas.microsoft.com/office/powerpoint/2010/main" val="204631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F42DB4-9407-78A9-40DA-DC769B2B5A9B}"/>
              </a:ext>
            </a:extLst>
          </p:cNvPr>
          <p:cNvSpPr>
            <a:spLocks noGrp="1"/>
          </p:cNvSpPr>
          <p:nvPr>
            <p:ph type="title"/>
          </p:nvPr>
        </p:nvSpPr>
        <p:spPr/>
        <p:txBody>
          <a:bodyPr/>
          <a:lstStyle/>
          <a:p>
            <a:r>
              <a:rPr lang="en-US" altLang="ja-JP" dirty="0" err="1"/>
              <a:t>strongswan</a:t>
            </a:r>
            <a:endParaRPr kumimoji="1" lang="ja-JP" altLang="en-US" dirty="0"/>
          </a:p>
        </p:txBody>
      </p:sp>
      <p:sp>
        <p:nvSpPr>
          <p:cNvPr id="4" name="テキスト ボックス 3">
            <a:extLst>
              <a:ext uri="{FF2B5EF4-FFF2-40B4-BE49-F238E27FC236}">
                <a16:creationId xmlns:a16="http://schemas.microsoft.com/office/drawing/2014/main" id="{9C04A75E-289F-6C37-8B23-D67CFB032FAD}"/>
              </a:ext>
            </a:extLst>
          </p:cNvPr>
          <p:cNvSpPr txBox="1"/>
          <p:nvPr/>
        </p:nvSpPr>
        <p:spPr>
          <a:xfrm>
            <a:off x="838200" y="1690688"/>
            <a:ext cx="4764446" cy="369332"/>
          </a:xfrm>
          <a:prstGeom prst="rect">
            <a:avLst/>
          </a:prstGeom>
          <a:noFill/>
        </p:spPr>
        <p:txBody>
          <a:bodyPr wrap="none" rtlCol="0">
            <a:spAutoFit/>
          </a:bodyPr>
          <a:lstStyle/>
          <a:p>
            <a:r>
              <a:rPr lang="ja-JP" altLang="en-US" dirty="0"/>
              <a:t>設定ファイル：</a:t>
            </a:r>
            <a:r>
              <a:rPr lang="en-US" altLang="ja-JP" dirty="0"/>
              <a:t>#/etc/swanctl/swanctl.conf</a:t>
            </a:r>
          </a:p>
        </p:txBody>
      </p:sp>
      <p:graphicFrame>
        <p:nvGraphicFramePr>
          <p:cNvPr id="5" name="表 4">
            <a:extLst>
              <a:ext uri="{FF2B5EF4-FFF2-40B4-BE49-F238E27FC236}">
                <a16:creationId xmlns:a16="http://schemas.microsoft.com/office/drawing/2014/main" id="{B064B3E7-AB3B-DC82-978B-E4F94024B7C4}"/>
              </a:ext>
            </a:extLst>
          </p:cNvPr>
          <p:cNvGraphicFramePr>
            <a:graphicFrameLocks noGrp="1"/>
          </p:cNvGraphicFramePr>
          <p:nvPr>
            <p:extLst>
              <p:ext uri="{D42A27DB-BD31-4B8C-83A1-F6EECF244321}">
                <p14:modId xmlns:p14="http://schemas.microsoft.com/office/powerpoint/2010/main" val="2917703111"/>
              </p:ext>
            </p:extLst>
          </p:nvPr>
        </p:nvGraphicFramePr>
        <p:xfrm>
          <a:off x="536713" y="2273063"/>
          <a:ext cx="10998062" cy="4048760"/>
        </p:xfrm>
        <a:graphic>
          <a:graphicData uri="http://schemas.openxmlformats.org/drawingml/2006/table">
            <a:tbl>
              <a:tblPr firstRow="1" bandRow="1">
                <a:tableStyleId>{5C22544A-7EE6-4342-B048-85BDC9FD1C3A}</a:tableStyleId>
              </a:tblPr>
              <a:tblGrid>
                <a:gridCol w="5499031">
                  <a:extLst>
                    <a:ext uri="{9D8B030D-6E8A-4147-A177-3AD203B41FA5}">
                      <a16:colId xmlns:a16="http://schemas.microsoft.com/office/drawing/2014/main" val="3134749661"/>
                    </a:ext>
                  </a:extLst>
                </a:gridCol>
                <a:gridCol w="5499031">
                  <a:extLst>
                    <a:ext uri="{9D8B030D-6E8A-4147-A177-3AD203B41FA5}">
                      <a16:colId xmlns:a16="http://schemas.microsoft.com/office/drawing/2014/main" val="3473215375"/>
                    </a:ext>
                  </a:extLst>
                </a:gridCol>
              </a:tblGrid>
              <a:tr h="370840">
                <a:tc>
                  <a:txBody>
                    <a:bodyPr/>
                    <a:lstStyle/>
                    <a:p>
                      <a:endParaRPr kumimoji="1" lang="ja-JP" altLang="en-US" dirty="0"/>
                    </a:p>
                  </a:txBody>
                  <a:tcPr/>
                </a:tc>
                <a:tc>
                  <a:txBody>
                    <a:bodyPr/>
                    <a:lstStyle/>
                    <a:p>
                      <a:endParaRPr kumimoji="1" lang="ja-JP" altLang="en-US"/>
                    </a:p>
                  </a:txBody>
                  <a:tcPr/>
                </a:tc>
                <a:extLst>
                  <a:ext uri="{0D108BD9-81ED-4DB2-BD59-A6C34878D82A}">
                    <a16:rowId xmlns:a16="http://schemas.microsoft.com/office/drawing/2014/main" val="880511151"/>
                  </a:ext>
                </a:extLst>
              </a:tr>
              <a:tr h="370840">
                <a:tc>
                  <a:txBody>
                    <a:bodyPr/>
                    <a:lstStyle/>
                    <a:p>
                      <a:r>
                        <a:rPr kumimoji="1" lang="en-US" altLang="ja-JP" dirty="0" err="1"/>
                        <a:t>sudo</a:t>
                      </a:r>
                      <a:r>
                        <a:rPr kumimoji="1" lang="en-US" altLang="ja-JP" dirty="0"/>
                        <a:t> </a:t>
                      </a:r>
                      <a:r>
                        <a:rPr kumimoji="1" lang="en-US" altLang="ja-JP" dirty="0" err="1"/>
                        <a:t>swanctl</a:t>
                      </a:r>
                      <a:r>
                        <a:rPr kumimoji="1" lang="en-US" altLang="ja-JP" dirty="0"/>
                        <a:t> --list-</a:t>
                      </a:r>
                      <a:r>
                        <a:rPr kumimoji="1" lang="en-US" altLang="ja-JP" dirty="0" err="1"/>
                        <a:t>sas</a:t>
                      </a:r>
                      <a:endParaRPr kumimoji="1" lang="ja-JP" altLang="en-US" dirty="0"/>
                    </a:p>
                  </a:txBody>
                  <a:tcPr/>
                </a:tc>
                <a:tc>
                  <a:txBody>
                    <a:bodyPr/>
                    <a:lstStyle/>
                    <a:p>
                      <a:r>
                        <a:rPr lang="en-US" altLang="ja-JP" dirty="0"/>
                        <a:t>VPN</a:t>
                      </a:r>
                      <a:r>
                        <a:rPr lang="ja-JP" altLang="en-US" dirty="0"/>
                        <a:t>トンネルが確立しているか確認</a:t>
                      </a:r>
                      <a:endParaRPr lang="en-US" altLang="ja-JP" dirty="0"/>
                    </a:p>
                    <a:p>
                      <a:r>
                        <a:rPr lang="en-US" altLang="ja-JP" dirty="0"/>
                        <a:t>IKE / CHILD SA </a:t>
                      </a:r>
                      <a:r>
                        <a:rPr lang="ja-JP" altLang="en-US" dirty="0"/>
                        <a:t>の状態を見る</a:t>
                      </a:r>
                      <a:endParaRPr kumimoji="1" lang="ja-JP" altLang="en-US" dirty="0"/>
                    </a:p>
                  </a:txBody>
                  <a:tcPr/>
                </a:tc>
                <a:extLst>
                  <a:ext uri="{0D108BD9-81ED-4DB2-BD59-A6C34878D82A}">
                    <a16:rowId xmlns:a16="http://schemas.microsoft.com/office/drawing/2014/main" val="4229362857"/>
                  </a:ext>
                </a:extLst>
              </a:tr>
              <a:tr h="370840">
                <a:tc>
                  <a:txBody>
                    <a:bodyPr/>
                    <a:lstStyle/>
                    <a:p>
                      <a:r>
                        <a:rPr lang="en-US" altLang="ja-JP" dirty="0" err="1"/>
                        <a:t>sudo</a:t>
                      </a:r>
                      <a:r>
                        <a:rPr lang="en-US" altLang="ja-JP" dirty="0"/>
                        <a:t> </a:t>
                      </a:r>
                      <a:r>
                        <a:rPr lang="en-US" altLang="ja-JP" dirty="0" err="1"/>
                        <a:t>swanctl</a:t>
                      </a:r>
                      <a:r>
                        <a:rPr lang="en-US" altLang="ja-JP" dirty="0"/>
                        <a:t> --list-conns</a:t>
                      </a:r>
                      <a:endParaRPr kumimoji="1" lang="ja-JP" altLang="en-US" dirty="0"/>
                    </a:p>
                  </a:txBody>
                  <a:tcPr/>
                </a:tc>
                <a:tc>
                  <a:txBody>
                    <a:bodyPr/>
                    <a:lstStyle/>
                    <a:p>
                      <a:r>
                        <a:rPr lang="en-US" altLang="ja-JP" dirty="0"/>
                        <a:t>peer</a:t>
                      </a:r>
                      <a:r>
                        <a:rPr lang="ja-JP" altLang="en-US" dirty="0"/>
                        <a:t>（相手先）やセレクタ確認</a:t>
                      </a:r>
                      <a:endParaRPr lang="en-US" altLang="ja-JP" dirty="0"/>
                    </a:p>
                    <a:p>
                      <a:r>
                        <a:rPr lang="ja-JP" altLang="en-US" dirty="0"/>
                        <a:t>設定されている</a:t>
                      </a:r>
                      <a:r>
                        <a:rPr lang="en-US" altLang="ja-JP" dirty="0"/>
                        <a:t>VPN</a:t>
                      </a:r>
                      <a:r>
                        <a:rPr lang="ja-JP" altLang="en-US" dirty="0"/>
                        <a:t>接続一覧</a:t>
                      </a:r>
                      <a:endParaRPr kumimoji="1" lang="ja-JP" altLang="en-US" dirty="0"/>
                    </a:p>
                  </a:txBody>
                  <a:tcPr/>
                </a:tc>
                <a:extLst>
                  <a:ext uri="{0D108BD9-81ED-4DB2-BD59-A6C34878D82A}">
                    <a16:rowId xmlns:a16="http://schemas.microsoft.com/office/drawing/2014/main" val="1547065050"/>
                  </a:ext>
                </a:extLst>
              </a:tr>
              <a:tr h="370840">
                <a:tc>
                  <a:txBody>
                    <a:bodyPr/>
                    <a:lstStyle/>
                    <a:p>
                      <a:r>
                        <a:rPr kumimoji="1" lang="en-US" altLang="ja-JP" dirty="0" err="1"/>
                        <a:t>sudo</a:t>
                      </a:r>
                      <a:r>
                        <a:rPr kumimoji="1" lang="en-US" altLang="ja-JP" dirty="0"/>
                        <a:t> </a:t>
                      </a:r>
                      <a:r>
                        <a:rPr kumimoji="1" lang="en-US" altLang="ja-JP" dirty="0" err="1"/>
                        <a:t>swanctl</a:t>
                      </a:r>
                      <a:r>
                        <a:rPr kumimoji="1" lang="en-US" altLang="ja-JP" dirty="0"/>
                        <a:t> --list-certs</a:t>
                      </a:r>
                      <a:endParaRPr kumimoji="1" lang="ja-JP" altLang="en-US" dirty="0"/>
                    </a:p>
                  </a:txBody>
                  <a:tcPr/>
                </a:tc>
                <a:tc>
                  <a:txBody>
                    <a:bodyPr/>
                    <a:lstStyle/>
                    <a:p>
                      <a:r>
                        <a:rPr lang="ja-JP" altLang="en-US" dirty="0"/>
                        <a:t>インストール済み証明書の確認</a:t>
                      </a:r>
                      <a:endParaRPr kumimoji="1" lang="ja-JP" altLang="en-US" dirty="0"/>
                    </a:p>
                  </a:txBody>
                  <a:tcPr/>
                </a:tc>
                <a:extLst>
                  <a:ext uri="{0D108BD9-81ED-4DB2-BD59-A6C34878D82A}">
                    <a16:rowId xmlns:a16="http://schemas.microsoft.com/office/drawing/2014/main" val="3674642704"/>
                  </a:ext>
                </a:extLst>
              </a:tr>
              <a:tr h="370840">
                <a:tc>
                  <a:txBody>
                    <a:bodyPr/>
                    <a:lstStyle/>
                    <a:p>
                      <a:r>
                        <a:rPr kumimoji="1" lang="en-US" altLang="ja-JP" dirty="0" err="1"/>
                        <a:t>sudo</a:t>
                      </a:r>
                      <a:r>
                        <a:rPr kumimoji="1" lang="en-US" altLang="ja-JP" dirty="0"/>
                        <a:t> </a:t>
                      </a:r>
                      <a:r>
                        <a:rPr kumimoji="1" lang="en-US" altLang="ja-JP" dirty="0" err="1"/>
                        <a:t>swanctl</a:t>
                      </a:r>
                      <a:r>
                        <a:rPr kumimoji="1" lang="en-US" altLang="ja-JP" dirty="0"/>
                        <a:t> --load-all</a:t>
                      </a:r>
                      <a:endParaRPr kumimoji="1" lang="ja-JP" altLang="en-US" dirty="0"/>
                    </a:p>
                  </a:txBody>
                  <a:tcPr/>
                </a:tc>
                <a:tc>
                  <a:txBody>
                    <a:bodyPr/>
                    <a:lstStyle/>
                    <a:p>
                      <a:r>
                        <a:rPr lang="ja-JP" altLang="en-US" dirty="0"/>
                        <a:t>設定ファイル反映</a:t>
                      </a:r>
                      <a:endParaRPr kumimoji="1" lang="ja-JP" altLang="en-US" dirty="0"/>
                    </a:p>
                  </a:txBody>
                  <a:tcPr/>
                </a:tc>
                <a:extLst>
                  <a:ext uri="{0D108BD9-81ED-4DB2-BD59-A6C34878D82A}">
                    <a16:rowId xmlns:a16="http://schemas.microsoft.com/office/drawing/2014/main" val="1236199272"/>
                  </a:ext>
                </a:extLst>
              </a:tr>
              <a:tr h="370840">
                <a:tc>
                  <a:txBody>
                    <a:bodyPr/>
                    <a:lstStyle/>
                    <a:p>
                      <a:r>
                        <a:rPr kumimoji="1" lang="en-US" altLang="ja-JP" dirty="0" err="1"/>
                        <a:t>sudo</a:t>
                      </a:r>
                      <a:r>
                        <a:rPr kumimoji="1" lang="en-US" altLang="ja-JP" dirty="0"/>
                        <a:t> </a:t>
                      </a:r>
                      <a:r>
                        <a:rPr kumimoji="1" lang="en-US" altLang="ja-JP" dirty="0" err="1"/>
                        <a:t>swanctl</a:t>
                      </a:r>
                      <a:r>
                        <a:rPr kumimoji="1" lang="en-US" altLang="ja-JP" dirty="0"/>
                        <a:t> --initiate --</a:t>
                      </a:r>
                      <a:r>
                        <a:rPr kumimoji="1" lang="en-US" altLang="ja-JP" dirty="0" err="1"/>
                        <a:t>ike</a:t>
                      </a:r>
                      <a:r>
                        <a:rPr kumimoji="1" lang="en-US" altLang="ja-JP" dirty="0"/>
                        <a:t> &lt;</a:t>
                      </a:r>
                      <a:r>
                        <a:rPr kumimoji="1" lang="ja-JP" altLang="en-US" dirty="0"/>
                        <a:t>接続名</a:t>
                      </a:r>
                      <a:r>
                        <a:rPr kumimoji="1" lang="en-US" altLang="ja-JP" dirty="0"/>
                        <a:t>&gt;</a:t>
                      </a:r>
                      <a:endParaRPr kumimoji="1" lang="ja-JP" altLang="en-US" dirty="0"/>
                    </a:p>
                  </a:txBody>
                  <a:tcPr/>
                </a:tc>
                <a:tc>
                  <a:txBody>
                    <a:bodyPr/>
                    <a:lstStyle/>
                    <a:p>
                      <a:r>
                        <a:rPr lang="en-US" altLang="ja-JP" dirty="0"/>
                        <a:t>VPN</a:t>
                      </a:r>
                      <a:r>
                        <a:rPr lang="ja-JP" altLang="en-US" dirty="0"/>
                        <a:t>トンネルを張る</a:t>
                      </a:r>
                      <a:endParaRPr kumimoji="1" lang="ja-JP" altLang="en-US" dirty="0"/>
                    </a:p>
                  </a:txBody>
                  <a:tcPr/>
                </a:tc>
                <a:extLst>
                  <a:ext uri="{0D108BD9-81ED-4DB2-BD59-A6C34878D82A}">
                    <a16:rowId xmlns:a16="http://schemas.microsoft.com/office/drawing/2014/main" val="1665433757"/>
                  </a:ext>
                </a:extLst>
              </a:tr>
              <a:tr h="370840">
                <a:tc>
                  <a:txBody>
                    <a:bodyPr/>
                    <a:lstStyle/>
                    <a:p>
                      <a:r>
                        <a:rPr kumimoji="1" lang="en-US" altLang="ja-JP" sz="1600" dirty="0" err="1"/>
                        <a:t>sudo</a:t>
                      </a:r>
                      <a:r>
                        <a:rPr kumimoji="1" lang="en-US" altLang="ja-JP" sz="1600" dirty="0"/>
                        <a:t> </a:t>
                      </a:r>
                      <a:r>
                        <a:rPr kumimoji="1" lang="en-US" altLang="ja-JP" sz="1600" dirty="0" err="1"/>
                        <a:t>swanctl</a:t>
                      </a:r>
                      <a:r>
                        <a:rPr kumimoji="1" lang="en-US" altLang="ja-JP" sz="1600" dirty="0"/>
                        <a:t> --terminate --</a:t>
                      </a:r>
                      <a:r>
                        <a:rPr kumimoji="1" lang="en-US" altLang="ja-JP" sz="1600" dirty="0" err="1"/>
                        <a:t>ike</a:t>
                      </a:r>
                      <a:r>
                        <a:rPr kumimoji="1" lang="en-US" altLang="ja-JP" sz="1600" dirty="0"/>
                        <a:t> &lt;</a:t>
                      </a:r>
                      <a:r>
                        <a:rPr kumimoji="1" lang="ja-JP" altLang="en-US" sz="1600" dirty="0"/>
                        <a:t>接続名</a:t>
                      </a:r>
                      <a:r>
                        <a:rPr kumimoji="1" lang="en-US" altLang="ja-JP" sz="1600" dirty="0"/>
                        <a:t>&gt;</a:t>
                      </a:r>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トンネルを強制切断</a:t>
                      </a:r>
                    </a:p>
                  </a:txBody>
                  <a:tcPr/>
                </a:tc>
                <a:extLst>
                  <a:ext uri="{0D108BD9-81ED-4DB2-BD59-A6C34878D82A}">
                    <a16:rowId xmlns:a16="http://schemas.microsoft.com/office/drawing/2014/main" val="17597478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kern="1200" dirty="0" err="1">
                          <a:solidFill>
                            <a:schemeClr val="dk1"/>
                          </a:solidFill>
                          <a:effectLst/>
                          <a:latin typeface="+mn-lt"/>
                          <a:ea typeface="+mn-ea"/>
                          <a:cs typeface="+mn-cs"/>
                        </a:rPr>
                        <a:t>sudo</a:t>
                      </a:r>
                      <a:r>
                        <a:rPr kumimoji="1" lang="en-US" altLang="ja-JP" sz="1800" b="0" kern="1200" dirty="0">
                          <a:solidFill>
                            <a:schemeClr val="dk1"/>
                          </a:solidFill>
                          <a:effectLst/>
                          <a:latin typeface="+mn-lt"/>
                          <a:ea typeface="+mn-ea"/>
                          <a:cs typeface="+mn-cs"/>
                        </a:rPr>
                        <a:t> </a:t>
                      </a:r>
                      <a:r>
                        <a:rPr kumimoji="1" lang="en-US" altLang="ja-JP" sz="1800" b="0" kern="1200" dirty="0" err="1">
                          <a:solidFill>
                            <a:schemeClr val="dk1"/>
                          </a:solidFill>
                          <a:effectLst/>
                          <a:latin typeface="+mn-lt"/>
                          <a:ea typeface="+mn-ea"/>
                          <a:cs typeface="+mn-cs"/>
                        </a:rPr>
                        <a:t>ip</a:t>
                      </a:r>
                      <a:r>
                        <a:rPr kumimoji="1" lang="en-US" altLang="ja-JP" sz="1800" b="0" kern="1200" dirty="0">
                          <a:solidFill>
                            <a:schemeClr val="dk1"/>
                          </a:solidFill>
                          <a:effectLst/>
                          <a:latin typeface="+mn-lt"/>
                          <a:ea typeface="+mn-ea"/>
                          <a:cs typeface="+mn-cs"/>
                        </a:rPr>
                        <a:t> </a:t>
                      </a:r>
                      <a:r>
                        <a:rPr kumimoji="1" lang="en-US" altLang="ja-JP" sz="1800" b="0" kern="1200" dirty="0" err="1">
                          <a:solidFill>
                            <a:schemeClr val="dk1"/>
                          </a:solidFill>
                          <a:effectLst/>
                          <a:latin typeface="+mn-lt"/>
                          <a:ea typeface="+mn-ea"/>
                          <a:cs typeface="+mn-cs"/>
                        </a:rPr>
                        <a:t>xfrm</a:t>
                      </a:r>
                      <a:r>
                        <a:rPr kumimoji="1" lang="en-US" altLang="ja-JP" sz="1800" b="0" kern="1200" dirty="0">
                          <a:solidFill>
                            <a:schemeClr val="dk1"/>
                          </a:solidFill>
                          <a:effectLst/>
                          <a:latin typeface="+mn-lt"/>
                          <a:ea typeface="+mn-ea"/>
                          <a:cs typeface="+mn-cs"/>
                        </a:rPr>
                        <a:t> policy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「どの通信を</a:t>
                      </a:r>
                      <a:r>
                        <a:rPr lang="en-US" altLang="ja-JP" dirty="0"/>
                        <a:t>IPsec</a:t>
                      </a:r>
                      <a:r>
                        <a:rPr lang="ja-JP" altLang="en-US" dirty="0"/>
                        <a:t>に乗せるか」というルール（ポリシー）を見るコマンド</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strongSwan</a:t>
                      </a:r>
                      <a:r>
                        <a:rPr lang="ja-JP" altLang="en-US" dirty="0"/>
                        <a:t>が裏で自動的に作ってます</a:t>
                      </a:r>
                    </a:p>
                  </a:txBody>
                  <a:tcPr/>
                </a:tc>
                <a:extLst>
                  <a:ext uri="{0D108BD9-81ED-4DB2-BD59-A6C34878D82A}">
                    <a16:rowId xmlns:a16="http://schemas.microsoft.com/office/drawing/2014/main" val="1154434366"/>
                  </a:ext>
                </a:extLst>
              </a:tr>
            </a:tbl>
          </a:graphicData>
        </a:graphic>
      </p:graphicFrame>
    </p:spTree>
    <p:extLst>
      <p:ext uri="{BB962C8B-B14F-4D97-AF65-F5344CB8AC3E}">
        <p14:creationId xmlns:p14="http://schemas.microsoft.com/office/powerpoint/2010/main" val="3138125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805004-9112-7932-2B9C-A1E197DE27E9}"/>
              </a:ext>
            </a:extLst>
          </p:cNvPr>
          <p:cNvSpPr>
            <a:spLocks noGrp="1"/>
          </p:cNvSpPr>
          <p:nvPr>
            <p:ph type="title"/>
          </p:nvPr>
        </p:nvSpPr>
        <p:spPr/>
        <p:txBody>
          <a:bodyPr/>
          <a:lstStyle/>
          <a:p>
            <a:r>
              <a:rPr lang="en-US" altLang="ja-JP" dirty="0"/>
              <a:t>VTI</a:t>
            </a:r>
            <a:r>
              <a:rPr lang="ja-JP" altLang="en-US" dirty="0"/>
              <a:t>（仮想トンネル</a:t>
            </a:r>
            <a:r>
              <a:rPr lang="en-US" altLang="ja-JP" dirty="0"/>
              <a:t>IF</a:t>
            </a:r>
            <a:r>
              <a:rPr lang="ja-JP" altLang="en-US" dirty="0"/>
              <a:t>）その１</a:t>
            </a:r>
            <a:endParaRPr kumimoji="1" lang="ja-JP" altLang="en-US" dirty="0"/>
          </a:p>
        </p:txBody>
      </p:sp>
      <p:graphicFrame>
        <p:nvGraphicFramePr>
          <p:cNvPr id="4" name="表 3">
            <a:extLst>
              <a:ext uri="{FF2B5EF4-FFF2-40B4-BE49-F238E27FC236}">
                <a16:creationId xmlns:a16="http://schemas.microsoft.com/office/drawing/2014/main" id="{C896E15C-46D4-C816-13DE-454123AE5C65}"/>
              </a:ext>
            </a:extLst>
          </p:cNvPr>
          <p:cNvGraphicFramePr>
            <a:graphicFrameLocks noGrp="1"/>
          </p:cNvGraphicFramePr>
          <p:nvPr>
            <p:extLst>
              <p:ext uri="{D42A27DB-BD31-4B8C-83A1-F6EECF244321}">
                <p14:modId xmlns:p14="http://schemas.microsoft.com/office/powerpoint/2010/main" val="1215838210"/>
              </p:ext>
            </p:extLst>
          </p:nvPr>
        </p:nvGraphicFramePr>
        <p:xfrm>
          <a:off x="477079" y="1690688"/>
          <a:ext cx="7444408" cy="4907280"/>
        </p:xfrm>
        <a:graphic>
          <a:graphicData uri="http://schemas.openxmlformats.org/drawingml/2006/table">
            <a:tbl>
              <a:tblPr firstRow="1" bandRow="1">
                <a:tableStyleId>{5C22544A-7EE6-4342-B048-85BDC9FD1C3A}</a:tableStyleId>
              </a:tblPr>
              <a:tblGrid>
                <a:gridCol w="4337046">
                  <a:extLst>
                    <a:ext uri="{9D8B030D-6E8A-4147-A177-3AD203B41FA5}">
                      <a16:colId xmlns:a16="http://schemas.microsoft.com/office/drawing/2014/main" val="989469902"/>
                    </a:ext>
                  </a:extLst>
                </a:gridCol>
                <a:gridCol w="3107362">
                  <a:extLst>
                    <a:ext uri="{9D8B030D-6E8A-4147-A177-3AD203B41FA5}">
                      <a16:colId xmlns:a16="http://schemas.microsoft.com/office/drawing/2014/main" val="4186206399"/>
                    </a:ext>
                  </a:extLst>
                </a:gridCol>
              </a:tblGrid>
              <a:tr h="370840">
                <a:tc>
                  <a:txBody>
                    <a:bodyPr/>
                    <a:lstStyle/>
                    <a:p>
                      <a:r>
                        <a:rPr kumimoji="1" lang="ja-JP" altLang="en-US" dirty="0"/>
                        <a:t>コマンド</a:t>
                      </a:r>
                    </a:p>
                  </a:txBody>
                  <a:tcPr/>
                </a:tc>
                <a:tc>
                  <a:txBody>
                    <a:bodyPr/>
                    <a:lstStyle/>
                    <a:p>
                      <a:r>
                        <a:rPr kumimoji="1" lang="ja-JP" altLang="en-US" dirty="0"/>
                        <a:t>用途</a:t>
                      </a:r>
                    </a:p>
                  </a:txBody>
                  <a:tcPr/>
                </a:tc>
                <a:extLst>
                  <a:ext uri="{0D108BD9-81ED-4DB2-BD59-A6C34878D82A}">
                    <a16:rowId xmlns:a16="http://schemas.microsoft.com/office/drawing/2014/main" val="172411295"/>
                  </a:ext>
                </a:extLst>
              </a:tr>
              <a:tr h="370840">
                <a:tc>
                  <a:txBody>
                    <a:bodyPr/>
                    <a:lstStyle/>
                    <a:p>
                      <a:r>
                        <a:rPr kumimoji="1" lang="en-US" altLang="ja-JP" sz="1200" dirty="0" err="1"/>
                        <a:t>ip</a:t>
                      </a:r>
                      <a:r>
                        <a:rPr kumimoji="1" lang="en-US" altLang="ja-JP" sz="1200" dirty="0"/>
                        <a:t> tunnel add vti-t1 local 172.16.0.223 remote 3.18.50.193 mode </a:t>
                      </a:r>
                      <a:r>
                        <a:rPr kumimoji="1" lang="en-US" altLang="ja-JP" sz="1200" dirty="0" err="1"/>
                        <a:t>vti</a:t>
                      </a:r>
                      <a:r>
                        <a:rPr kumimoji="1" lang="en-US" altLang="ja-JP" sz="1200" dirty="0"/>
                        <a:t> key 10</a:t>
                      </a:r>
                      <a:endParaRPr kumimoji="1" lang="ja-JP" altLang="en-US" sz="1200" dirty="0"/>
                    </a:p>
                  </a:txBody>
                  <a:tcPr/>
                </a:tc>
                <a:tc>
                  <a:txBody>
                    <a:bodyPr/>
                    <a:lstStyle/>
                    <a:p>
                      <a:r>
                        <a:rPr lang="en-US" altLang="ja-JP" sz="1100" dirty="0"/>
                        <a:t>VTI</a:t>
                      </a:r>
                      <a:r>
                        <a:rPr lang="ja-JP" altLang="en-US" sz="1100" dirty="0"/>
                        <a:t>作成</a:t>
                      </a:r>
                      <a:endParaRPr kumimoji="1" lang="ja-JP" altLang="en-US" sz="1100" dirty="0"/>
                    </a:p>
                  </a:txBody>
                  <a:tcPr/>
                </a:tc>
                <a:extLst>
                  <a:ext uri="{0D108BD9-81ED-4DB2-BD59-A6C34878D82A}">
                    <a16:rowId xmlns:a16="http://schemas.microsoft.com/office/drawing/2014/main" val="594955395"/>
                  </a:ext>
                </a:extLst>
              </a:tr>
              <a:tr h="370840">
                <a:tc>
                  <a:txBody>
                    <a:bodyPr/>
                    <a:lstStyle/>
                    <a:p>
                      <a:r>
                        <a:rPr lang="en-US" altLang="ja-JP" sz="1200" dirty="0" err="1"/>
                        <a:t>ip</a:t>
                      </a:r>
                      <a:r>
                        <a:rPr lang="en-US" altLang="ja-JP" sz="1200" dirty="0"/>
                        <a:t> tunnel del vti-t1</a:t>
                      </a:r>
                      <a:endParaRPr kumimoji="1" lang="ja-JP" altLang="en-US" sz="1200" dirty="0"/>
                    </a:p>
                  </a:txBody>
                  <a:tcPr/>
                </a:tc>
                <a:tc>
                  <a:txBody>
                    <a:bodyPr/>
                    <a:lstStyle/>
                    <a:p>
                      <a:r>
                        <a:rPr lang="en-US" altLang="ja-JP" sz="1100" dirty="0"/>
                        <a:t>VTI</a:t>
                      </a:r>
                      <a:r>
                        <a:rPr lang="ja-JP" altLang="en-US" sz="1100" dirty="0"/>
                        <a:t>削除</a:t>
                      </a:r>
                      <a:endParaRPr kumimoji="1" lang="ja-JP" altLang="en-US" sz="1100" dirty="0"/>
                    </a:p>
                  </a:txBody>
                  <a:tcPr/>
                </a:tc>
                <a:extLst>
                  <a:ext uri="{0D108BD9-81ED-4DB2-BD59-A6C34878D82A}">
                    <a16:rowId xmlns:a16="http://schemas.microsoft.com/office/drawing/2014/main" val="22161001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link set vti-t1 up</a:t>
                      </a:r>
                    </a:p>
                  </a:txBody>
                  <a:tcPr/>
                </a:tc>
                <a:tc>
                  <a:txBody>
                    <a:bodyPr/>
                    <a:lstStyle/>
                    <a:p>
                      <a:r>
                        <a:rPr lang="en-US" altLang="ja-JP" sz="1100" dirty="0"/>
                        <a:t>VTI</a:t>
                      </a:r>
                      <a:r>
                        <a:rPr lang="ja-JP" altLang="en-US" sz="1100" dirty="0"/>
                        <a:t>有効化</a:t>
                      </a:r>
                      <a:endParaRPr kumimoji="1" lang="ja-JP" altLang="en-US" sz="1100" dirty="0"/>
                    </a:p>
                  </a:txBody>
                  <a:tcPr/>
                </a:tc>
                <a:extLst>
                  <a:ext uri="{0D108BD9-81ED-4DB2-BD59-A6C34878D82A}">
                    <a16:rowId xmlns:a16="http://schemas.microsoft.com/office/drawing/2014/main" val="965599019"/>
                  </a:ext>
                </a:extLst>
              </a:tr>
              <a:tr h="370840">
                <a:tc>
                  <a:txBody>
                    <a:bodyPr/>
                    <a:lstStyle/>
                    <a:p>
                      <a:r>
                        <a:rPr lang="en-US" altLang="ja-JP" sz="1200" dirty="0" err="1"/>
                        <a:t>ip</a:t>
                      </a:r>
                      <a:r>
                        <a:rPr lang="en-US" altLang="ja-JP" sz="1200" dirty="0"/>
                        <a:t> link set vti-t1 down</a:t>
                      </a:r>
                      <a:endParaRPr kumimoji="1" lang="ja-JP" altLang="en-US" sz="1200" dirty="0"/>
                    </a:p>
                  </a:txBody>
                  <a:tcPr/>
                </a:tc>
                <a:tc>
                  <a:txBody>
                    <a:bodyPr/>
                    <a:lstStyle/>
                    <a:p>
                      <a:r>
                        <a:rPr lang="en-US" altLang="ja-JP" sz="1100" dirty="0"/>
                        <a:t>VTI</a:t>
                      </a:r>
                      <a:r>
                        <a:rPr lang="ja-JP" altLang="en-US" sz="1100" dirty="0"/>
                        <a:t>無効化</a:t>
                      </a:r>
                      <a:endParaRPr kumimoji="1" lang="ja-JP" altLang="en-US" sz="1100" dirty="0"/>
                    </a:p>
                  </a:txBody>
                  <a:tcPr/>
                </a:tc>
                <a:extLst>
                  <a:ext uri="{0D108BD9-81ED-4DB2-BD59-A6C34878D82A}">
                    <a16:rowId xmlns:a16="http://schemas.microsoft.com/office/drawing/2014/main" val="617350705"/>
                  </a:ext>
                </a:extLst>
              </a:tr>
              <a:tr h="370840">
                <a:tc>
                  <a:txBody>
                    <a:bodyPr/>
                    <a:lstStyle/>
                    <a:p>
                      <a:r>
                        <a:rPr lang="en-US" altLang="ja-JP" sz="1200" dirty="0" err="1"/>
                        <a:t>ip</a:t>
                      </a:r>
                      <a:r>
                        <a:rPr lang="en-US" altLang="ja-JP" sz="1200" dirty="0"/>
                        <a:t> </a:t>
                      </a:r>
                      <a:r>
                        <a:rPr lang="en-US" altLang="ja-JP" sz="1200" dirty="0" err="1"/>
                        <a:t>addr</a:t>
                      </a:r>
                      <a:r>
                        <a:rPr lang="en-US" altLang="ja-JP" sz="1200" dirty="0"/>
                        <a:t> add 169.254.49.225/30 dev vti-t1</a:t>
                      </a:r>
                      <a:endParaRPr kumimoji="1" lang="ja-JP" altLang="en-US" sz="1200" dirty="0"/>
                    </a:p>
                  </a:txBody>
                  <a:tcPr/>
                </a:tc>
                <a:tc>
                  <a:txBody>
                    <a:bodyPr/>
                    <a:lstStyle/>
                    <a:p>
                      <a:r>
                        <a:rPr lang="en-US" altLang="ja-JP" sz="1100" dirty="0"/>
                        <a:t>VTI</a:t>
                      </a:r>
                      <a:r>
                        <a:rPr lang="ja-JP" altLang="en-US" sz="1100" dirty="0"/>
                        <a:t>は「トンネル</a:t>
                      </a:r>
                      <a:r>
                        <a:rPr lang="en-US" altLang="ja-JP" sz="1100" dirty="0"/>
                        <a:t>IF</a:t>
                      </a:r>
                      <a:r>
                        <a:rPr lang="ja-JP" altLang="en-US" sz="1100" dirty="0"/>
                        <a:t>」なので</a:t>
                      </a:r>
                      <a:r>
                        <a:rPr lang="en-US" altLang="ja-JP" sz="1100" dirty="0"/>
                        <a:t>IP</a:t>
                      </a:r>
                      <a:r>
                        <a:rPr lang="ja-JP" altLang="en-US" sz="1100" dirty="0"/>
                        <a:t>を割り当てます</a:t>
                      </a:r>
                      <a:endParaRPr kumimoji="1" lang="ja-JP" altLang="en-US" sz="1100" dirty="0"/>
                    </a:p>
                  </a:txBody>
                  <a:tcPr/>
                </a:tc>
                <a:extLst>
                  <a:ext uri="{0D108BD9-81ED-4DB2-BD59-A6C34878D82A}">
                    <a16:rowId xmlns:a16="http://schemas.microsoft.com/office/drawing/2014/main" val="3858485923"/>
                  </a:ext>
                </a:extLst>
              </a:tr>
              <a:tr h="370840">
                <a:tc>
                  <a:txBody>
                    <a:bodyPr/>
                    <a:lstStyle/>
                    <a:p>
                      <a:r>
                        <a:rPr kumimoji="1" lang="en-US" altLang="ja-JP" sz="1200" dirty="0" err="1"/>
                        <a:t>ip</a:t>
                      </a:r>
                      <a:r>
                        <a:rPr kumimoji="1" lang="en-US" altLang="ja-JP" sz="1200" dirty="0"/>
                        <a:t> route add &lt;</a:t>
                      </a:r>
                      <a:r>
                        <a:rPr kumimoji="1" lang="ja-JP" altLang="en-US" sz="1200" dirty="0"/>
                        <a:t>宛先ネットワーク</a:t>
                      </a:r>
                      <a:r>
                        <a:rPr kumimoji="1" lang="en-US" altLang="ja-JP" sz="1200" dirty="0"/>
                        <a:t>&gt; dev vti-t1</a:t>
                      </a:r>
                      <a:endParaRPr kumimoji="1" lang="ja-JP" altLang="en-US" sz="1200" dirty="0"/>
                    </a:p>
                  </a:txBody>
                  <a:tcPr/>
                </a:tc>
                <a:tc>
                  <a:txBody>
                    <a:bodyPr/>
                    <a:lstStyle/>
                    <a:p>
                      <a:r>
                        <a:rPr lang="ja-JP" altLang="en-US" sz="1100" dirty="0"/>
                        <a:t>ルート追加</a:t>
                      </a:r>
                      <a:endParaRPr kumimoji="1" lang="ja-JP" altLang="en-US" sz="1100" dirty="0"/>
                    </a:p>
                  </a:txBody>
                  <a:tcPr/>
                </a:tc>
                <a:extLst>
                  <a:ext uri="{0D108BD9-81ED-4DB2-BD59-A6C34878D82A}">
                    <a16:rowId xmlns:a16="http://schemas.microsoft.com/office/drawing/2014/main" val="332625256"/>
                  </a:ext>
                </a:extLst>
              </a:tr>
              <a:tr h="370840">
                <a:tc>
                  <a:txBody>
                    <a:bodyPr/>
                    <a:lstStyle/>
                    <a:p>
                      <a:r>
                        <a:rPr lang="fr-FR" altLang="ja-JP" sz="1200" dirty="0" err="1"/>
                        <a:t>ip</a:t>
                      </a:r>
                      <a:r>
                        <a:rPr lang="fr-FR" altLang="ja-JP" sz="1200" dirty="0"/>
                        <a:t> route </a:t>
                      </a:r>
                      <a:r>
                        <a:rPr lang="fr-FR" altLang="ja-JP" sz="1200" dirty="0" err="1"/>
                        <a:t>del</a:t>
                      </a:r>
                      <a:r>
                        <a:rPr lang="fr-FR" altLang="ja-JP" sz="1200" dirty="0"/>
                        <a:t> 10.0.0.0/16 dev vti-t1</a:t>
                      </a:r>
                      <a:endParaRPr kumimoji="1" lang="ja-JP" altLang="en-US" sz="1200" dirty="0"/>
                    </a:p>
                  </a:txBody>
                  <a:tcPr/>
                </a:tc>
                <a:tc>
                  <a:txBody>
                    <a:bodyPr/>
                    <a:lstStyle/>
                    <a:p>
                      <a:r>
                        <a:rPr lang="ja-JP" altLang="en-US" sz="1100" dirty="0"/>
                        <a:t>ルート削除</a:t>
                      </a:r>
                      <a:endParaRPr kumimoji="1" lang="ja-JP" altLang="en-US" sz="1100" dirty="0"/>
                    </a:p>
                  </a:txBody>
                  <a:tcPr/>
                </a:tc>
                <a:extLst>
                  <a:ext uri="{0D108BD9-81ED-4DB2-BD59-A6C34878D82A}">
                    <a16:rowId xmlns:a16="http://schemas.microsoft.com/office/drawing/2014/main" val="7360039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route show</a:t>
                      </a:r>
                    </a:p>
                  </a:txBody>
                  <a:tcPr/>
                </a:tc>
                <a:tc>
                  <a:txBody>
                    <a:bodyPr/>
                    <a:lstStyle/>
                    <a:p>
                      <a:r>
                        <a:rPr lang="ja-JP" altLang="en-US" sz="1100" dirty="0"/>
                        <a:t>ルート確認</a:t>
                      </a:r>
                      <a:endParaRPr kumimoji="1" lang="ja-JP" altLang="en-US" sz="1100" dirty="0"/>
                    </a:p>
                  </a:txBody>
                  <a:tcPr/>
                </a:tc>
                <a:extLst>
                  <a:ext uri="{0D108BD9-81ED-4DB2-BD59-A6C34878D82A}">
                    <a16:rowId xmlns:a16="http://schemas.microsoft.com/office/drawing/2014/main" val="15916618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link show</a:t>
                      </a:r>
                    </a:p>
                  </a:txBody>
                  <a:tcPr/>
                </a:tc>
                <a:tc>
                  <a:txBody>
                    <a:bodyPr/>
                    <a:lstStyle/>
                    <a:p>
                      <a:r>
                        <a:rPr lang="ja-JP" altLang="en-US" sz="1100" dirty="0"/>
                        <a:t>インターフェース一覧</a:t>
                      </a:r>
                      <a:endParaRPr kumimoji="1" lang="ja-JP" altLang="en-US" sz="1100" dirty="0"/>
                    </a:p>
                  </a:txBody>
                  <a:tcPr/>
                </a:tc>
                <a:extLst>
                  <a:ext uri="{0D108BD9-81ED-4DB2-BD59-A6C34878D82A}">
                    <a16:rowId xmlns:a16="http://schemas.microsoft.com/office/drawing/2014/main" val="9226437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tunnel show</a:t>
                      </a:r>
                    </a:p>
                  </a:txBody>
                  <a:tcPr/>
                </a:tc>
                <a:tc>
                  <a:txBody>
                    <a:bodyPr/>
                    <a:lstStyle/>
                    <a:p>
                      <a:r>
                        <a:rPr lang="en-US" altLang="ja-JP" sz="1100" dirty="0"/>
                        <a:t>VTI</a:t>
                      </a:r>
                      <a:r>
                        <a:rPr lang="ja-JP" altLang="en-US" sz="1100" dirty="0"/>
                        <a:t>詳細</a:t>
                      </a:r>
                      <a:endParaRPr kumimoji="1" lang="ja-JP" altLang="en-US" sz="1100" dirty="0"/>
                    </a:p>
                  </a:txBody>
                  <a:tcPr/>
                </a:tc>
                <a:extLst>
                  <a:ext uri="{0D108BD9-81ED-4DB2-BD59-A6C34878D82A}">
                    <a16:rowId xmlns:a16="http://schemas.microsoft.com/office/drawing/2014/main" val="8684287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a:t>
                      </a:r>
                      <a:r>
                        <a:rPr lang="en-US" altLang="ja-JP" sz="1200" dirty="0" err="1"/>
                        <a:t>addr</a:t>
                      </a:r>
                      <a:r>
                        <a:rPr lang="en-US" altLang="ja-JP" sz="1200" dirty="0"/>
                        <a:t> show dev vti-t1</a:t>
                      </a:r>
                    </a:p>
                  </a:txBody>
                  <a:tcPr/>
                </a:tc>
                <a:tc>
                  <a:txBody>
                    <a:bodyPr/>
                    <a:lstStyle/>
                    <a:p>
                      <a:r>
                        <a:rPr lang="en-US" altLang="ja-JP" sz="1100" dirty="0"/>
                        <a:t>IP</a:t>
                      </a:r>
                      <a:r>
                        <a:rPr lang="ja-JP" altLang="en-US" sz="1100" dirty="0"/>
                        <a:t>アドレス確認</a:t>
                      </a:r>
                      <a:endParaRPr kumimoji="1" lang="ja-JP" altLang="en-US" sz="1100" dirty="0"/>
                    </a:p>
                  </a:txBody>
                  <a:tcPr/>
                </a:tc>
                <a:extLst>
                  <a:ext uri="{0D108BD9-81ED-4DB2-BD59-A6C34878D82A}">
                    <a16:rowId xmlns:a16="http://schemas.microsoft.com/office/drawing/2014/main" val="12780875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route get &lt;</a:t>
                      </a:r>
                      <a:r>
                        <a:rPr lang="ja-JP" altLang="en-US" sz="1200" dirty="0"/>
                        <a:t>宛先</a:t>
                      </a:r>
                      <a:r>
                        <a:rPr lang="en-US" altLang="ja-JP" sz="1200" dirty="0"/>
                        <a:t>IP&gt;</a:t>
                      </a:r>
                    </a:p>
                  </a:txBody>
                  <a:tcPr/>
                </a:tc>
                <a:tc>
                  <a:txBody>
                    <a:bodyPr/>
                    <a:lstStyle/>
                    <a:p>
                      <a:r>
                        <a:rPr lang="ja-JP" altLang="en-US" sz="1100" dirty="0"/>
                        <a:t>経路確認</a:t>
                      </a:r>
                      <a:endParaRPr kumimoji="1" lang="ja-JP" altLang="en-US" sz="1100" dirty="0"/>
                    </a:p>
                  </a:txBody>
                  <a:tcPr/>
                </a:tc>
                <a:extLst>
                  <a:ext uri="{0D108BD9-81ED-4DB2-BD59-A6C34878D82A}">
                    <a16:rowId xmlns:a16="http://schemas.microsoft.com/office/drawing/2014/main" val="1865640742"/>
                  </a:ext>
                </a:extLst>
              </a:tr>
            </a:tbl>
          </a:graphicData>
        </a:graphic>
      </p:graphicFrame>
    </p:spTree>
    <p:extLst>
      <p:ext uri="{BB962C8B-B14F-4D97-AF65-F5344CB8AC3E}">
        <p14:creationId xmlns:p14="http://schemas.microsoft.com/office/powerpoint/2010/main" val="148725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C24B3-FCA6-4C97-8BF7-4D2DFAC3B0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DCCB46-C914-7DE0-3D88-0CC35E62D6F2}"/>
              </a:ext>
            </a:extLst>
          </p:cNvPr>
          <p:cNvSpPr>
            <a:spLocks noGrp="1"/>
          </p:cNvSpPr>
          <p:nvPr>
            <p:ph type="title"/>
          </p:nvPr>
        </p:nvSpPr>
        <p:spPr/>
        <p:txBody>
          <a:bodyPr/>
          <a:lstStyle/>
          <a:p>
            <a:r>
              <a:rPr lang="en-US" altLang="ja-JP" dirty="0"/>
              <a:t>VTI</a:t>
            </a:r>
            <a:r>
              <a:rPr lang="ja-JP" altLang="en-US" dirty="0"/>
              <a:t>（仮想トンネル</a:t>
            </a:r>
            <a:r>
              <a:rPr lang="en-US" altLang="ja-JP" dirty="0"/>
              <a:t>IF</a:t>
            </a:r>
            <a:r>
              <a:rPr lang="ja-JP" altLang="en-US" dirty="0"/>
              <a:t>）その２</a:t>
            </a:r>
            <a:endParaRPr kumimoji="1" lang="ja-JP" altLang="en-US" dirty="0"/>
          </a:p>
        </p:txBody>
      </p:sp>
      <p:graphicFrame>
        <p:nvGraphicFramePr>
          <p:cNvPr id="4" name="表 3">
            <a:extLst>
              <a:ext uri="{FF2B5EF4-FFF2-40B4-BE49-F238E27FC236}">
                <a16:creationId xmlns:a16="http://schemas.microsoft.com/office/drawing/2014/main" id="{81AAF45F-5A7C-DF26-FBB2-B3F62D8236F4}"/>
              </a:ext>
            </a:extLst>
          </p:cNvPr>
          <p:cNvGraphicFramePr>
            <a:graphicFrameLocks noGrp="1"/>
          </p:cNvGraphicFramePr>
          <p:nvPr>
            <p:extLst>
              <p:ext uri="{D42A27DB-BD31-4B8C-83A1-F6EECF244321}">
                <p14:modId xmlns:p14="http://schemas.microsoft.com/office/powerpoint/2010/main" val="3372032788"/>
              </p:ext>
            </p:extLst>
          </p:nvPr>
        </p:nvGraphicFramePr>
        <p:xfrm>
          <a:off x="467140" y="1452149"/>
          <a:ext cx="7444408" cy="5273040"/>
        </p:xfrm>
        <a:graphic>
          <a:graphicData uri="http://schemas.openxmlformats.org/drawingml/2006/table">
            <a:tbl>
              <a:tblPr firstRow="1" bandRow="1">
                <a:tableStyleId>{5C22544A-7EE6-4342-B048-85BDC9FD1C3A}</a:tableStyleId>
              </a:tblPr>
              <a:tblGrid>
                <a:gridCol w="4337046">
                  <a:extLst>
                    <a:ext uri="{9D8B030D-6E8A-4147-A177-3AD203B41FA5}">
                      <a16:colId xmlns:a16="http://schemas.microsoft.com/office/drawing/2014/main" val="989469902"/>
                    </a:ext>
                  </a:extLst>
                </a:gridCol>
                <a:gridCol w="3107362">
                  <a:extLst>
                    <a:ext uri="{9D8B030D-6E8A-4147-A177-3AD203B41FA5}">
                      <a16:colId xmlns:a16="http://schemas.microsoft.com/office/drawing/2014/main" val="4186206399"/>
                    </a:ext>
                  </a:extLst>
                </a:gridCol>
              </a:tblGrid>
              <a:tr h="370840">
                <a:tc>
                  <a:txBody>
                    <a:bodyPr/>
                    <a:lstStyle/>
                    <a:p>
                      <a:r>
                        <a:rPr kumimoji="1" lang="ja-JP" altLang="en-US" dirty="0"/>
                        <a:t>コマンド</a:t>
                      </a:r>
                    </a:p>
                  </a:txBody>
                  <a:tcPr/>
                </a:tc>
                <a:tc>
                  <a:txBody>
                    <a:bodyPr/>
                    <a:lstStyle/>
                    <a:p>
                      <a:r>
                        <a:rPr kumimoji="1" lang="ja-JP" altLang="en-US" dirty="0"/>
                        <a:t>用途</a:t>
                      </a:r>
                    </a:p>
                  </a:txBody>
                  <a:tcPr/>
                </a:tc>
                <a:extLst>
                  <a:ext uri="{0D108BD9-81ED-4DB2-BD59-A6C34878D82A}">
                    <a16:rowId xmlns:a16="http://schemas.microsoft.com/office/drawing/2014/main" val="172411295"/>
                  </a:ext>
                </a:extLst>
              </a:tr>
              <a:tr h="370840">
                <a:tc>
                  <a:txBody>
                    <a:bodyPr/>
                    <a:lstStyle/>
                    <a:p>
                      <a:r>
                        <a:rPr kumimoji="1" lang="en-US" altLang="ja-JP" sz="1200" dirty="0" err="1"/>
                        <a:t>sysctl</a:t>
                      </a:r>
                      <a:r>
                        <a:rPr kumimoji="1" lang="en-US" altLang="ja-JP" sz="1200" dirty="0"/>
                        <a:t> -w net.ipv4.ip_forward=1</a:t>
                      </a:r>
                      <a:endParaRPr kumimoji="1" lang="ja-JP" altLang="en-US" sz="1200" dirty="0"/>
                    </a:p>
                  </a:txBody>
                  <a:tcPr/>
                </a:tc>
                <a:tc>
                  <a:txBody>
                    <a:bodyPr/>
                    <a:lstStyle/>
                    <a:p>
                      <a:r>
                        <a:rPr lang="en-US" altLang="ja-JP" sz="1100" dirty="0"/>
                        <a:t>IP</a:t>
                      </a:r>
                      <a:r>
                        <a:rPr lang="ja-JP" altLang="en-US" sz="1100" dirty="0"/>
                        <a:t>フォワーディング有効化</a:t>
                      </a:r>
                      <a:endParaRPr kumimoji="1" lang="ja-JP" altLang="en-US" sz="1100" dirty="0"/>
                    </a:p>
                  </a:txBody>
                  <a:tcPr/>
                </a:tc>
                <a:extLst>
                  <a:ext uri="{0D108BD9-81ED-4DB2-BD59-A6C34878D82A}">
                    <a16:rowId xmlns:a16="http://schemas.microsoft.com/office/drawing/2014/main" val="594955395"/>
                  </a:ext>
                </a:extLst>
              </a:tr>
              <a:tr h="370840">
                <a:tc>
                  <a:txBody>
                    <a:bodyPr/>
                    <a:lstStyle/>
                    <a:p>
                      <a:r>
                        <a:rPr lang="en-US" altLang="ja-JP" sz="1200" dirty="0" err="1"/>
                        <a:t>sysctl</a:t>
                      </a:r>
                      <a:r>
                        <a:rPr lang="en-US" altLang="ja-JP" sz="1200" dirty="0"/>
                        <a:t> -w net.ipv4.conf.all.rp_filter=0</a:t>
                      </a:r>
                      <a:br>
                        <a:rPr lang="en-US" altLang="ja-JP" sz="1200" dirty="0"/>
                      </a:br>
                      <a:r>
                        <a:rPr lang="en-US" altLang="ja-JP" sz="1200" dirty="0" err="1"/>
                        <a:t>sysctl</a:t>
                      </a:r>
                      <a:r>
                        <a:rPr lang="en-US" altLang="ja-JP" sz="1200" dirty="0"/>
                        <a:t> -w net.ipv4.conf.vti-t1.rp_filter=0</a:t>
                      </a:r>
                      <a:endParaRPr kumimoji="1" lang="ja-JP" altLang="en-US" sz="1200" dirty="0"/>
                    </a:p>
                  </a:txBody>
                  <a:tcPr/>
                </a:tc>
                <a:tc>
                  <a:txBody>
                    <a:bodyPr/>
                    <a:lstStyle/>
                    <a:p>
                      <a:r>
                        <a:rPr lang="en-US" altLang="ja-JP" sz="1100" dirty="0"/>
                        <a:t>RP</a:t>
                      </a:r>
                      <a:r>
                        <a:rPr lang="ja-JP" altLang="en-US" sz="1100" dirty="0"/>
                        <a:t>フィルタ無効化</a:t>
                      </a:r>
                      <a:endParaRPr kumimoji="1" lang="ja-JP" altLang="en-US" sz="1100" dirty="0"/>
                    </a:p>
                  </a:txBody>
                  <a:tcPr/>
                </a:tc>
                <a:extLst>
                  <a:ext uri="{0D108BD9-81ED-4DB2-BD59-A6C34878D82A}">
                    <a16:rowId xmlns:a16="http://schemas.microsoft.com/office/drawing/2014/main" val="22161001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echo "net.ipv4.ip_forward=1" &gt;&gt; /</a:t>
                      </a:r>
                      <a:r>
                        <a:rPr lang="en-US" altLang="ja-JP" sz="1200" dirty="0" err="1"/>
                        <a:t>etc</a:t>
                      </a:r>
                      <a:r>
                        <a:rPr lang="en-US" altLang="ja-JP" sz="1200" dirty="0"/>
                        <a:t>/</a:t>
                      </a:r>
                      <a:r>
                        <a:rPr lang="en-US" altLang="ja-JP" sz="1200" dirty="0" err="1"/>
                        <a:t>sysctl.conf</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sysctl</a:t>
                      </a:r>
                      <a:r>
                        <a:rPr lang="en-US" altLang="ja-JP" sz="1200" dirty="0"/>
                        <a:t> -p</a:t>
                      </a:r>
                    </a:p>
                  </a:txBody>
                  <a:tcPr/>
                </a:tc>
                <a:tc>
                  <a:txBody>
                    <a:bodyPr/>
                    <a:lstStyle/>
                    <a:p>
                      <a:r>
                        <a:rPr lang="ja-JP" altLang="en-US" sz="1100" dirty="0"/>
                        <a:t>永続化</a:t>
                      </a:r>
                      <a:endParaRPr kumimoji="1" lang="ja-JP" altLang="en-US" sz="1100" dirty="0"/>
                    </a:p>
                  </a:txBody>
                  <a:tcPr/>
                </a:tc>
                <a:extLst>
                  <a:ext uri="{0D108BD9-81ED-4DB2-BD59-A6C34878D82A}">
                    <a16:rowId xmlns:a16="http://schemas.microsoft.com/office/drawing/2014/main" val="965599019"/>
                  </a:ext>
                </a:extLst>
              </a:tr>
              <a:tr h="370840">
                <a:tc>
                  <a:txBody>
                    <a:bodyPr/>
                    <a:lstStyle/>
                    <a:p>
                      <a:r>
                        <a:rPr lang="da-DK" altLang="ja-JP" sz="1200" dirty="0"/>
                        <a:t>ip link set dev vti-t1 mtu 1400</a:t>
                      </a:r>
                      <a:endParaRPr kumimoji="1" lang="ja-JP" altLang="en-US" sz="1200" dirty="0"/>
                    </a:p>
                  </a:txBody>
                  <a:tcPr/>
                </a:tc>
                <a:tc>
                  <a:txBody>
                    <a:bodyPr/>
                    <a:lstStyle/>
                    <a:p>
                      <a:r>
                        <a:rPr lang="en-US" altLang="ja-JP" sz="1100" dirty="0"/>
                        <a:t>MTU</a:t>
                      </a:r>
                      <a:r>
                        <a:rPr lang="ja-JP" altLang="en-US" sz="1100" dirty="0"/>
                        <a:t>調整</a:t>
                      </a:r>
                      <a:endParaRPr kumimoji="1" lang="ja-JP" altLang="en-US" sz="1100" dirty="0"/>
                    </a:p>
                  </a:txBody>
                  <a:tcPr/>
                </a:tc>
                <a:extLst>
                  <a:ext uri="{0D108BD9-81ED-4DB2-BD59-A6C34878D82A}">
                    <a16:rowId xmlns:a16="http://schemas.microsoft.com/office/drawing/2014/main" val="617350705"/>
                  </a:ext>
                </a:extLst>
              </a:tr>
              <a:tr h="370840">
                <a:tc>
                  <a:txBody>
                    <a:bodyPr/>
                    <a:lstStyle/>
                    <a:p>
                      <a:r>
                        <a:rPr lang="en-US" altLang="ja-JP" sz="1200" dirty="0" err="1"/>
                        <a:t>ipsec</a:t>
                      </a:r>
                      <a:r>
                        <a:rPr lang="en-US" altLang="ja-JP" sz="1200" dirty="0"/>
                        <a:t> </a:t>
                      </a:r>
                      <a:r>
                        <a:rPr lang="en-US" altLang="ja-JP" sz="1200" dirty="0" err="1"/>
                        <a:t>statusall</a:t>
                      </a:r>
                      <a:endParaRPr kumimoji="1" lang="ja-JP" altLang="en-US" sz="1200" dirty="0"/>
                    </a:p>
                  </a:txBody>
                  <a:tcPr/>
                </a:tc>
                <a:tc>
                  <a:txBody>
                    <a:bodyPr/>
                    <a:lstStyle/>
                    <a:p>
                      <a:r>
                        <a:rPr lang="en-US" altLang="ja-JP" sz="1100" dirty="0" err="1"/>
                        <a:t>Ipsec</a:t>
                      </a:r>
                      <a:r>
                        <a:rPr lang="ja-JP" altLang="en-US" sz="1100" dirty="0"/>
                        <a:t>状態確認</a:t>
                      </a:r>
                      <a:endParaRPr kumimoji="1" lang="ja-JP" altLang="en-US" sz="1100" dirty="0"/>
                    </a:p>
                  </a:txBody>
                  <a:tcPr/>
                </a:tc>
                <a:extLst>
                  <a:ext uri="{0D108BD9-81ED-4DB2-BD59-A6C34878D82A}">
                    <a16:rowId xmlns:a16="http://schemas.microsoft.com/office/drawing/2014/main" val="38584859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err="1">
                          <a:solidFill>
                            <a:schemeClr val="dk1"/>
                          </a:solidFill>
                          <a:latin typeface="+mn-lt"/>
                          <a:ea typeface="+mn-ea"/>
                          <a:cs typeface="+mn-cs"/>
                        </a:rPr>
                        <a:t>ipsec</a:t>
                      </a:r>
                      <a:r>
                        <a:rPr kumimoji="1" lang="en-US" altLang="ja-JP" sz="1200" kern="1200" dirty="0">
                          <a:solidFill>
                            <a:schemeClr val="dk1"/>
                          </a:solidFill>
                          <a:latin typeface="+mn-lt"/>
                          <a:ea typeface="+mn-ea"/>
                          <a:cs typeface="+mn-cs"/>
                        </a:rPr>
                        <a:t> restart</a:t>
                      </a:r>
                      <a:endParaRPr kumimoji="1" lang="en-US" altLang="ja-JP" sz="1800" kern="1200" dirty="0">
                        <a:solidFill>
                          <a:schemeClr val="dk1"/>
                        </a:solidFill>
                        <a:latin typeface="+mn-lt"/>
                        <a:ea typeface="+mn-ea"/>
                        <a:cs typeface="+mn-cs"/>
                      </a:endParaRPr>
                    </a:p>
                  </a:txBody>
                  <a:tcPr/>
                </a:tc>
                <a:tc>
                  <a:txBody>
                    <a:bodyPr/>
                    <a:lstStyle/>
                    <a:p>
                      <a:r>
                        <a:rPr lang="en-US" altLang="ja-JP" sz="1100" dirty="0"/>
                        <a:t>IPSec</a:t>
                      </a:r>
                      <a:r>
                        <a:rPr lang="ja-JP" altLang="en-US" sz="1100" dirty="0"/>
                        <a:t>再起動</a:t>
                      </a:r>
                      <a:endParaRPr kumimoji="1" lang="ja-JP" altLang="en-US" sz="1100" dirty="0"/>
                    </a:p>
                  </a:txBody>
                  <a:tcPr/>
                </a:tc>
                <a:extLst>
                  <a:ext uri="{0D108BD9-81ED-4DB2-BD59-A6C34878D82A}">
                    <a16:rowId xmlns:a16="http://schemas.microsoft.com/office/drawing/2014/main" val="332625256"/>
                  </a:ext>
                </a:extLst>
              </a:tr>
              <a:tr h="370840">
                <a:tc>
                  <a:txBody>
                    <a:bodyPr/>
                    <a:lstStyle/>
                    <a:p>
                      <a:r>
                        <a:rPr lang="en-US" altLang="ja-JP" sz="1200" dirty="0" err="1"/>
                        <a:t>tcpdump</a:t>
                      </a:r>
                      <a:r>
                        <a:rPr lang="en-US" altLang="ja-JP" sz="1200" dirty="0"/>
                        <a:t> -</a:t>
                      </a:r>
                      <a:r>
                        <a:rPr lang="en-US" altLang="ja-JP" sz="1200" dirty="0" err="1"/>
                        <a:t>i</a:t>
                      </a:r>
                      <a:r>
                        <a:rPr lang="en-US" altLang="ja-JP" sz="1200" dirty="0"/>
                        <a:t> vti-t1</a:t>
                      </a:r>
                      <a:endParaRPr kumimoji="1" lang="ja-JP" altLang="en-US" sz="1200" dirty="0"/>
                    </a:p>
                  </a:txBody>
                  <a:tcPr/>
                </a:tc>
                <a:tc>
                  <a:txBody>
                    <a:bodyPr/>
                    <a:lstStyle/>
                    <a:p>
                      <a:r>
                        <a:rPr lang="ja-JP" altLang="en-US" sz="1100" dirty="0"/>
                        <a:t>パケット確認</a:t>
                      </a:r>
                      <a:endParaRPr kumimoji="1" lang="ja-JP" altLang="en-US" sz="1100" dirty="0"/>
                    </a:p>
                  </a:txBody>
                  <a:tcPr/>
                </a:tc>
                <a:extLst>
                  <a:ext uri="{0D108BD9-81ED-4DB2-BD59-A6C34878D82A}">
                    <a16:rowId xmlns:a16="http://schemas.microsoft.com/office/drawing/2014/main" val="7360039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tracepath</a:t>
                      </a:r>
                      <a:r>
                        <a:rPr lang="en-US" altLang="ja-JP" sz="1200" dirty="0"/>
                        <a:t> &lt;</a:t>
                      </a:r>
                      <a:r>
                        <a:rPr lang="ja-JP" altLang="en-US" sz="1200" dirty="0"/>
                        <a:t>宛先</a:t>
                      </a:r>
                      <a:r>
                        <a:rPr lang="en-US" altLang="ja-JP" sz="1200" dirty="0"/>
                        <a:t>&gt;</a:t>
                      </a:r>
                    </a:p>
                  </a:txBody>
                  <a:tcPr/>
                </a:tc>
                <a:tc>
                  <a:txBody>
                    <a:bodyPr/>
                    <a:lstStyle/>
                    <a:p>
                      <a:r>
                        <a:rPr lang="ja-JP" altLang="en-US" sz="1100" dirty="0"/>
                        <a:t>ルーティング追跡</a:t>
                      </a:r>
                      <a:endParaRPr kumimoji="1" lang="ja-JP" altLang="en-US" sz="1100" dirty="0"/>
                    </a:p>
                  </a:txBody>
                  <a:tcPr/>
                </a:tc>
                <a:extLst>
                  <a:ext uri="{0D108BD9-81ED-4DB2-BD59-A6C34878D82A}">
                    <a16:rowId xmlns:a16="http://schemas.microsoft.com/office/drawing/2014/main" val="15916618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rule</a:t>
                      </a:r>
                    </a:p>
                  </a:txBody>
                  <a:tcPr/>
                </a:tc>
                <a:tc>
                  <a:txBody>
                    <a:bodyPr/>
                    <a:lstStyle/>
                    <a:p>
                      <a:r>
                        <a:rPr lang="ja-JP" altLang="en-US" sz="1100" dirty="0"/>
                        <a:t>「この通信はこのルールに合うから、このルーティングテーブルを使え」</a:t>
                      </a:r>
                    </a:p>
                    <a:p>
                      <a:r>
                        <a:rPr lang="ja-JP" altLang="en-US" sz="1100" dirty="0"/>
                        <a:t>という“振り分け装置”です。</a:t>
                      </a:r>
                    </a:p>
                  </a:txBody>
                  <a:tcPr/>
                </a:tc>
                <a:extLst>
                  <a:ext uri="{0D108BD9-81ED-4DB2-BD59-A6C34878D82A}">
                    <a16:rowId xmlns:a16="http://schemas.microsoft.com/office/drawing/2014/main" val="9226437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rule add from 10.0.0.10/32 table 100</a:t>
                      </a:r>
                    </a:p>
                  </a:txBody>
                  <a:tcPr/>
                </a:tc>
                <a:tc>
                  <a:txBody>
                    <a:bodyPr/>
                    <a:lstStyle/>
                    <a:p>
                      <a:r>
                        <a:rPr lang="ja-JP" altLang="en-US" sz="1100" dirty="0"/>
                        <a:t>ルール追加</a:t>
                      </a:r>
                      <a:endParaRPr kumimoji="1" lang="ja-JP" altLang="en-US" sz="1100" dirty="0"/>
                    </a:p>
                  </a:txBody>
                  <a:tcPr/>
                </a:tc>
                <a:extLst>
                  <a:ext uri="{0D108BD9-81ED-4DB2-BD59-A6C34878D82A}">
                    <a16:rowId xmlns:a16="http://schemas.microsoft.com/office/drawing/2014/main" val="8684287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rule add </a:t>
                      </a:r>
                      <a:r>
                        <a:rPr lang="en-US" altLang="ja-JP" sz="1200" dirty="0" err="1"/>
                        <a:t>fwmark</a:t>
                      </a:r>
                      <a:r>
                        <a:rPr lang="en-US" altLang="ja-JP" sz="1200" dirty="0"/>
                        <a:t> 10 table 200</a:t>
                      </a:r>
                    </a:p>
                  </a:txBody>
                  <a:tcPr/>
                </a:tc>
                <a:tc>
                  <a:txBody>
                    <a:bodyPr/>
                    <a:lstStyle/>
                    <a:p>
                      <a:r>
                        <a:rPr lang="en-US" altLang="ja-JP" sz="1100" dirty="0" err="1"/>
                        <a:t>fwmark</a:t>
                      </a:r>
                      <a:r>
                        <a:rPr lang="ja-JP" altLang="en-US" sz="1100" dirty="0"/>
                        <a:t>で振り分け（</a:t>
                      </a:r>
                      <a:r>
                        <a:rPr lang="en-US" altLang="ja-JP" sz="1100" dirty="0"/>
                        <a:t>VPN</a:t>
                      </a:r>
                      <a:r>
                        <a:rPr lang="ja-JP" altLang="en-US" sz="1100" dirty="0"/>
                        <a:t>でよく使う）</a:t>
                      </a:r>
                      <a:endParaRPr lang="en-US" altLang="ja-JP" sz="1100" dirty="0"/>
                    </a:p>
                    <a:p>
                      <a:r>
                        <a:rPr lang="en-US" altLang="ja-JP" sz="1100" dirty="0" err="1"/>
                        <a:t>Fwmark</a:t>
                      </a:r>
                      <a:r>
                        <a:rPr lang="ja-JP" altLang="en-US" sz="1100" dirty="0"/>
                        <a:t>（</a:t>
                      </a:r>
                      <a:r>
                        <a:rPr lang="en-US" altLang="ja-JP" sz="1100" dirty="0"/>
                        <a:t>Mark</a:t>
                      </a:r>
                      <a:r>
                        <a:rPr lang="ja-JP" altLang="en-US" sz="1100" dirty="0"/>
                        <a:t>の事）</a:t>
                      </a:r>
                      <a:endParaRPr kumimoji="1" lang="ja-JP" altLang="en-US" sz="1100" dirty="0"/>
                    </a:p>
                  </a:txBody>
                  <a:tcPr/>
                </a:tc>
                <a:extLst>
                  <a:ext uri="{0D108BD9-81ED-4DB2-BD59-A6C34878D82A}">
                    <a16:rowId xmlns:a16="http://schemas.microsoft.com/office/drawing/2014/main" val="12780875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rule del from 10.0.0.10/32 table 100</a:t>
                      </a:r>
                    </a:p>
                  </a:txBody>
                  <a:tcPr/>
                </a:tc>
                <a:tc>
                  <a:txBody>
                    <a:bodyPr/>
                    <a:lstStyle/>
                    <a:p>
                      <a:r>
                        <a:rPr lang="ja-JP" altLang="en-US" sz="1100" dirty="0"/>
                        <a:t>ルール削除</a:t>
                      </a:r>
                      <a:endParaRPr kumimoji="1" lang="ja-JP" altLang="en-US" sz="1100" dirty="0"/>
                    </a:p>
                  </a:txBody>
                  <a:tcPr/>
                </a:tc>
                <a:extLst>
                  <a:ext uri="{0D108BD9-81ED-4DB2-BD59-A6C34878D82A}">
                    <a16:rowId xmlns:a16="http://schemas.microsoft.com/office/drawing/2014/main" val="1865640742"/>
                  </a:ext>
                </a:extLst>
              </a:tr>
            </a:tbl>
          </a:graphicData>
        </a:graphic>
      </p:graphicFrame>
    </p:spTree>
    <p:extLst>
      <p:ext uri="{BB962C8B-B14F-4D97-AF65-F5344CB8AC3E}">
        <p14:creationId xmlns:p14="http://schemas.microsoft.com/office/powerpoint/2010/main" val="1067119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52F49-50C9-12DD-0D55-9C634D17D8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5544CA-4DEA-F9EA-1F2C-56DCFD86144D}"/>
              </a:ext>
            </a:extLst>
          </p:cNvPr>
          <p:cNvSpPr>
            <a:spLocks noGrp="1"/>
          </p:cNvSpPr>
          <p:nvPr>
            <p:ph type="title"/>
          </p:nvPr>
        </p:nvSpPr>
        <p:spPr/>
        <p:txBody>
          <a:bodyPr/>
          <a:lstStyle/>
          <a:p>
            <a:r>
              <a:rPr lang="en-US" altLang="ja-JP" dirty="0"/>
              <a:t>VTI</a:t>
            </a:r>
            <a:r>
              <a:rPr lang="ja-JP" altLang="en-US" dirty="0"/>
              <a:t>（仮想トンネル</a:t>
            </a:r>
            <a:r>
              <a:rPr lang="en-US" altLang="ja-JP" dirty="0"/>
              <a:t>IF</a:t>
            </a:r>
            <a:r>
              <a:rPr lang="ja-JP" altLang="en-US" dirty="0"/>
              <a:t>）その</a:t>
            </a:r>
            <a:r>
              <a:rPr lang="en-US" altLang="ja-JP" dirty="0"/>
              <a:t>3</a:t>
            </a:r>
            <a:endParaRPr kumimoji="1" lang="ja-JP" altLang="en-US" dirty="0"/>
          </a:p>
        </p:txBody>
      </p:sp>
      <p:graphicFrame>
        <p:nvGraphicFramePr>
          <p:cNvPr id="4" name="表 3">
            <a:extLst>
              <a:ext uri="{FF2B5EF4-FFF2-40B4-BE49-F238E27FC236}">
                <a16:creationId xmlns:a16="http://schemas.microsoft.com/office/drawing/2014/main" id="{31B28EA9-B2B7-D934-DE03-30D6891F5429}"/>
              </a:ext>
            </a:extLst>
          </p:cNvPr>
          <p:cNvGraphicFramePr>
            <a:graphicFrameLocks noGrp="1"/>
          </p:cNvGraphicFramePr>
          <p:nvPr>
            <p:extLst>
              <p:ext uri="{D42A27DB-BD31-4B8C-83A1-F6EECF244321}">
                <p14:modId xmlns:p14="http://schemas.microsoft.com/office/powerpoint/2010/main" val="1124232408"/>
              </p:ext>
            </p:extLst>
          </p:nvPr>
        </p:nvGraphicFramePr>
        <p:xfrm>
          <a:off x="467140" y="1452149"/>
          <a:ext cx="11121886" cy="1483360"/>
        </p:xfrm>
        <a:graphic>
          <a:graphicData uri="http://schemas.openxmlformats.org/drawingml/2006/table">
            <a:tbl>
              <a:tblPr firstRow="1" bandRow="1">
                <a:tableStyleId>{5C22544A-7EE6-4342-B048-85BDC9FD1C3A}</a:tableStyleId>
              </a:tblPr>
              <a:tblGrid>
                <a:gridCol w="6479512">
                  <a:extLst>
                    <a:ext uri="{9D8B030D-6E8A-4147-A177-3AD203B41FA5}">
                      <a16:colId xmlns:a16="http://schemas.microsoft.com/office/drawing/2014/main" val="989469902"/>
                    </a:ext>
                  </a:extLst>
                </a:gridCol>
                <a:gridCol w="4642374">
                  <a:extLst>
                    <a:ext uri="{9D8B030D-6E8A-4147-A177-3AD203B41FA5}">
                      <a16:colId xmlns:a16="http://schemas.microsoft.com/office/drawing/2014/main" val="4186206399"/>
                    </a:ext>
                  </a:extLst>
                </a:gridCol>
              </a:tblGrid>
              <a:tr h="370840">
                <a:tc>
                  <a:txBody>
                    <a:bodyPr/>
                    <a:lstStyle/>
                    <a:p>
                      <a:r>
                        <a:rPr kumimoji="1" lang="ja-JP" altLang="en-US" dirty="0"/>
                        <a:t>コマンド</a:t>
                      </a:r>
                    </a:p>
                  </a:txBody>
                  <a:tcPr/>
                </a:tc>
                <a:tc>
                  <a:txBody>
                    <a:bodyPr/>
                    <a:lstStyle/>
                    <a:p>
                      <a:r>
                        <a:rPr kumimoji="1" lang="ja-JP" altLang="en-US" dirty="0"/>
                        <a:t>用途</a:t>
                      </a:r>
                    </a:p>
                  </a:txBody>
                  <a:tcPr/>
                </a:tc>
                <a:extLst>
                  <a:ext uri="{0D108BD9-81ED-4DB2-BD59-A6C34878D82A}">
                    <a16:rowId xmlns:a16="http://schemas.microsoft.com/office/drawing/2014/main" val="172411295"/>
                  </a:ext>
                </a:extLst>
              </a:tr>
              <a:tr h="370840">
                <a:tc>
                  <a:txBody>
                    <a:bodyPr/>
                    <a:lstStyle/>
                    <a:p>
                      <a:r>
                        <a:rPr kumimoji="1" lang="en-US" altLang="ja-JP" sz="1200" dirty="0"/>
                        <a:t>iptables -t mangle -A OUTPUT -d 10.0.0.0/16 -j MARK --set-mark 10</a:t>
                      </a:r>
                      <a:endParaRPr kumimoji="1" lang="ja-JP" altLang="en-US" sz="1200" dirty="0"/>
                    </a:p>
                  </a:txBody>
                  <a:tcPr/>
                </a:tc>
                <a:tc>
                  <a:txBody>
                    <a:bodyPr/>
                    <a:lstStyle/>
                    <a:p>
                      <a:r>
                        <a:rPr lang="ja-JP" altLang="en-US" sz="1100" dirty="0"/>
                        <a:t>パケットにマークを付ける（</a:t>
                      </a:r>
                      <a:r>
                        <a:rPr lang="en-US" altLang="ja-JP" sz="1100" dirty="0"/>
                        <a:t>iptables</a:t>
                      </a:r>
                      <a:r>
                        <a:rPr lang="ja-JP" altLang="en-US" sz="1100" dirty="0"/>
                        <a:t>）</a:t>
                      </a:r>
                      <a:endParaRPr kumimoji="1" lang="ja-JP" altLang="en-US" sz="1100" dirty="0"/>
                    </a:p>
                  </a:txBody>
                  <a:tcPr/>
                </a:tc>
                <a:extLst>
                  <a:ext uri="{0D108BD9-81ED-4DB2-BD59-A6C34878D82A}">
                    <a16:rowId xmlns:a16="http://schemas.microsoft.com/office/drawing/2014/main" val="5949553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rule add </a:t>
                      </a:r>
                      <a:r>
                        <a:rPr lang="en-US" altLang="ja-JP" sz="1200" dirty="0" err="1"/>
                        <a:t>fwmark</a:t>
                      </a:r>
                      <a:r>
                        <a:rPr lang="en-US" altLang="ja-JP" sz="1200" dirty="0"/>
                        <a:t> 10 table 100</a:t>
                      </a:r>
                    </a:p>
                  </a:txBody>
                  <a:tcPr/>
                </a:tc>
                <a:tc>
                  <a:txBody>
                    <a:bodyPr/>
                    <a:lstStyle/>
                    <a:p>
                      <a:r>
                        <a:rPr lang="en-US" altLang="ja-JP" sz="1100" dirty="0" err="1"/>
                        <a:t>fwmark</a:t>
                      </a:r>
                      <a:r>
                        <a:rPr lang="ja-JP" altLang="en-US" sz="1100" dirty="0"/>
                        <a:t>でルーティング切替（</a:t>
                      </a:r>
                      <a:r>
                        <a:rPr lang="en-US" altLang="ja-JP" sz="1100" dirty="0" err="1"/>
                        <a:t>ip</a:t>
                      </a:r>
                      <a:r>
                        <a:rPr lang="en-US" altLang="ja-JP" sz="1100" dirty="0"/>
                        <a:t> rule</a:t>
                      </a:r>
                      <a:r>
                        <a:rPr lang="ja-JP" altLang="en-US" sz="1100" dirty="0"/>
                        <a:t>）</a:t>
                      </a:r>
                      <a:endParaRPr kumimoji="1" lang="ja-JP" altLang="en-US" sz="1100" dirty="0"/>
                    </a:p>
                  </a:txBody>
                  <a:tcPr/>
                </a:tc>
                <a:extLst>
                  <a:ext uri="{0D108BD9-81ED-4DB2-BD59-A6C34878D82A}">
                    <a16:rowId xmlns:a16="http://schemas.microsoft.com/office/drawing/2014/main" val="22161001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ip</a:t>
                      </a:r>
                      <a:r>
                        <a:rPr lang="en-US" altLang="ja-JP" sz="1200" dirty="0"/>
                        <a:t> route add default dev vti-t1 table 100</a:t>
                      </a:r>
                    </a:p>
                  </a:txBody>
                  <a:tcPr/>
                </a:tc>
                <a:tc>
                  <a:txBody>
                    <a:bodyPr/>
                    <a:lstStyle/>
                    <a:p>
                      <a:r>
                        <a:rPr lang="en-US" altLang="ja-JP" sz="1100" dirty="0"/>
                        <a:t>table100 </a:t>
                      </a:r>
                      <a:r>
                        <a:rPr lang="ja-JP" altLang="en-US" sz="1100" dirty="0"/>
                        <a:t>のルート追加</a:t>
                      </a:r>
                      <a:endParaRPr kumimoji="1" lang="ja-JP" altLang="en-US" sz="1100" dirty="0"/>
                    </a:p>
                  </a:txBody>
                  <a:tcPr/>
                </a:tc>
                <a:extLst>
                  <a:ext uri="{0D108BD9-81ED-4DB2-BD59-A6C34878D82A}">
                    <a16:rowId xmlns:a16="http://schemas.microsoft.com/office/drawing/2014/main" val="965599019"/>
                  </a:ext>
                </a:extLst>
              </a:tr>
            </a:tbl>
          </a:graphicData>
        </a:graphic>
      </p:graphicFrame>
    </p:spTree>
    <p:extLst>
      <p:ext uri="{BB962C8B-B14F-4D97-AF65-F5344CB8AC3E}">
        <p14:creationId xmlns:p14="http://schemas.microsoft.com/office/powerpoint/2010/main" val="65386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1A6BDA-54C1-DEC7-7C7C-1AFA2F7551B3}"/>
              </a:ext>
            </a:extLst>
          </p:cNvPr>
          <p:cNvSpPr>
            <a:spLocks noGrp="1"/>
          </p:cNvSpPr>
          <p:nvPr>
            <p:ph type="title"/>
          </p:nvPr>
        </p:nvSpPr>
        <p:spPr/>
        <p:txBody>
          <a:bodyPr/>
          <a:lstStyle/>
          <a:p>
            <a:r>
              <a:rPr lang="en-US" altLang="ja-JP" b="1" dirty="0"/>
              <a:t>route-based</a:t>
            </a:r>
            <a:r>
              <a:rPr lang="ja-JP" altLang="en-US" b="1" dirty="0"/>
              <a:t>と</a:t>
            </a:r>
            <a:r>
              <a:rPr lang="en-US" altLang="ja-JP" b="1" dirty="0"/>
              <a:t>policy-based</a:t>
            </a:r>
            <a:endParaRPr kumimoji="1" lang="ja-JP" altLang="en-US" dirty="0"/>
          </a:p>
        </p:txBody>
      </p:sp>
      <p:sp>
        <p:nvSpPr>
          <p:cNvPr id="5" name="テキスト ボックス 4">
            <a:extLst>
              <a:ext uri="{FF2B5EF4-FFF2-40B4-BE49-F238E27FC236}">
                <a16:creationId xmlns:a16="http://schemas.microsoft.com/office/drawing/2014/main" id="{13C0B975-7537-2AD7-3706-DAC6EDD92698}"/>
              </a:ext>
            </a:extLst>
          </p:cNvPr>
          <p:cNvSpPr txBox="1"/>
          <p:nvPr/>
        </p:nvSpPr>
        <p:spPr>
          <a:xfrm>
            <a:off x="838200" y="1478425"/>
            <a:ext cx="8381171" cy="646331"/>
          </a:xfrm>
          <a:prstGeom prst="rect">
            <a:avLst/>
          </a:prstGeom>
          <a:noFill/>
        </p:spPr>
        <p:txBody>
          <a:bodyPr wrap="square">
            <a:spAutoFit/>
          </a:bodyPr>
          <a:lstStyle/>
          <a:p>
            <a:r>
              <a:rPr lang="en-US" altLang="ja-JP" b="1" dirty="0"/>
              <a:t>route-based = </a:t>
            </a:r>
            <a:r>
              <a:rPr lang="ja-JP" altLang="en-US" b="1" dirty="0"/>
              <a:t>ルーティングで制御する</a:t>
            </a:r>
            <a:r>
              <a:rPr lang="en-US" altLang="ja-JP" b="1" dirty="0"/>
              <a:t>VPN</a:t>
            </a:r>
            <a:r>
              <a:rPr lang="ja-JP" altLang="en-US" b="1" dirty="0"/>
              <a:t>（今主流）</a:t>
            </a:r>
            <a:br>
              <a:rPr lang="ja-JP" altLang="en-US" dirty="0"/>
            </a:br>
            <a:r>
              <a:rPr lang="en-US" altLang="ja-JP" b="1" dirty="0"/>
              <a:t>policy-based = </a:t>
            </a:r>
            <a:r>
              <a:rPr lang="ja-JP" altLang="en-US" b="1" dirty="0"/>
              <a:t>条件（ポリシー）で制御する</a:t>
            </a:r>
            <a:r>
              <a:rPr lang="en-US" altLang="ja-JP" b="1" dirty="0"/>
              <a:t>VPN</a:t>
            </a:r>
            <a:r>
              <a:rPr lang="ja-JP" altLang="en-US" b="1" dirty="0"/>
              <a:t>（古い</a:t>
            </a:r>
            <a:r>
              <a:rPr lang="en-US" altLang="ja-JP" b="1" dirty="0"/>
              <a:t>/</a:t>
            </a:r>
            <a:r>
              <a:rPr lang="ja-JP" altLang="en-US" b="1" dirty="0"/>
              <a:t>制限多い）</a:t>
            </a:r>
            <a:endParaRPr lang="ja-JP" altLang="en-US" dirty="0"/>
          </a:p>
        </p:txBody>
      </p:sp>
      <p:pic>
        <p:nvPicPr>
          <p:cNvPr id="7" name="図 6">
            <a:extLst>
              <a:ext uri="{FF2B5EF4-FFF2-40B4-BE49-F238E27FC236}">
                <a16:creationId xmlns:a16="http://schemas.microsoft.com/office/drawing/2014/main" id="{AE6D7822-B7F8-30E5-F868-1A6144A8CC90}"/>
              </a:ext>
            </a:extLst>
          </p:cNvPr>
          <p:cNvPicPr>
            <a:picLocks noChangeAspect="1"/>
          </p:cNvPicPr>
          <p:nvPr/>
        </p:nvPicPr>
        <p:blipFill>
          <a:blip r:embed="rId2"/>
          <a:stretch>
            <a:fillRect/>
          </a:stretch>
        </p:blipFill>
        <p:spPr>
          <a:xfrm>
            <a:off x="510938" y="2502710"/>
            <a:ext cx="2575304" cy="3642296"/>
          </a:xfrm>
          <a:prstGeom prst="rect">
            <a:avLst/>
          </a:prstGeom>
        </p:spPr>
      </p:pic>
      <p:pic>
        <p:nvPicPr>
          <p:cNvPr id="9" name="図 8">
            <a:extLst>
              <a:ext uri="{FF2B5EF4-FFF2-40B4-BE49-F238E27FC236}">
                <a16:creationId xmlns:a16="http://schemas.microsoft.com/office/drawing/2014/main" id="{49316F1D-55B0-F87A-19CB-2B90EF0F0440}"/>
              </a:ext>
            </a:extLst>
          </p:cNvPr>
          <p:cNvPicPr>
            <a:picLocks noChangeAspect="1"/>
          </p:cNvPicPr>
          <p:nvPr/>
        </p:nvPicPr>
        <p:blipFill>
          <a:blip r:embed="rId3"/>
          <a:stretch>
            <a:fillRect/>
          </a:stretch>
        </p:blipFill>
        <p:spPr>
          <a:xfrm>
            <a:off x="3706855" y="2325757"/>
            <a:ext cx="2389145" cy="4007421"/>
          </a:xfrm>
          <a:prstGeom prst="rect">
            <a:avLst/>
          </a:prstGeom>
        </p:spPr>
      </p:pic>
      <p:pic>
        <p:nvPicPr>
          <p:cNvPr id="11" name="図 10">
            <a:extLst>
              <a:ext uri="{FF2B5EF4-FFF2-40B4-BE49-F238E27FC236}">
                <a16:creationId xmlns:a16="http://schemas.microsoft.com/office/drawing/2014/main" id="{5B19EE25-639E-202A-DCF1-5ED8C8EA21ED}"/>
              </a:ext>
            </a:extLst>
          </p:cNvPr>
          <p:cNvPicPr>
            <a:picLocks noChangeAspect="1"/>
          </p:cNvPicPr>
          <p:nvPr/>
        </p:nvPicPr>
        <p:blipFill>
          <a:blip r:embed="rId4"/>
          <a:stretch>
            <a:fillRect/>
          </a:stretch>
        </p:blipFill>
        <p:spPr>
          <a:xfrm>
            <a:off x="7886023" y="2325757"/>
            <a:ext cx="3192054" cy="4289546"/>
          </a:xfrm>
          <a:prstGeom prst="rect">
            <a:avLst/>
          </a:prstGeom>
        </p:spPr>
      </p:pic>
    </p:spTree>
    <p:extLst>
      <p:ext uri="{BB962C8B-B14F-4D97-AF65-F5344CB8AC3E}">
        <p14:creationId xmlns:p14="http://schemas.microsoft.com/office/powerpoint/2010/main" val="2347581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7334F2-8B6A-C61A-5540-D85E05536DD4}"/>
              </a:ext>
            </a:extLst>
          </p:cNvPr>
          <p:cNvSpPr>
            <a:spLocks noGrp="1"/>
          </p:cNvSpPr>
          <p:nvPr>
            <p:ph type="title"/>
          </p:nvPr>
        </p:nvSpPr>
        <p:spPr/>
        <p:txBody>
          <a:bodyPr/>
          <a:lstStyle/>
          <a:p>
            <a:r>
              <a:rPr lang="en-US" altLang="ja-JP" b="1" dirty="0"/>
              <a:t>route-based</a:t>
            </a:r>
            <a:endParaRPr kumimoji="1" lang="ja-JP" altLang="en-US" dirty="0"/>
          </a:p>
        </p:txBody>
      </p:sp>
      <p:pic>
        <p:nvPicPr>
          <p:cNvPr id="5" name="図 4">
            <a:extLst>
              <a:ext uri="{FF2B5EF4-FFF2-40B4-BE49-F238E27FC236}">
                <a16:creationId xmlns:a16="http://schemas.microsoft.com/office/drawing/2014/main" id="{33B5C127-4982-15DF-4FAC-45DAA4D2E239}"/>
              </a:ext>
            </a:extLst>
          </p:cNvPr>
          <p:cNvPicPr>
            <a:picLocks noChangeAspect="1"/>
          </p:cNvPicPr>
          <p:nvPr/>
        </p:nvPicPr>
        <p:blipFill>
          <a:blip r:embed="rId2"/>
          <a:stretch>
            <a:fillRect/>
          </a:stretch>
        </p:blipFill>
        <p:spPr>
          <a:xfrm>
            <a:off x="458162" y="1401416"/>
            <a:ext cx="3438043" cy="5336299"/>
          </a:xfrm>
          <a:prstGeom prst="rect">
            <a:avLst/>
          </a:prstGeom>
        </p:spPr>
      </p:pic>
      <p:pic>
        <p:nvPicPr>
          <p:cNvPr id="7" name="図 6">
            <a:extLst>
              <a:ext uri="{FF2B5EF4-FFF2-40B4-BE49-F238E27FC236}">
                <a16:creationId xmlns:a16="http://schemas.microsoft.com/office/drawing/2014/main" id="{922E81C3-97B6-85A6-93EA-3AB1325CC68E}"/>
              </a:ext>
            </a:extLst>
          </p:cNvPr>
          <p:cNvPicPr>
            <a:picLocks noChangeAspect="1"/>
          </p:cNvPicPr>
          <p:nvPr/>
        </p:nvPicPr>
        <p:blipFill>
          <a:blip r:embed="rId3"/>
          <a:stretch>
            <a:fillRect/>
          </a:stretch>
        </p:blipFill>
        <p:spPr>
          <a:xfrm>
            <a:off x="3985599" y="1202189"/>
            <a:ext cx="2913851" cy="5535526"/>
          </a:xfrm>
          <a:prstGeom prst="rect">
            <a:avLst/>
          </a:prstGeom>
        </p:spPr>
      </p:pic>
      <p:pic>
        <p:nvPicPr>
          <p:cNvPr id="9" name="図 8">
            <a:extLst>
              <a:ext uri="{FF2B5EF4-FFF2-40B4-BE49-F238E27FC236}">
                <a16:creationId xmlns:a16="http://schemas.microsoft.com/office/drawing/2014/main" id="{513CF8CD-FDF5-7CEB-3FFA-A91D99EA3DB2}"/>
              </a:ext>
            </a:extLst>
          </p:cNvPr>
          <p:cNvPicPr>
            <a:picLocks noChangeAspect="1"/>
          </p:cNvPicPr>
          <p:nvPr/>
        </p:nvPicPr>
        <p:blipFill>
          <a:blip r:embed="rId4"/>
          <a:stretch>
            <a:fillRect/>
          </a:stretch>
        </p:blipFill>
        <p:spPr>
          <a:xfrm>
            <a:off x="6899450" y="1027906"/>
            <a:ext cx="3753374" cy="3648584"/>
          </a:xfrm>
          <a:prstGeom prst="rect">
            <a:avLst/>
          </a:prstGeom>
        </p:spPr>
      </p:pic>
    </p:spTree>
    <p:extLst>
      <p:ext uri="{BB962C8B-B14F-4D97-AF65-F5344CB8AC3E}">
        <p14:creationId xmlns:p14="http://schemas.microsoft.com/office/powerpoint/2010/main" val="655410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E7EE41-1DF6-2C28-C28B-D71B7F507DF4}"/>
              </a:ext>
            </a:extLst>
          </p:cNvPr>
          <p:cNvSpPr>
            <a:spLocks noGrp="1"/>
          </p:cNvSpPr>
          <p:nvPr>
            <p:ph type="title"/>
          </p:nvPr>
        </p:nvSpPr>
        <p:spPr/>
        <p:txBody>
          <a:bodyPr/>
          <a:lstStyle/>
          <a:p>
            <a:r>
              <a:rPr lang="en-US" altLang="ja-JP" b="1" dirty="0"/>
              <a:t>policy-based</a:t>
            </a:r>
            <a:endParaRPr kumimoji="1" lang="ja-JP" altLang="en-US" dirty="0"/>
          </a:p>
        </p:txBody>
      </p:sp>
      <p:pic>
        <p:nvPicPr>
          <p:cNvPr id="5" name="図 4">
            <a:extLst>
              <a:ext uri="{FF2B5EF4-FFF2-40B4-BE49-F238E27FC236}">
                <a16:creationId xmlns:a16="http://schemas.microsoft.com/office/drawing/2014/main" id="{45FACC17-F793-CF18-3801-E653EDE045F8}"/>
              </a:ext>
            </a:extLst>
          </p:cNvPr>
          <p:cNvPicPr>
            <a:picLocks noChangeAspect="1"/>
          </p:cNvPicPr>
          <p:nvPr/>
        </p:nvPicPr>
        <p:blipFill>
          <a:blip r:embed="rId2"/>
          <a:stretch>
            <a:fillRect/>
          </a:stretch>
        </p:blipFill>
        <p:spPr>
          <a:xfrm>
            <a:off x="526129" y="1341782"/>
            <a:ext cx="3138933" cy="5377070"/>
          </a:xfrm>
          <a:prstGeom prst="rect">
            <a:avLst/>
          </a:prstGeom>
        </p:spPr>
      </p:pic>
      <p:pic>
        <p:nvPicPr>
          <p:cNvPr id="7" name="図 6">
            <a:extLst>
              <a:ext uri="{FF2B5EF4-FFF2-40B4-BE49-F238E27FC236}">
                <a16:creationId xmlns:a16="http://schemas.microsoft.com/office/drawing/2014/main" id="{DB2C65B7-E6F2-9921-72AB-F0D7B5B9D4B3}"/>
              </a:ext>
            </a:extLst>
          </p:cNvPr>
          <p:cNvPicPr>
            <a:picLocks noChangeAspect="1"/>
          </p:cNvPicPr>
          <p:nvPr/>
        </p:nvPicPr>
        <p:blipFill>
          <a:blip r:embed="rId3"/>
          <a:stretch>
            <a:fillRect/>
          </a:stretch>
        </p:blipFill>
        <p:spPr>
          <a:xfrm>
            <a:off x="3665062" y="1282147"/>
            <a:ext cx="5839640" cy="3477110"/>
          </a:xfrm>
          <a:prstGeom prst="rect">
            <a:avLst/>
          </a:prstGeom>
        </p:spPr>
      </p:pic>
    </p:spTree>
    <p:extLst>
      <p:ext uri="{BB962C8B-B14F-4D97-AF65-F5344CB8AC3E}">
        <p14:creationId xmlns:p14="http://schemas.microsoft.com/office/powerpoint/2010/main" val="46841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0E06E8-9EE8-3060-7868-A3BAA8364A40}"/>
              </a:ext>
            </a:extLst>
          </p:cNvPr>
          <p:cNvSpPr>
            <a:spLocks noGrp="1"/>
          </p:cNvSpPr>
          <p:nvPr>
            <p:ph type="title"/>
          </p:nvPr>
        </p:nvSpPr>
        <p:spPr/>
        <p:txBody>
          <a:bodyPr/>
          <a:lstStyle/>
          <a:p>
            <a:r>
              <a:rPr lang="en-US" altLang="ja-JP" dirty="0"/>
              <a:t>FRR</a:t>
            </a:r>
            <a:r>
              <a:rPr lang="ja-JP" altLang="en-US" dirty="0"/>
              <a:t>の役割</a:t>
            </a:r>
            <a:endParaRPr kumimoji="1" lang="ja-JP" altLang="en-US" dirty="0"/>
          </a:p>
        </p:txBody>
      </p:sp>
      <p:pic>
        <p:nvPicPr>
          <p:cNvPr id="5" name="図 4">
            <a:extLst>
              <a:ext uri="{FF2B5EF4-FFF2-40B4-BE49-F238E27FC236}">
                <a16:creationId xmlns:a16="http://schemas.microsoft.com/office/drawing/2014/main" id="{F78637C5-E0B0-BAEE-C260-B0268D0BADE4}"/>
              </a:ext>
            </a:extLst>
          </p:cNvPr>
          <p:cNvPicPr>
            <a:picLocks noChangeAspect="1"/>
          </p:cNvPicPr>
          <p:nvPr/>
        </p:nvPicPr>
        <p:blipFill>
          <a:blip r:embed="rId2"/>
          <a:stretch>
            <a:fillRect/>
          </a:stretch>
        </p:blipFill>
        <p:spPr>
          <a:xfrm>
            <a:off x="637131" y="1963817"/>
            <a:ext cx="2632844" cy="4894183"/>
          </a:xfrm>
          <a:prstGeom prst="rect">
            <a:avLst/>
          </a:prstGeom>
        </p:spPr>
      </p:pic>
      <p:pic>
        <p:nvPicPr>
          <p:cNvPr id="7" name="図 6">
            <a:extLst>
              <a:ext uri="{FF2B5EF4-FFF2-40B4-BE49-F238E27FC236}">
                <a16:creationId xmlns:a16="http://schemas.microsoft.com/office/drawing/2014/main" id="{4E1164D3-D716-AC0D-BA03-26ACFA8AF268}"/>
              </a:ext>
            </a:extLst>
          </p:cNvPr>
          <p:cNvPicPr>
            <a:picLocks noChangeAspect="1"/>
          </p:cNvPicPr>
          <p:nvPr/>
        </p:nvPicPr>
        <p:blipFill>
          <a:blip r:embed="rId3"/>
          <a:stretch>
            <a:fillRect/>
          </a:stretch>
        </p:blipFill>
        <p:spPr>
          <a:xfrm>
            <a:off x="3437590" y="1963816"/>
            <a:ext cx="2517584" cy="4894183"/>
          </a:xfrm>
          <a:prstGeom prst="rect">
            <a:avLst/>
          </a:prstGeom>
        </p:spPr>
      </p:pic>
      <p:pic>
        <p:nvPicPr>
          <p:cNvPr id="9" name="図 8">
            <a:extLst>
              <a:ext uri="{FF2B5EF4-FFF2-40B4-BE49-F238E27FC236}">
                <a16:creationId xmlns:a16="http://schemas.microsoft.com/office/drawing/2014/main" id="{7D6199C0-0ABC-BC23-2D9F-B4F519AFDBF8}"/>
              </a:ext>
            </a:extLst>
          </p:cNvPr>
          <p:cNvPicPr>
            <a:picLocks noChangeAspect="1"/>
          </p:cNvPicPr>
          <p:nvPr/>
        </p:nvPicPr>
        <p:blipFill>
          <a:blip r:embed="rId4"/>
          <a:stretch>
            <a:fillRect/>
          </a:stretch>
        </p:blipFill>
        <p:spPr>
          <a:xfrm>
            <a:off x="5709014" y="1878496"/>
            <a:ext cx="2452484" cy="2424132"/>
          </a:xfrm>
          <a:prstGeom prst="rect">
            <a:avLst/>
          </a:prstGeom>
        </p:spPr>
      </p:pic>
      <p:pic>
        <p:nvPicPr>
          <p:cNvPr id="11" name="図 10">
            <a:extLst>
              <a:ext uri="{FF2B5EF4-FFF2-40B4-BE49-F238E27FC236}">
                <a16:creationId xmlns:a16="http://schemas.microsoft.com/office/drawing/2014/main" id="{E28610C5-E054-650A-A54A-1D1A2F6C347B}"/>
              </a:ext>
            </a:extLst>
          </p:cNvPr>
          <p:cNvPicPr>
            <a:picLocks noChangeAspect="1"/>
          </p:cNvPicPr>
          <p:nvPr/>
        </p:nvPicPr>
        <p:blipFill>
          <a:blip r:embed="rId5"/>
          <a:stretch>
            <a:fillRect/>
          </a:stretch>
        </p:blipFill>
        <p:spPr>
          <a:xfrm>
            <a:off x="8394213" y="1878496"/>
            <a:ext cx="1970826" cy="4618331"/>
          </a:xfrm>
          <a:prstGeom prst="rect">
            <a:avLst/>
          </a:prstGeom>
        </p:spPr>
      </p:pic>
    </p:spTree>
    <p:extLst>
      <p:ext uri="{BB962C8B-B14F-4D97-AF65-F5344CB8AC3E}">
        <p14:creationId xmlns:p14="http://schemas.microsoft.com/office/powerpoint/2010/main" val="1327244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F7BFF3-2E68-781B-C886-660C4B905C6A}"/>
              </a:ext>
            </a:extLst>
          </p:cNvPr>
          <p:cNvSpPr>
            <a:spLocks noGrp="1"/>
          </p:cNvSpPr>
          <p:nvPr>
            <p:ph type="title"/>
          </p:nvPr>
        </p:nvSpPr>
        <p:spPr/>
        <p:txBody>
          <a:bodyPr/>
          <a:lstStyle/>
          <a:p>
            <a:r>
              <a:rPr kumimoji="1" lang="en-US" altLang="ja-JP" dirty="0"/>
              <a:t>EC2</a:t>
            </a:r>
            <a:r>
              <a:rPr kumimoji="1" lang="ja-JP" altLang="en-US" dirty="0"/>
              <a:t>の</a:t>
            </a:r>
            <a:r>
              <a:rPr kumimoji="1" lang="en-US" altLang="ja-JP" dirty="0"/>
              <a:t>IP</a:t>
            </a:r>
            <a:r>
              <a:rPr kumimoji="1" lang="ja-JP" altLang="en-US" dirty="0"/>
              <a:t>アドレス周り</a:t>
            </a:r>
          </a:p>
        </p:txBody>
      </p:sp>
      <p:sp>
        <p:nvSpPr>
          <p:cNvPr id="5" name="テキスト ボックス 4">
            <a:extLst>
              <a:ext uri="{FF2B5EF4-FFF2-40B4-BE49-F238E27FC236}">
                <a16:creationId xmlns:a16="http://schemas.microsoft.com/office/drawing/2014/main" id="{ED6B4881-84EF-08E5-7882-BCDF9589C7F7}"/>
              </a:ext>
            </a:extLst>
          </p:cNvPr>
          <p:cNvSpPr txBox="1"/>
          <p:nvPr/>
        </p:nvSpPr>
        <p:spPr>
          <a:xfrm>
            <a:off x="838200" y="1876624"/>
            <a:ext cx="4996070" cy="1754326"/>
          </a:xfrm>
          <a:prstGeom prst="rect">
            <a:avLst/>
          </a:prstGeom>
          <a:noFill/>
        </p:spPr>
        <p:txBody>
          <a:bodyPr wrap="square">
            <a:spAutoFit/>
          </a:bodyPr>
          <a:lstStyle/>
          <a:p>
            <a:r>
              <a:rPr lang="en-US" altLang="ja-JP" dirty="0"/>
              <a:t>EC2</a:t>
            </a:r>
            <a:r>
              <a:rPr lang="ja-JP" altLang="en-US" dirty="0"/>
              <a:t>に</a:t>
            </a:r>
            <a:r>
              <a:rPr lang="en-US" altLang="ja-JP" dirty="0"/>
              <a:t>Elastic IP</a:t>
            </a:r>
            <a:r>
              <a:rPr lang="ja-JP" altLang="en-US" dirty="0"/>
              <a:t>が紐づいている場合、</a:t>
            </a:r>
            <a:endParaRPr lang="en-US" altLang="ja-JP" dirty="0"/>
          </a:p>
          <a:p>
            <a:r>
              <a:rPr lang="ja-JP" altLang="en-US" dirty="0"/>
              <a:t>プライベートからパケットが送出される</a:t>
            </a:r>
            <a:endParaRPr lang="en-US" altLang="ja-JP" dirty="0"/>
          </a:p>
          <a:p>
            <a:r>
              <a:rPr lang="en-US" altLang="ja-JP" dirty="0"/>
              <a:t>VPC</a:t>
            </a:r>
            <a:r>
              <a:rPr lang="ja-JP" altLang="en-US" dirty="0"/>
              <a:t>のルートテーブルから</a:t>
            </a:r>
            <a:r>
              <a:rPr lang="en-US" altLang="ja-JP" dirty="0" err="1"/>
              <a:t>internetGateway</a:t>
            </a:r>
            <a:r>
              <a:rPr lang="ja-JP" altLang="en-US" dirty="0"/>
              <a:t>を</a:t>
            </a:r>
            <a:endParaRPr lang="en-US" altLang="ja-JP" dirty="0"/>
          </a:p>
          <a:p>
            <a:r>
              <a:rPr lang="ja-JP" altLang="en-US" dirty="0"/>
              <a:t>通過するものは、</a:t>
            </a:r>
            <a:endParaRPr lang="en-US" altLang="ja-JP" dirty="0"/>
          </a:p>
          <a:p>
            <a:endParaRPr lang="en-US" altLang="ja-JP" dirty="0"/>
          </a:p>
          <a:p>
            <a:r>
              <a:rPr lang="en-US" altLang="ja-JP" dirty="0"/>
              <a:t>AWS</a:t>
            </a:r>
            <a:r>
              <a:rPr lang="ja-JP" altLang="en-US" dirty="0"/>
              <a:t>が</a:t>
            </a:r>
            <a:r>
              <a:rPr lang="en-US" altLang="ja-JP" dirty="0" err="1"/>
              <a:t>ElasticIP</a:t>
            </a:r>
            <a:r>
              <a:rPr lang="ja-JP" altLang="en-US" dirty="0"/>
              <a:t>に</a:t>
            </a:r>
            <a:r>
              <a:rPr lang="en-US" altLang="ja-JP" dirty="0"/>
              <a:t>NAT</a:t>
            </a:r>
            <a:r>
              <a:rPr lang="ja-JP" altLang="en-US" dirty="0"/>
              <a:t>変換して外に出す。</a:t>
            </a:r>
          </a:p>
        </p:txBody>
      </p:sp>
      <p:sp>
        <p:nvSpPr>
          <p:cNvPr id="6" name="正方形/長方形 5">
            <a:extLst>
              <a:ext uri="{FF2B5EF4-FFF2-40B4-BE49-F238E27FC236}">
                <a16:creationId xmlns:a16="http://schemas.microsoft.com/office/drawing/2014/main" id="{FED27B9B-7773-9E3E-333E-86A01327770F}"/>
              </a:ext>
            </a:extLst>
          </p:cNvPr>
          <p:cNvSpPr/>
          <p:nvPr/>
        </p:nvSpPr>
        <p:spPr>
          <a:xfrm>
            <a:off x="6606209" y="1174688"/>
            <a:ext cx="4412973" cy="27332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0BD4DEA6-23CB-FA54-80F1-D17D87EAE1EF}"/>
              </a:ext>
            </a:extLst>
          </p:cNvPr>
          <p:cNvSpPr/>
          <p:nvPr/>
        </p:nvSpPr>
        <p:spPr>
          <a:xfrm>
            <a:off x="7442752" y="1464366"/>
            <a:ext cx="2633870" cy="63610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dirty="0"/>
              <a:t>EC2</a:t>
            </a:r>
          </a:p>
          <a:p>
            <a:r>
              <a:rPr lang="en-US" altLang="ja-JP" b="1" dirty="0"/>
              <a:t>OnPrem-VPN-Router</a:t>
            </a:r>
          </a:p>
        </p:txBody>
      </p:sp>
      <p:sp>
        <p:nvSpPr>
          <p:cNvPr id="9" name="テキスト ボックス 8">
            <a:extLst>
              <a:ext uri="{FF2B5EF4-FFF2-40B4-BE49-F238E27FC236}">
                <a16:creationId xmlns:a16="http://schemas.microsoft.com/office/drawing/2014/main" id="{A8597ADC-8C32-CD22-586B-8560D5ACF35D}"/>
              </a:ext>
            </a:extLst>
          </p:cNvPr>
          <p:cNvSpPr txBox="1"/>
          <p:nvPr/>
        </p:nvSpPr>
        <p:spPr>
          <a:xfrm>
            <a:off x="8193986" y="2072241"/>
            <a:ext cx="1366630" cy="400110"/>
          </a:xfrm>
          <a:prstGeom prst="rect">
            <a:avLst/>
          </a:prstGeom>
          <a:solidFill>
            <a:srgbClr val="FFC000"/>
          </a:solidFill>
        </p:spPr>
        <p:txBody>
          <a:bodyPr wrap="square">
            <a:spAutoFit/>
          </a:bodyPr>
          <a:lstStyle/>
          <a:p>
            <a:r>
              <a:rPr lang="ja-JP" altLang="en-US" sz="1000" b="1" i="0" dirty="0">
                <a:solidFill>
                  <a:srgbClr val="0F141A"/>
                </a:solidFill>
                <a:effectLst/>
                <a:latin typeface="Amazon Ember"/>
              </a:rPr>
              <a:t>プライベート </a:t>
            </a:r>
            <a:r>
              <a:rPr lang="en-US" altLang="ja-JP" sz="1000" b="1" i="0" dirty="0">
                <a:solidFill>
                  <a:srgbClr val="0F141A"/>
                </a:solidFill>
                <a:effectLst/>
                <a:latin typeface="Amazon Ember"/>
              </a:rPr>
              <a:t>IPv4</a:t>
            </a:r>
            <a:endParaRPr lang="en-US" altLang="ja-JP" sz="1000" dirty="0"/>
          </a:p>
          <a:p>
            <a:r>
              <a:rPr lang="en-US" altLang="ja-JP" sz="1000" dirty="0"/>
              <a:t>172.16.0.223</a:t>
            </a:r>
            <a:endParaRPr lang="ja-JP" altLang="en-US" sz="1000" dirty="0"/>
          </a:p>
        </p:txBody>
      </p:sp>
      <p:sp>
        <p:nvSpPr>
          <p:cNvPr id="10" name="フローチャート: 和接合 9">
            <a:extLst>
              <a:ext uri="{FF2B5EF4-FFF2-40B4-BE49-F238E27FC236}">
                <a16:creationId xmlns:a16="http://schemas.microsoft.com/office/drawing/2014/main" id="{45C643FD-3528-D216-3BD1-857C5A692E23}"/>
              </a:ext>
            </a:extLst>
          </p:cNvPr>
          <p:cNvSpPr/>
          <p:nvPr/>
        </p:nvSpPr>
        <p:spPr>
          <a:xfrm>
            <a:off x="6410740" y="2853904"/>
            <a:ext cx="390938" cy="316774"/>
          </a:xfrm>
          <a:prstGeom prst="flowChartSummingJunction">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7EC20E5-5C6C-2B59-135B-AB4B896EAEAE}"/>
              </a:ext>
            </a:extLst>
          </p:cNvPr>
          <p:cNvSpPr txBox="1"/>
          <p:nvPr/>
        </p:nvSpPr>
        <p:spPr>
          <a:xfrm>
            <a:off x="6029739" y="3208130"/>
            <a:ext cx="1274694" cy="261610"/>
          </a:xfrm>
          <a:prstGeom prst="rect">
            <a:avLst/>
          </a:prstGeom>
          <a:solidFill>
            <a:srgbClr val="FFC000"/>
          </a:solidFill>
        </p:spPr>
        <p:txBody>
          <a:bodyPr wrap="square">
            <a:spAutoFit/>
          </a:bodyPr>
          <a:lstStyle/>
          <a:p>
            <a:r>
              <a:rPr lang="en-US" altLang="ja-JP" sz="1100" dirty="0" err="1"/>
              <a:t>internetGateway</a:t>
            </a:r>
            <a:endParaRPr lang="ja-JP" altLang="en-US" sz="1100" dirty="0"/>
          </a:p>
        </p:txBody>
      </p:sp>
      <p:cxnSp>
        <p:nvCxnSpPr>
          <p:cNvPr id="14" name="コネクタ: カギ線 13">
            <a:extLst>
              <a:ext uri="{FF2B5EF4-FFF2-40B4-BE49-F238E27FC236}">
                <a16:creationId xmlns:a16="http://schemas.microsoft.com/office/drawing/2014/main" id="{57FF783D-55AB-0DC8-4ADE-3C2C1BB83A5D}"/>
              </a:ext>
            </a:extLst>
          </p:cNvPr>
          <p:cNvCxnSpPr>
            <a:cxnSpLocks/>
            <a:stCxn id="9" idx="2"/>
            <a:endCxn id="22" idx="0"/>
          </p:cNvCxnSpPr>
          <p:nvPr/>
        </p:nvCxnSpPr>
        <p:spPr>
          <a:xfrm rot="16200000" flipH="1">
            <a:off x="8722403" y="2627248"/>
            <a:ext cx="389928" cy="80133"/>
          </a:xfrm>
          <a:prstGeom prst="bentConnector3">
            <a:avLst>
              <a:gd name="adj1" fmla="val 50000"/>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77DD2682-0525-6B5F-A4B1-0FA3D791F326}"/>
              </a:ext>
            </a:extLst>
          </p:cNvPr>
          <p:cNvSpPr txBox="1"/>
          <p:nvPr/>
        </p:nvSpPr>
        <p:spPr>
          <a:xfrm>
            <a:off x="8320087" y="2862279"/>
            <a:ext cx="1274694" cy="430887"/>
          </a:xfrm>
          <a:prstGeom prst="rect">
            <a:avLst/>
          </a:prstGeom>
          <a:solidFill>
            <a:srgbClr val="FFC000"/>
          </a:solidFill>
        </p:spPr>
        <p:txBody>
          <a:bodyPr wrap="square">
            <a:spAutoFit/>
          </a:bodyPr>
          <a:lstStyle/>
          <a:p>
            <a:r>
              <a:rPr lang="en-US" altLang="ja-JP" sz="1100" b="0" i="0" dirty="0">
                <a:solidFill>
                  <a:srgbClr val="000000"/>
                </a:solidFill>
                <a:effectLst/>
                <a:latin typeface="Noto Sans JP" panose="020B0200000000000000" pitchFamily="50" charset="-128"/>
                <a:ea typeface="Noto Sans JP" panose="020B0200000000000000" pitchFamily="50" charset="-128"/>
              </a:rPr>
              <a:t>Elastic Interface</a:t>
            </a:r>
          </a:p>
          <a:p>
            <a:r>
              <a:rPr lang="en-US" altLang="ja-JP" sz="1100" b="0" i="0" dirty="0">
                <a:solidFill>
                  <a:srgbClr val="000000"/>
                </a:solidFill>
                <a:effectLst/>
                <a:latin typeface="Noto Sans JP" panose="020B0200000000000000" pitchFamily="50" charset="-128"/>
                <a:ea typeface="Noto Sans JP" panose="020B0200000000000000" pitchFamily="50" charset="-128"/>
              </a:rPr>
              <a:t>3.15.49.151</a:t>
            </a:r>
            <a:endParaRPr lang="ja-JP" altLang="en-US" sz="1100" dirty="0"/>
          </a:p>
        </p:txBody>
      </p:sp>
      <p:cxnSp>
        <p:nvCxnSpPr>
          <p:cNvPr id="25" name="コネクタ: カギ線 24">
            <a:extLst>
              <a:ext uri="{FF2B5EF4-FFF2-40B4-BE49-F238E27FC236}">
                <a16:creationId xmlns:a16="http://schemas.microsoft.com/office/drawing/2014/main" id="{F9D8028E-A407-97D3-893B-853A7B9009B7}"/>
              </a:ext>
            </a:extLst>
          </p:cNvPr>
          <p:cNvCxnSpPr>
            <a:cxnSpLocks/>
            <a:stCxn id="22" idx="1"/>
            <a:endCxn id="10" idx="6"/>
          </p:cNvCxnSpPr>
          <p:nvPr/>
        </p:nvCxnSpPr>
        <p:spPr>
          <a:xfrm rot="10800000">
            <a:off x="6801679" y="3012291"/>
            <a:ext cx="1518409" cy="65432"/>
          </a:xfrm>
          <a:prstGeom prst="bentConnector3">
            <a:avLst>
              <a:gd name="adj1" fmla="val 50000"/>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pic>
        <p:nvPicPr>
          <p:cNvPr id="30" name="図 29">
            <a:extLst>
              <a:ext uri="{FF2B5EF4-FFF2-40B4-BE49-F238E27FC236}">
                <a16:creationId xmlns:a16="http://schemas.microsoft.com/office/drawing/2014/main" id="{AD614D04-148E-15C1-EAE0-AEFF7BCF5D89}"/>
              </a:ext>
            </a:extLst>
          </p:cNvPr>
          <p:cNvPicPr>
            <a:picLocks noChangeAspect="1"/>
          </p:cNvPicPr>
          <p:nvPr/>
        </p:nvPicPr>
        <p:blipFill>
          <a:blip r:embed="rId2"/>
          <a:stretch>
            <a:fillRect/>
          </a:stretch>
        </p:blipFill>
        <p:spPr>
          <a:xfrm>
            <a:off x="533047" y="4502521"/>
            <a:ext cx="5496692" cy="1609950"/>
          </a:xfrm>
          <a:prstGeom prst="rect">
            <a:avLst/>
          </a:prstGeom>
        </p:spPr>
      </p:pic>
      <p:sp>
        <p:nvSpPr>
          <p:cNvPr id="31" name="テキスト ボックス 30">
            <a:extLst>
              <a:ext uri="{FF2B5EF4-FFF2-40B4-BE49-F238E27FC236}">
                <a16:creationId xmlns:a16="http://schemas.microsoft.com/office/drawing/2014/main" id="{DCFAC166-07EA-38D4-600A-D688DD448550}"/>
              </a:ext>
            </a:extLst>
          </p:cNvPr>
          <p:cNvSpPr txBox="1"/>
          <p:nvPr/>
        </p:nvSpPr>
        <p:spPr>
          <a:xfrm>
            <a:off x="6606209" y="4987182"/>
            <a:ext cx="5230919" cy="369332"/>
          </a:xfrm>
          <a:prstGeom prst="rect">
            <a:avLst/>
          </a:prstGeom>
          <a:noFill/>
        </p:spPr>
        <p:txBody>
          <a:bodyPr wrap="none" rtlCol="0">
            <a:spAutoFit/>
          </a:bodyPr>
          <a:lstStyle/>
          <a:p>
            <a:r>
              <a:rPr kumimoji="1" lang="en-US" altLang="ja-JP" dirty="0"/>
              <a:t>EC2</a:t>
            </a:r>
            <a:r>
              <a:rPr kumimoji="1" lang="ja-JP" altLang="en-US" dirty="0"/>
              <a:t>内部から</a:t>
            </a:r>
            <a:r>
              <a:rPr kumimoji="1" lang="en-US" altLang="ja-JP" dirty="0" err="1"/>
              <a:t>ElasticIP</a:t>
            </a:r>
            <a:r>
              <a:rPr kumimoji="1" lang="ja-JP" altLang="en-US" dirty="0"/>
              <a:t>を使用して</a:t>
            </a:r>
            <a:r>
              <a:rPr kumimoji="1" lang="en-US" altLang="ja-JP" dirty="0"/>
              <a:t>ping</a:t>
            </a:r>
            <a:r>
              <a:rPr kumimoji="1" lang="ja-JP" altLang="en-US" dirty="0"/>
              <a:t>は打てない</a:t>
            </a:r>
          </a:p>
        </p:txBody>
      </p:sp>
    </p:spTree>
    <p:extLst>
      <p:ext uri="{BB962C8B-B14F-4D97-AF65-F5344CB8AC3E}">
        <p14:creationId xmlns:p14="http://schemas.microsoft.com/office/powerpoint/2010/main" val="61754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16C7BF-6F2A-0FD8-1C90-ABEB562935D4}"/>
              </a:ext>
            </a:extLst>
          </p:cNvPr>
          <p:cNvSpPr>
            <a:spLocks noGrp="1"/>
          </p:cNvSpPr>
          <p:nvPr>
            <p:ph type="title"/>
          </p:nvPr>
        </p:nvSpPr>
        <p:spPr/>
        <p:txBody>
          <a:bodyPr/>
          <a:lstStyle/>
          <a:p>
            <a:r>
              <a:rPr kumimoji="1" lang="en-US" altLang="ja-JP" dirty="0"/>
              <a:t>BGP</a:t>
            </a:r>
            <a:r>
              <a:rPr kumimoji="1" lang="ja-JP" altLang="en-US" dirty="0"/>
              <a:t>通信について</a:t>
            </a:r>
          </a:p>
        </p:txBody>
      </p:sp>
      <p:pic>
        <p:nvPicPr>
          <p:cNvPr id="5" name="図 4">
            <a:extLst>
              <a:ext uri="{FF2B5EF4-FFF2-40B4-BE49-F238E27FC236}">
                <a16:creationId xmlns:a16="http://schemas.microsoft.com/office/drawing/2014/main" id="{FE49E2ED-FC1D-3F8A-96F7-E897E664FA85}"/>
              </a:ext>
            </a:extLst>
          </p:cNvPr>
          <p:cNvPicPr>
            <a:picLocks noChangeAspect="1"/>
          </p:cNvPicPr>
          <p:nvPr/>
        </p:nvPicPr>
        <p:blipFill>
          <a:blip r:embed="rId2"/>
          <a:stretch>
            <a:fillRect/>
          </a:stretch>
        </p:blipFill>
        <p:spPr>
          <a:xfrm>
            <a:off x="568762" y="2042919"/>
            <a:ext cx="3620005" cy="2772162"/>
          </a:xfrm>
          <a:prstGeom prst="rect">
            <a:avLst/>
          </a:prstGeom>
        </p:spPr>
      </p:pic>
      <p:pic>
        <p:nvPicPr>
          <p:cNvPr id="7" name="図 6">
            <a:extLst>
              <a:ext uri="{FF2B5EF4-FFF2-40B4-BE49-F238E27FC236}">
                <a16:creationId xmlns:a16="http://schemas.microsoft.com/office/drawing/2014/main" id="{F5A2D5F8-E14A-9A5C-766C-719162FB0D80}"/>
              </a:ext>
            </a:extLst>
          </p:cNvPr>
          <p:cNvPicPr>
            <a:picLocks noChangeAspect="1"/>
          </p:cNvPicPr>
          <p:nvPr/>
        </p:nvPicPr>
        <p:blipFill>
          <a:blip r:embed="rId3"/>
          <a:stretch>
            <a:fillRect/>
          </a:stretch>
        </p:blipFill>
        <p:spPr>
          <a:xfrm>
            <a:off x="4938642" y="1938130"/>
            <a:ext cx="3653256" cy="4706006"/>
          </a:xfrm>
          <a:prstGeom prst="rect">
            <a:avLst/>
          </a:prstGeom>
        </p:spPr>
      </p:pic>
    </p:spTree>
    <p:extLst>
      <p:ext uri="{BB962C8B-B14F-4D97-AF65-F5344CB8AC3E}">
        <p14:creationId xmlns:p14="http://schemas.microsoft.com/office/powerpoint/2010/main" val="237975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1683E7-8CA1-8099-F023-E00732CCE1A5}"/>
              </a:ext>
            </a:extLst>
          </p:cNvPr>
          <p:cNvSpPr>
            <a:spLocks noGrp="1"/>
          </p:cNvSpPr>
          <p:nvPr>
            <p:ph type="title"/>
          </p:nvPr>
        </p:nvSpPr>
        <p:spPr/>
        <p:txBody>
          <a:bodyPr/>
          <a:lstStyle/>
          <a:p>
            <a:r>
              <a:rPr lang="ja-JP" altLang="en-US" dirty="0"/>
              <a:t>設定ファイルの書き方（</a:t>
            </a:r>
            <a:r>
              <a:rPr lang="en-US" altLang="ja-JP" dirty="0"/>
              <a:t> </a:t>
            </a:r>
            <a:r>
              <a:rPr lang="en-US" altLang="ja-JP" dirty="0" err="1"/>
              <a:t>strongswan</a:t>
            </a:r>
            <a:r>
              <a:rPr lang="en-US" altLang="ja-JP" dirty="0"/>
              <a:t> </a:t>
            </a:r>
            <a:r>
              <a:rPr lang="ja-JP" altLang="en-US" dirty="0"/>
              <a:t>）</a:t>
            </a:r>
            <a:endParaRPr kumimoji="1" lang="ja-JP" altLang="en-US" dirty="0"/>
          </a:p>
        </p:txBody>
      </p:sp>
      <p:pic>
        <p:nvPicPr>
          <p:cNvPr id="5" name="図 4">
            <a:extLst>
              <a:ext uri="{FF2B5EF4-FFF2-40B4-BE49-F238E27FC236}">
                <a16:creationId xmlns:a16="http://schemas.microsoft.com/office/drawing/2014/main" id="{1805C4A4-9D4F-BF15-9A96-91B4BBF18558}"/>
              </a:ext>
            </a:extLst>
          </p:cNvPr>
          <p:cNvPicPr>
            <a:picLocks noChangeAspect="1"/>
          </p:cNvPicPr>
          <p:nvPr/>
        </p:nvPicPr>
        <p:blipFill>
          <a:blip r:embed="rId2"/>
          <a:stretch>
            <a:fillRect/>
          </a:stretch>
        </p:blipFill>
        <p:spPr>
          <a:xfrm>
            <a:off x="637065" y="1348101"/>
            <a:ext cx="7001852" cy="1438476"/>
          </a:xfrm>
          <a:prstGeom prst="rect">
            <a:avLst/>
          </a:prstGeom>
        </p:spPr>
      </p:pic>
      <p:pic>
        <p:nvPicPr>
          <p:cNvPr id="7" name="図 6">
            <a:extLst>
              <a:ext uri="{FF2B5EF4-FFF2-40B4-BE49-F238E27FC236}">
                <a16:creationId xmlns:a16="http://schemas.microsoft.com/office/drawing/2014/main" id="{3AC8FEC6-3274-D451-356D-2A4477048210}"/>
              </a:ext>
            </a:extLst>
          </p:cNvPr>
          <p:cNvPicPr>
            <a:picLocks noChangeAspect="1"/>
          </p:cNvPicPr>
          <p:nvPr/>
        </p:nvPicPr>
        <p:blipFill>
          <a:blip r:embed="rId3"/>
          <a:stretch>
            <a:fillRect/>
          </a:stretch>
        </p:blipFill>
        <p:spPr>
          <a:xfrm>
            <a:off x="8064264" y="1455496"/>
            <a:ext cx="3037744" cy="5037379"/>
          </a:xfrm>
          <a:prstGeom prst="rect">
            <a:avLst/>
          </a:prstGeom>
        </p:spPr>
      </p:pic>
      <p:pic>
        <p:nvPicPr>
          <p:cNvPr id="9" name="図 8">
            <a:extLst>
              <a:ext uri="{FF2B5EF4-FFF2-40B4-BE49-F238E27FC236}">
                <a16:creationId xmlns:a16="http://schemas.microsoft.com/office/drawing/2014/main" id="{1547FC09-96A9-F6AE-DD59-C1A321C39843}"/>
              </a:ext>
            </a:extLst>
          </p:cNvPr>
          <p:cNvPicPr>
            <a:picLocks noChangeAspect="1"/>
          </p:cNvPicPr>
          <p:nvPr/>
        </p:nvPicPr>
        <p:blipFill>
          <a:blip r:embed="rId4"/>
          <a:stretch>
            <a:fillRect/>
          </a:stretch>
        </p:blipFill>
        <p:spPr>
          <a:xfrm>
            <a:off x="4821205" y="3593835"/>
            <a:ext cx="2991267" cy="2791215"/>
          </a:xfrm>
          <a:prstGeom prst="rect">
            <a:avLst/>
          </a:prstGeom>
        </p:spPr>
      </p:pic>
    </p:spTree>
    <p:extLst>
      <p:ext uri="{BB962C8B-B14F-4D97-AF65-F5344CB8AC3E}">
        <p14:creationId xmlns:p14="http://schemas.microsoft.com/office/powerpoint/2010/main" val="3699767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71AF-7189-5ED2-B51D-BF553658D3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711394-8761-96DF-1BE6-16B94402334F}"/>
              </a:ext>
            </a:extLst>
          </p:cNvPr>
          <p:cNvSpPr>
            <a:spLocks noGrp="1"/>
          </p:cNvSpPr>
          <p:nvPr>
            <p:ph type="title"/>
          </p:nvPr>
        </p:nvSpPr>
        <p:spPr/>
        <p:txBody>
          <a:bodyPr/>
          <a:lstStyle/>
          <a:p>
            <a:r>
              <a:rPr lang="ja-JP" altLang="en-US" dirty="0"/>
              <a:t>設定ファイルの書き方（</a:t>
            </a:r>
            <a:r>
              <a:rPr lang="en-US" altLang="ja-JP" dirty="0"/>
              <a:t> </a:t>
            </a:r>
            <a:r>
              <a:rPr lang="en-US" altLang="ja-JP" dirty="0" err="1"/>
              <a:t>strongswan</a:t>
            </a:r>
            <a:r>
              <a:rPr lang="en-US" altLang="ja-JP" dirty="0"/>
              <a:t> </a:t>
            </a:r>
            <a:r>
              <a:rPr lang="ja-JP" altLang="en-US" dirty="0"/>
              <a:t>）</a:t>
            </a:r>
            <a:endParaRPr kumimoji="1" lang="ja-JP" altLang="en-US" dirty="0"/>
          </a:p>
        </p:txBody>
      </p:sp>
      <p:pic>
        <p:nvPicPr>
          <p:cNvPr id="11" name="図 10">
            <a:extLst>
              <a:ext uri="{FF2B5EF4-FFF2-40B4-BE49-F238E27FC236}">
                <a16:creationId xmlns:a16="http://schemas.microsoft.com/office/drawing/2014/main" id="{B5ECD1A8-62D0-4385-EDB4-6C0752C27F0E}"/>
              </a:ext>
            </a:extLst>
          </p:cNvPr>
          <p:cNvPicPr>
            <a:picLocks noChangeAspect="1"/>
          </p:cNvPicPr>
          <p:nvPr/>
        </p:nvPicPr>
        <p:blipFill>
          <a:blip r:embed="rId2"/>
          <a:stretch>
            <a:fillRect/>
          </a:stretch>
        </p:blipFill>
        <p:spPr>
          <a:xfrm>
            <a:off x="678126" y="1690688"/>
            <a:ext cx="2310096" cy="4474072"/>
          </a:xfrm>
          <a:prstGeom prst="rect">
            <a:avLst/>
          </a:prstGeom>
        </p:spPr>
      </p:pic>
      <p:pic>
        <p:nvPicPr>
          <p:cNvPr id="4" name="図 3">
            <a:extLst>
              <a:ext uri="{FF2B5EF4-FFF2-40B4-BE49-F238E27FC236}">
                <a16:creationId xmlns:a16="http://schemas.microsoft.com/office/drawing/2014/main" id="{41B639E7-BE4F-D49C-E208-3FE173F5BBD5}"/>
              </a:ext>
            </a:extLst>
          </p:cNvPr>
          <p:cNvPicPr>
            <a:picLocks noChangeAspect="1"/>
          </p:cNvPicPr>
          <p:nvPr/>
        </p:nvPicPr>
        <p:blipFill>
          <a:blip r:embed="rId3"/>
          <a:stretch>
            <a:fillRect/>
          </a:stretch>
        </p:blipFill>
        <p:spPr>
          <a:xfrm>
            <a:off x="2931900" y="1491905"/>
            <a:ext cx="3482990" cy="4810553"/>
          </a:xfrm>
          <a:prstGeom prst="rect">
            <a:avLst/>
          </a:prstGeom>
        </p:spPr>
      </p:pic>
      <p:pic>
        <p:nvPicPr>
          <p:cNvPr id="8" name="図 7">
            <a:extLst>
              <a:ext uri="{FF2B5EF4-FFF2-40B4-BE49-F238E27FC236}">
                <a16:creationId xmlns:a16="http://schemas.microsoft.com/office/drawing/2014/main" id="{8055F21B-C216-5E46-29A4-A7BCE7A75653}"/>
              </a:ext>
            </a:extLst>
          </p:cNvPr>
          <p:cNvPicPr>
            <a:picLocks noChangeAspect="1"/>
          </p:cNvPicPr>
          <p:nvPr/>
        </p:nvPicPr>
        <p:blipFill>
          <a:blip r:embed="rId4"/>
          <a:stretch>
            <a:fillRect/>
          </a:stretch>
        </p:blipFill>
        <p:spPr>
          <a:xfrm>
            <a:off x="6598993" y="1386359"/>
            <a:ext cx="3781953" cy="2610214"/>
          </a:xfrm>
          <a:prstGeom prst="rect">
            <a:avLst/>
          </a:prstGeom>
        </p:spPr>
      </p:pic>
      <p:pic>
        <p:nvPicPr>
          <p:cNvPr id="12" name="図 11">
            <a:extLst>
              <a:ext uri="{FF2B5EF4-FFF2-40B4-BE49-F238E27FC236}">
                <a16:creationId xmlns:a16="http://schemas.microsoft.com/office/drawing/2014/main" id="{769ED6DA-0859-8654-63FD-182758D509AC}"/>
              </a:ext>
            </a:extLst>
          </p:cNvPr>
          <p:cNvPicPr>
            <a:picLocks noChangeAspect="1"/>
          </p:cNvPicPr>
          <p:nvPr/>
        </p:nvPicPr>
        <p:blipFill>
          <a:blip r:embed="rId5"/>
          <a:stretch>
            <a:fillRect/>
          </a:stretch>
        </p:blipFill>
        <p:spPr>
          <a:xfrm>
            <a:off x="6799317" y="3897181"/>
            <a:ext cx="3234104" cy="2907657"/>
          </a:xfrm>
          <a:prstGeom prst="rect">
            <a:avLst/>
          </a:prstGeom>
        </p:spPr>
      </p:pic>
    </p:spTree>
    <p:extLst>
      <p:ext uri="{BB962C8B-B14F-4D97-AF65-F5344CB8AC3E}">
        <p14:creationId xmlns:p14="http://schemas.microsoft.com/office/powerpoint/2010/main" val="2360389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D28AF7-0B11-DB9B-79DC-C041E87DCAEB}"/>
              </a:ext>
            </a:extLst>
          </p:cNvPr>
          <p:cNvSpPr>
            <a:spLocks noGrp="1"/>
          </p:cNvSpPr>
          <p:nvPr>
            <p:ph type="title"/>
          </p:nvPr>
        </p:nvSpPr>
        <p:spPr/>
        <p:txBody>
          <a:bodyPr/>
          <a:lstStyle/>
          <a:p>
            <a:r>
              <a:rPr lang="en-US" altLang="ja-JP" dirty="0"/>
              <a:t>FRR</a:t>
            </a:r>
            <a:r>
              <a:rPr lang="ja-JP" altLang="en-US" dirty="0"/>
              <a:t>の設定内容</a:t>
            </a:r>
            <a:endParaRPr kumimoji="1" lang="ja-JP" altLang="en-US" dirty="0"/>
          </a:p>
        </p:txBody>
      </p:sp>
      <p:pic>
        <p:nvPicPr>
          <p:cNvPr id="5" name="図 4">
            <a:extLst>
              <a:ext uri="{FF2B5EF4-FFF2-40B4-BE49-F238E27FC236}">
                <a16:creationId xmlns:a16="http://schemas.microsoft.com/office/drawing/2014/main" id="{6063A1B4-C937-D504-16F4-497F1DCCE5C4}"/>
              </a:ext>
            </a:extLst>
          </p:cNvPr>
          <p:cNvPicPr>
            <a:picLocks noChangeAspect="1"/>
          </p:cNvPicPr>
          <p:nvPr/>
        </p:nvPicPr>
        <p:blipFill>
          <a:blip r:embed="rId2"/>
          <a:stretch>
            <a:fillRect/>
          </a:stretch>
        </p:blipFill>
        <p:spPr>
          <a:xfrm>
            <a:off x="528404" y="1390445"/>
            <a:ext cx="3343742" cy="2934109"/>
          </a:xfrm>
          <a:prstGeom prst="rect">
            <a:avLst/>
          </a:prstGeom>
        </p:spPr>
      </p:pic>
      <p:graphicFrame>
        <p:nvGraphicFramePr>
          <p:cNvPr id="6" name="表 5">
            <a:extLst>
              <a:ext uri="{FF2B5EF4-FFF2-40B4-BE49-F238E27FC236}">
                <a16:creationId xmlns:a16="http://schemas.microsoft.com/office/drawing/2014/main" id="{80F10756-A35E-2236-1A60-749C8EDDF9AE}"/>
              </a:ext>
            </a:extLst>
          </p:cNvPr>
          <p:cNvGraphicFramePr>
            <a:graphicFrameLocks noGrp="1"/>
          </p:cNvGraphicFramePr>
          <p:nvPr>
            <p:extLst>
              <p:ext uri="{D42A27DB-BD31-4B8C-83A1-F6EECF244321}">
                <p14:modId xmlns:p14="http://schemas.microsoft.com/office/powerpoint/2010/main" val="2449483152"/>
              </p:ext>
            </p:extLst>
          </p:nvPr>
        </p:nvGraphicFramePr>
        <p:xfrm>
          <a:off x="3966254" y="1390444"/>
          <a:ext cx="8149546" cy="4906815"/>
        </p:xfrm>
        <a:graphic>
          <a:graphicData uri="http://schemas.openxmlformats.org/drawingml/2006/table">
            <a:tbl>
              <a:tblPr firstRow="1" bandRow="1">
                <a:tableStyleId>{5C22544A-7EE6-4342-B048-85BDC9FD1C3A}</a:tableStyleId>
              </a:tblPr>
              <a:tblGrid>
                <a:gridCol w="3510871">
                  <a:extLst>
                    <a:ext uri="{9D8B030D-6E8A-4147-A177-3AD203B41FA5}">
                      <a16:colId xmlns:a16="http://schemas.microsoft.com/office/drawing/2014/main" val="716380378"/>
                    </a:ext>
                  </a:extLst>
                </a:gridCol>
                <a:gridCol w="4638675">
                  <a:extLst>
                    <a:ext uri="{9D8B030D-6E8A-4147-A177-3AD203B41FA5}">
                      <a16:colId xmlns:a16="http://schemas.microsoft.com/office/drawing/2014/main" val="2792337171"/>
                    </a:ext>
                  </a:extLst>
                </a:gridCol>
              </a:tblGrid>
              <a:tr h="377859">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712034236"/>
                  </a:ext>
                </a:extLst>
              </a:tr>
              <a:tr h="377859">
                <a:tc>
                  <a:txBody>
                    <a:bodyPr/>
                    <a:lstStyle/>
                    <a:p>
                      <a:r>
                        <a:rPr lang="en-US" altLang="ja-JP" dirty="0"/>
                        <a:t>router </a:t>
                      </a:r>
                      <a:r>
                        <a:rPr lang="en-US" altLang="ja-JP" dirty="0" err="1"/>
                        <a:t>bgp</a:t>
                      </a:r>
                      <a:r>
                        <a:rPr lang="en-US" altLang="ja-JP" dirty="0"/>
                        <a:t> 65000</a:t>
                      </a:r>
                      <a:endParaRPr kumimoji="1" lang="ja-JP" altLang="en-US" dirty="0"/>
                    </a:p>
                  </a:txBody>
                  <a:tcPr/>
                </a:tc>
                <a:tc>
                  <a:txBody>
                    <a:bodyPr/>
                    <a:lstStyle/>
                    <a:p>
                      <a:r>
                        <a:rPr lang="ja-JP" altLang="en-US" dirty="0"/>
                        <a:t>自分の</a:t>
                      </a:r>
                      <a:r>
                        <a:rPr lang="en-US" altLang="ja-JP" dirty="0"/>
                        <a:t>AS</a:t>
                      </a:r>
                      <a:r>
                        <a:rPr lang="ja-JP" altLang="en-US" dirty="0"/>
                        <a:t>番号</a:t>
                      </a:r>
                      <a:endParaRPr lang="en-US" altLang="ja-JP" dirty="0"/>
                    </a:p>
                    <a:p>
                      <a:r>
                        <a:rPr lang="en-US" altLang="ja-JP" dirty="0"/>
                        <a:t>AWS</a:t>
                      </a:r>
                      <a:r>
                        <a:rPr lang="ja-JP" altLang="en-US" dirty="0"/>
                        <a:t>側：だいたい </a:t>
                      </a:r>
                      <a:r>
                        <a:rPr kumimoji="1" lang="en-US" altLang="ja-JP" sz="1800" kern="1200" dirty="0">
                          <a:solidFill>
                            <a:schemeClr val="dk1"/>
                          </a:solidFill>
                          <a:latin typeface="+mn-lt"/>
                          <a:ea typeface="+mn-ea"/>
                          <a:cs typeface="+mn-cs"/>
                        </a:rPr>
                        <a:t>64512</a:t>
                      </a:r>
                      <a:endParaRPr lang="en-US" altLang="ja-JP" dirty="0"/>
                    </a:p>
                    <a:p>
                      <a:r>
                        <a:rPr lang="ja-JP" altLang="en-US" dirty="0"/>
                        <a:t>自分側：</a:t>
                      </a:r>
                      <a:r>
                        <a:rPr kumimoji="1" lang="en-US" altLang="ja-JP" sz="1800" kern="1200" dirty="0">
                          <a:solidFill>
                            <a:schemeClr val="dk1"/>
                          </a:solidFill>
                          <a:latin typeface="+mn-lt"/>
                          <a:ea typeface="+mn-ea"/>
                          <a:cs typeface="+mn-cs"/>
                        </a:rPr>
                        <a:t>65000</a:t>
                      </a:r>
                      <a:r>
                        <a:rPr lang="ja-JP" altLang="en-US" dirty="0"/>
                        <a:t> とか適当で</a:t>
                      </a:r>
                      <a:r>
                        <a:rPr lang="en-US" altLang="ja-JP" dirty="0"/>
                        <a:t>OK</a:t>
                      </a:r>
                      <a:endParaRPr kumimoji="1" lang="ja-JP" altLang="en-US" dirty="0"/>
                    </a:p>
                  </a:txBody>
                  <a:tcPr/>
                </a:tc>
                <a:extLst>
                  <a:ext uri="{0D108BD9-81ED-4DB2-BD59-A6C34878D82A}">
                    <a16:rowId xmlns:a16="http://schemas.microsoft.com/office/drawing/2014/main" val="3022374454"/>
                  </a:ext>
                </a:extLst>
              </a:tr>
              <a:tr h="377859">
                <a:tc>
                  <a:txBody>
                    <a:bodyPr/>
                    <a:lstStyle/>
                    <a:p>
                      <a:r>
                        <a:rPr lang="en-US" altLang="ja-JP" dirty="0" err="1"/>
                        <a:t>bgp</a:t>
                      </a:r>
                      <a:r>
                        <a:rPr lang="en-US" altLang="ja-JP" dirty="0"/>
                        <a:t> router-id 169.254.49.225</a:t>
                      </a:r>
                      <a:endParaRPr kumimoji="1" lang="ja-JP" altLang="en-US" dirty="0"/>
                    </a:p>
                  </a:txBody>
                  <a:tcPr/>
                </a:tc>
                <a:tc>
                  <a:txBody>
                    <a:bodyPr/>
                    <a:lstStyle/>
                    <a:p>
                      <a:r>
                        <a:rPr lang="en-US" altLang="ja-JP" dirty="0"/>
                        <a:t>BGP</a:t>
                      </a:r>
                      <a:r>
                        <a:rPr lang="ja-JP" altLang="en-US" dirty="0"/>
                        <a:t>上の識別子（</a:t>
                      </a:r>
                      <a:r>
                        <a:rPr lang="en-US" altLang="ja-JP" dirty="0"/>
                        <a:t>IP</a:t>
                      </a:r>
                      <a:r>
                        <a:rPr lang="ja-JP" altLang="en-US" dirty="0"/>
                        <a:t>っぽいけど実体は</a:t>
                      </a:r>
                      <a:r>
                        <a:rPr lang="en-US" altLang="ja-JP" dirty="0"/>
                        <a:t>ID</a:t>
                      </a:r>
                      <a:r>
                        <a:rPr lang="ja-JP" altLang="en-US" dirty="0"/>
                        <a:t>）</a:t>
                      </a:r>
                      <a:endParaRPr lang="en-US" altLang="ja-JP" dirty="0"/>
                    </a:p>
                    <a:p>
                      <a:r>
                        <a:rPr lang="en-US" altLang="ja-JP" dirty="0"/>
                        <a:t>VTI</a:t>
                      </a:r>
                      <a:r>
                        <a:rPr lang="ja-JP" altLang="en-US" dirty="0"/>
                        <a:t>の</a:t>
                      </a:r>
                      <a:r>
                        <a:rPr lang="en-US" altLang="ja-JP" dirty="0"/>
                        <a:t>IP</a:t>
                      </a:r>
                      <a:r>
                        <a:rPr lang="ja-JP" altLang="en-US" dirty="0"/>
                        <a:t>使うのが一般的 </a:t>
                      </a:r>
                      <a:endParaRPr lang="en-US" altLang="ja-JP" dirty="0"/>
                    </a:p>
                    <a:p>
                      <a:r>
                        <a:rPr lang="ja-JP" altLang="en-US" dirty="0"/>
                        <a:t>ユニークならなんでも</a:t>
                      </a:r>
                      <a:r>
                        <a:rPr lang="en-US" altLang="ja-JP" dirty="0"/>
                        <a:t>OK</a:t>
                      </a:r>
                      <a:endParaRPr kumimoji="1" lang="ja-JP" altLang="en-US" dirty="0"/>
                    </a:p>
                  </a:txBody>
                  <a:tcPr/>
                </a:tc>
                <a:extLst>
                  <a:ext uri="{0D108BD9-81ED-4DB2-BD59-A6C34878D82A}">
                    <a16:rowId xmlns:a16="http://schemas.microsoft.com/office/drawing/2014/main" val="3025005115"/>
                  </a:ext>
                </a:extLst>
              </a:tr>
              <a:tr h="377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kern="1200" dirty="0">
                          <a:solidFill>
                            <a:schemeClr val="dk1"/>
                          </a:solidFill>
                          <a:latin typeface="+mn-lt"/>
                          <a:ea typeface="+mn-ea"/>
                          <a:cs typeface="+mn-cs"/>
                        </a:rPr>
                        <a:t>neighbor 169.254.49.226 remote-as 65001</a:t>
                      </a:r>
                    </a:p>
                  </a:txBody>
                  <a:tcPr/>
                </a:tc>
                <a:tc>
                  <a:txBody>
                    <a:bodyPr/>
                    <a:lstStyle/>
                    <a:p>
                      <a:r>
                        <a:rPr lang="en-US" altLang="ja-JP" dirty="0"/>
                        <a:t>BGP</a:t>
                      </a:r>
                      <a:r>
                        <a:rPr lang="ja-JP" altLang="en-US" dirty="0"/>
                        <a:t>の相手</a:t>
                      </a:r>
                    </a:p>
                    <a:p>
                      <a:r>
                        <a:rPr lang="en-US" altLang="ja-JP" dirty="0"/>
                        <a:t>169.254.x.x = VTI</a:t>
                      </a:r>
                      <a:r>
                        <a:rPr lang="ja-JP" altLang="en-US" dirty="0"/>
                        <a:t>の相手</a:t>
                      </a:r>
                      <a:r>
                        <a:rPr lang="en-US" altLang="ja-JP" dirty="0"/>
                        <a:t>IP </a:t>
                      </a:r>
                    </a:p>
                    <a:p>
                      <a:r>
                        <a:rPr lang="en-US" altLang="ja-JP" dirty="0"/>
                        <a:t>remote-as = </a:t>
                      </a:r>
                      <a:r>
                        <a:rPr lang="ja-JP" altLang="en-US" dirty="0"/>
                        <a:t>相手の</a:t>
                      </a:r>
                      <a:r>
                        <a:rPr lang="en-US" altLang="ja-JP" dirty="0"/>
                        <a:t>AS</a:t>
                      </a:r>
                      <a:r>
                        <a:rPr lang="ja-JP" altLang="en-US" dirty="0"/>
                        <a:t>番号（</a:t>
                      </a:r>
                      <a:r>
                        <a:rPr lang="en-US" altLang="ja-JP" dirty="0"/>
                        <a:t>AWS</a:t>
                      </a:r>
                      <a:r>
                        <a:rPr lang="ja-JP" altLang="en-US" dirty="0"/>
                        <a:t>なら指定される）</a:t>
                      </a:r>
                    </a:p>
                  </a:txBody>
                  <a:tcPr/>
                </a:tc>
                <a:extLst>
                  <a:ext uri="{0D108BD9-81ED-4DB2-BD59-A6C34878D82A}">
                    <a16:rowId xmlns:a16="http://schemas.microsoft.com/office/drawing/2014/main" val="2667315441"/>
                  </a:ext>
                </a:extLst>
              </a:tr>
              <a:tr h="377859">
                <a:tc>
                  <a:txBody>
                    <a:bodyPr/>
                    <a:lstStyle/>
                    <a:p>
                      <a:r>
                        <a:rPr lang="en-US" altLang="ja-JP" dirty="0"/>
                        <a:t>address-family ipv4 unicast</a:t>
                      </a:r>
                      <a:endParaRPr kumimoji="1" lang="ja-JP" altLang="en-US" dirty="0"/>
                    </a:p>
                  </a:txBody>
                  <a:tcPr/>
                </a:tc>
                <a:tc>
                  <a:txBody>
                    <a:bodyPr/>
                    <a:lstStyle/>
                    <a:p>
                      <a:r>
                        <a:rPr lang="en-US" altLang="ja-JP" dirty="0"/>
                        <a:t>IPv4</a:t>
                      </a:r>
                      <a:r>
                        <a:rPr lang="ja-JP" altLang="en-US" dirty="0"/>
                        <a:t>ルーティングを扱う宣言</a:t>
                      </a:r>
                      <a:endParaRPr kumimoji="1" lang="ja-JP" altLang="en-US" dirty="0"/>
                    </a:p>
                  </a:txBody>
                  <a:tcPr/>
                </a:tc>
                <a:extLst>
                  <a:ext uri="{0D108BD9-81ED-4DB2-BD59-A6C34878D82A}">
                    <a16:rowId xmlns:a16="http://schemas.microsoft.com/office/drawing/2014/main" val="3898872156"/>
                  </a:ext>
                </a:extLst>
              </a:tr>
              <a:tr h="377859">
                <a:tc>
                  <a:txBody>
                    <a:bodyPr/>
                    <a:lstStyle/>
                    <a:p>
                      <a:r>
                        <a:rPr lang="en-US" altLang="ja-JP" dirty="0"/>
                        <a:t>network 10.0.0.0/16</a:t>
                      </a:r>
                      <a:endParaRPr kumimoji="1" lang="ja-JP" altLang="en-US" dirty="0"/>
                    </a:p>
                  </a:txBody>
                  <a:tcPr/>
                </a:tc>
                <a:tc>
                  <a:txBody>
                    <a:bodyPr/>
                    <a:lstStyle/>
                    <a:p>
                      <a:r>
                        <a:rPr lang="ja-JP" altLang="en-US" dirty="0"/>
                        <a:t>自分のネットワークを相手に広告</a:t>
                      </a:r>
                      <a:endParaRPr kumimoji="1" lang="ja-JP" altLang="en-US" dirty="0"/>
                    </a:p>
                  </a:txBody>
                  <a:tcPr/>
                </a:tc>
                <a:extLst>
                  <a:ext uri="{0D108BD9-81ED-4DB2-BD59-A6C34878D82A}">
                    <a16:rowId xmlns:a16="http://schemas.microsoft.com/office/drawing/2014/main" val="3800750164"/>
                  </a:ext>
                </a:extLst>
              </a:tr>
              <a:tr h="377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kern="1200" dirty="0" err="1">
                          <a:solidFill>
                            <a:schemeClr val="dk1"/>
                          </a:solidFill>
                          <a:latin typeface="+mn-lt"/>
                          <a:ea typeface="+mn-ea"/>
                          <a:cs typeface="+mn-cs"/>
                        </a:rPr>
                        <a:t>sudo</a:t>
                      </a:r>
                      <a:r>
                        <a:rPr kumimoji="1" lang="en-US" altLang="ja-JP" sz="1800" kern="1200" dirty="0">
                          <a:solidFill>
                            <a:schemeClr val="dk1"/>
                          </a:solidFill>
                          <a:latin typeface="+mn-lt"/>
                          <a:ea typeface="+mn-ea"/>
                          <a:cs typeface="+mn-cs"/>
                        </a:rPr>
                        <a:t> </a:t>
                      </a:r>
                      <a:r>
                        <a:rPr kumimoji="1" lang="en-US" altLang="ja-JP" sz="1800" kern="1200" dirty="0" err="1">
                          <a:solidFill>
                            <a:schemeClr val="dk1"/>
                          </a:solidFill>
                          <a:latin typeface="+mn-lt"/>
                          <a:ea typeface="+mn-ea"/>
                          <a:cs typeface="+mn-cs"/>
                        </a:rPr>
                        <a:t>vtysh</a:t>
                      </a:r>
                      <a:endParaRPr kumimoji="1" lang="en-US" altLang="ja-JP" sz="1800" kern="1200" dirty="0">
                        <a:solidFill>
                          <a:schemeClr val="dk1"/>
                        </a:solidFill>
                        <a:latin typeface="+mn-lt"/>
                        <a:ea typeface="+mn-ea"/>
                        <a:cs typeface="+mn-cs"/>
                      </a:endParaRPr>
                    </a:p>
                  </a:txBody>
                  <a:tcPr/>
                </a:tc>
                <a:tc>
                  <a:txBody>
                    <a:bodyPr/>
                    <a:lstStyle/>
                    <a:p>
                      <a:r>
                        <a:rPr kumimoji="1" lang="en-US" altLang="ja-JP" dirty="0"/>
                        <a:t>BGP</a:t>
                      </a:r>
                      <a:r>
                        <a:rPr kumimoji="1" lang="ja-JP" altLang="en-US" dirty="0"/>
                        <a:t>設定モードに入る</a:t>
                      </a:r>
                    </a:p>
                  </a:txBody>
                  <a:tcPr/>
                </a:tc>
                <a:extLst>
                  <a:ext uri="{0D108BD9-81ED-4DB2-BD59-A6C34878D82A}">
                    <a16:rowId xmlns:a16="http://schemas.microsoft.com/office/drawing/2014/main" val="148400414"/>
                  </a:ext>
                </a:extLst>
              </a:tr>
              <a:tr h="377859">
                <a:tc>
                  <a:txBody>
                    <a:bodyPr/>
                    <a:lstStyle/>
                    <a:p>
                      <a:r>
                        <a:rPr lang="en-US" altLang="ja-JP" dirty="0"/>
                        <a:t>configure terminal</a:t>
                      </a:r>
                      <a:endParaRPr kumimoji="1" lang="ja-JP" altLang="en-US" dirty="0"/>
                    </a:p>
                  </a:txBody>
                  <a:tcPr/>
                </a:tc>
                <a:tc>
                  <a:txBody>
                    <a:bodyPr/>
                    <a:lstStyle/>
                    <a:p>
                      <a:r>
                        <a:rPr kumimoji="1" lang="ja-JP" altLang="en-US" dirty="0"/>
                        <a:t>管理者権限に昇格</a:t>
                      </a:r>
                    </a:p>
                  </a:txBody>
                  <a:tcPr/>
                </a:tc>
                <a:extLst>
                  <a:ext uri="{0D108BD9-81ED-4DB2-BD59-A6C34878D82A}">
                    <a16:rowId xmlns:a16="http://schemas.microsoft.com/office/drawing/2014/main" val="2577318007"/>
                  </a:ext>
                </a:extLst>
              </a:tr>
            </a:tbl>
          </a:graphicData>
        </a:graphic>
      </p:graphicFrame>
      <p:pic>
        <p:nvPicPr>
          <p:cNvPr id="8" name="図 7">
            <a:extLst>
              <a:ext uri="{FF2B5EF4-FFF2-40B4-BE49-F238E27FC236}">
                <a16:creationId xmlns:a16="http://schemas.microsoft.com/office/drawing/2014/main" id="{C9E0979F-1FB3-5E97-61AB-BB054CCCB0F9}"/>
              </a:ext>
            </a:extLst>
          </p:cNvPr>
          <p:cNvPicPr>
            <a:picLocks noChangeAspect="1"/>
          </p:cNvPicPr>
          <p:nvPr/>
        </p:nvPicPr>
        <p:blipFill>
          <a:blip r:embed="rId3"/>
          <a:stretch>
            <a:fillRect/>
          </a:stretch>
        </p:blipFill>
        <p:spPr>
          <a:xfrm>
            <a:off x="434296" y="4253474"/>
            <a:ext cx="2605352" cy="2428162"/>
          </a:xfrm>
          <a:prstGeom prst="rect">
            <a:avLst/>
          </a:prstGeom>
        </p:spPr>
      </p:pic>
    </p:spTree>
    <p:extLst>
      <p:ext uri="{BB962C8B-B14F-4D97-AF65-F5344CB8AC3E}">
        <p14:creationId xmlns:p14="http://schemas.microsoft.com/office/powerpoint/2010/main" val="97033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2252D9-F3D9-EDF0-F84F-95A23F8313C1}"/>
              </a:ext>
            </a:extLst>
          </p:cNvPr>
          <p:cNvSpPr>
            <a:spLocks noGrp="1"/>
          </p:cNvSpPr>
          <p:nvPr>
            <p:ph type="title"/>
          </p:nvPr>
        </p:nvSpPr>
        <p:spPr/>
        <p:txBody>
          <a:bodyPr/>
          <a:lstStyle/>
          <a:p>
            <a:r>
              <a:rPr lang="en-US" altLang="ja-JP" dirty="0"/>
              <a:t>FRR</a:t>
            </a:r>
            <a:r>
              <a:rPr lang="ja-JP" altLang="en-US" dirty="0"/>
              <a:t>コマンド表</a:t>
            </a:r>
            <a:endParaRPr kumimoji="1" lang="ja-JP" altLang="en-US" dirty="0"/>
          </a:p>
        </p:txBody>
      </p:sp>
      <p:graphicFrame>
        <p:nvGraphicFramePr>
          <p:cNvPr id="4" name="表 3">
            <a:extLst>
              <a:ext uri="{FF2B5EF4-FFF2-40B4-BE49-F238E27FC236}">
                <a16:creationId xmlns:a16="http://schemas.microsoft.com/office/drawing/2014/main" id="{70D2C2F6-7AB5-85ED-A96A-5B6ACECA6701}"/>
              </a:ext>
            </a:extLst>
          </p:cNvPr>
          <p:cNvGraphicFramePr>
            <a:graphicFrameLocks noGrp="1"/>
          </p:cNvGraphicFramePr>
          <p:nvPr>
            <p:extLst>
              <p:ext uri="{D42A27DB-BD31-4B8C-83A1-F6EECF244321}">
                <p14:modId xmlns:p14="http://schemas.microsoft.com/office/powerpoint/2010/main" val="2195807871"/>
              </p:ext>
            </p:extLst>
          </p:nvPr>
        </p:nvGraphicFramePr>
        <p:xfrm>
          <a:off x="497304" y="2075849"/>
          <a:ext cx="11694696" cy="4246880"/>
        </p:xfrm>
        <a:graphic>
          <a:graphicData uri="http://schemas.openxmlformats.org/drawingml/2006/table">
            <a:tbl>
              <a:tblPr firstRow="1" bandRow="1">
                <a:tableStyleId>{5C22544A-7EE6-4342-B048-85BDC9FD1C3A}</a:tableStyleId>
              </a:tblPr>
              <a:tblGrid>
                <a:gridCol w="5847348">
                  <a:extLst>
                    <a:ext uri="{9D8B030D-6E8A-4147-A177-3AD203B41FA5}">
                      <a16:colId xmlns:a16="http://schemas.microsoft.com/office/drawing/2014/main" val="3405102864"/>
                    </a:ext>
                  </a:extLst>
                </a:gridCol>
                <a:gridCol w="5847348">
                  <a:extLst>
                    <a:ext uri="{9D8B030D-6E8A-4147-A177-3AD203B41FA5}">
                      <a16:colId xmlns:a16="http://schemas.microsoft.com/office/drawing/2014/main" val="418250890"/>
                    </a:ext>
                  </a:extLst>
                </a:gridCol>
              </a:tblGrid>
              <a:tr h="370840">
                <a:tc>
                  <a:txBody>
                    <a:bodyPr/>
                    <a:lstStyle/>
                    <a:p>
                      <a:endParaRPr kumimoji="1" lang="ja-JP" altLang="en-US" dirty="0"/>
                    </a:p>
                  </a:txBody>
                  <a:tcPr/>
                </a:tc>
                <a:tc>
                  <a:txBody>
                    <a:bodyPr/>
                    <a:lstStyle/>
                    <a:p>
                      <a:endParaRPr kumimoji="1" lang="ja-JP" altLang="en-US"/>
                    </a:p>
                  </a:txBody>
                  <a:tcPr/>
                </a:tc>
                <a:extLst>
                  <a:ext uri="{0D108BD9-81ED-4DB2-BD59-A6C34878D82A}">
                    <a16:rowId xmlns:a16="http://schemas.microsoft.com/office/drawing/2014/main" val="907608450"/>
                  </a:ext>
                </a:extLst>
              </a:tr>
              <a:tr h="370840">
                <a:tc>
                  <a:txBody>
                    <a:bodyPr/>
                    <a:lstStyle/>
                    <a:p>
                      <a:r>
                        <a:rPr lang="en-US" altLang="ja-JP" dirty="0"/>
                        <a:t>network 10.0.0.0/24</a:t>
                      </a:r>
                      <a:endParaRPr kumimoji="1" lang="ja-JP" altLang="en-US" dirty="0"/>
                    </a:p>
                  </a:txBody>
                  <a:tcPr/>
                </a:tc>
                <a:tc>
                  <a:txBody>
                    <a:bodyPr/>
                    <a:lstStyle/>
                    <a:p>
                      <a:r>
                        <a:rPr lang="ja-JP" altLang="en-US" dirty="0"/>
                        <a:t>ルーティングテーブルに完全一致する場合のみ</a:t>
                      </a:r>
                      <a:r>
                        <a:rPr lang="en-US" altLang="ja-JP" dirty="0"/>
                        <a:t>BGP</a:t>
                      </a:r>
                      <a:r>
                        <a:rPr lang="ja-JP" altLang="en-US" dirty="0"/>
                        <a:t>へ広告</a:t>
                      </a:r>
                      <a:endParaRPr kumimoji="1" lang="ja-JP" altLang="en-US" dirty="0"/>
                    </a:p>
                  </a:txBody>
                  <a:tcPr/>
                </a:tc>
                <a:extLst>
                  <a:ext uri="{0D108BD9-81ED-4DB2-BD59-A6C34878D82A}">
                    <a16:rowId xmlns:a16="http://schemas.microsoft.com/office/drawing/2014/main" val="974115216"/>
                  </a:ext>
                </a:extLst>
              </a:tr>
              <a:tr h="370840">
                <a:tc>
                  <a:txBody>
                    <a:bodyPr/>
                    <a:lstStyle/>
                    <a:p>
                      <a:r>
                        <a:rPr lang="en-US" altLang="ja-JP" dirty="0"/>
                        <a:t>redistribute connected</a:t>
                      </a:r>
                      <a:endParaRPr kumimoji="1" lang="ja-JP" altLang="en-US" dirty="0"/>
                    </a:p>
                  </a:txBody>
                  <a:tcPr/>
                </a:tc>
                <a:tc>
                  <a:txBody>
                    <a:bodyPr/>
                    <a:lstStyle/>
                    <a:p>
                      <a:r>
                        <a:rPr lang="ja-JP" altLang="en-US" dirty="0"/>
                        <a:t>ルーティングテーブルの情報をまとめて</a:t>
                      </a:r>
                      <a:r>
                        <a:rPr lang="en-US" altLang="ja-JP" dirty="0"/>
                        <a:t>BGP</a:t>
                      </a:r>
                      <a:r>
                        <a:rPr lang="ja-JP" altLang="en-US" dirty="0"/>
                        <a:t>へ流す</a:t>
                      </a:r>
                      <a:endParaRPr kumimoji="1" lang="ja-JP" altLang="en-US" dirty="0"/>
                    </a:p>
                  </a:txBody>
                  <a:tcPr/>
                </a:tc>
                <a:extLst>
                  <a:ext uri="{0D108BD9-81ED-4DB2-BD59-A6C34878D82A}">
                    <a16:rowId xmlns:a16="http://schemas.microsoft.com/office/drawing/2014/main" val="3001356895"/>
                  </a:ext>
                </a:extLst>
              </a:tr>
              <a:tr h="370840">
                <a:tc>
                  <a:txBody>
                    <a:bodyPr/>
                    <a:lstStyle/>
                    <a:p>
                      <a:r>
                        <a:rPr lang="en-US" altLang="ja-JP" dirty="0"/>
                        <a:t>aggregate-address 10.0.0.0/16 summary-only</a:t>
                      </a:r>
                      <a:endParaRPr kumimoji="1" lang="ja-JP" altLang="en-US" dirty="0"/>
                    </a:p>
                  </a:txBody>
                  <a:tcPr/>
                </a:tc>
                <a:tc>
                  <a:txBody>
                    <a:bodyPr/>
                    <a:lstStyle/>
                    <a:p>
                      <a:r>
                        <a:rPr lang="ja-JP" altLang="en-US" dirty="0"/>
                        <a:t>複数サブネットをまとめて広告</a:t>
                      </a:r>
                      <a:endParaRPr kumimoji="1" lang="ja-JP" altLang="en-US" dirty="0"/>
                    </a:p>
                  </a:txBody>
                  <a:tcPr/>
                </a:tc>
                <a:extLst>
                  <a:ext uri="{0D108BD9-81ED-4DB2-BD59-A6C34878D82A}">
                    <a16:rowId xmlns:a16="http://schemas.microsoft.com/office/drawing/2014/main" val="3274272834"/>
                  </a:ext>
                </a:extLst>
              </a:tr>
              <a:tr h="370840">
                <a:tc>
                  <a:txBody>
                    <a:bodyPr/>
                    <a:lstStyle/>
                    <a:p>
                      <a:r>
                        <a:rPr lang="en-US" altLang="ja-JP" dirty="0"/>
                        <a:t>neighbor 169.254.49.226 default-originate</a:t>
                      </a:r>
                      <a:endParaRPr kumimoji="1" lang="ja-JP" altLang="en-US" dirty="0"/>
                    </a:p>
                  </a:txBody>
                  <a:tcPr/>
                </a:tc>
                <a:tc>
                  <a:txBody>
                    <a:bodyPr/>
                    <a:lstStyle/>
                    <a:p>
                      <a:r>
                        <a:rPr kumimoji="1" lang="en-US" altLang="ja-JP" sz="1800" kern="1200" dirty="0">
                          <a:solidFill>
                            <a:schemeClr val="dk1"/>
                          </a:solidFill>
                          <a:latin typeface="+mn-lt"/>
                          <a:ea typeface="+mn-ea"/>
                          <a:cs typeface="+mn-cs"/>
                        </a:rPr>
                        <a:t>0.0.0.0/0</a:t>
                      </a:r>
                      <a:r>
                        <a:rPr lang="ja-JP" altLang="en-US" dirty="0"/>
                        <a:t> を広告する</a:t>
                      </a:r>
                      <a:endParaRPr kumimoji="1" lang="ja-JP" altLang="en-US" dirty="0"/>
                    </a:p>
                  </a:txBody>
                  <a:tcPr/>
                </a:tc>
                <a:extLst>
                  <a:ext uri="{0D108BD9-81ED-4DB2-BD59-A6C34878D82A}">
                    <a16:rowId xmlns:a16="http://schemas.microsoft.com/office/drawing/2014/main" val="108811545"/>
                  </a:ext>
                </a:extLst>
              </a:tr>
              <a:tr h="370840">
                <a:tc>
                  <a:txBody>
                    <a:bodyPr/>
                    <a:lstStyle/>
                    <a:p>
                      <a:r>
                        <a:rPr lang="en-US" altLang="ja-JP" dirty="0"/>
                        <a:t>neighbor activate</a:t>
                      </a:r>
                      <a:endParaRPr kumimoji="1" lang="ja-JP" altLang="en-US" dirty="0"/>
                    </a:p>
                  </a:txBody>
                  <a:tcPr/>
                </a:tc>
                <a:tc>
                  <a:txBody>
                    <a:bodyPr/>
                    <a:lstStyle/>
                    <a:p>
                      <a:r>
                        <a:rPr lang="en-US" altLang="ja-JP" dirty="0"/>
                        <a:t>neighbor 169.254.49.226 activate</a:t>
                      </a:r>
                      <a:endParaRPr kumimoji="1" lang="ja-JP" altLang="en-US" dirty="0"/>
                    </a:p>
                  </a:txBody>
                  <a:tcPr/>
                </a:tc>
                <a:extLst>
                  <a:ext uri="{0D108BD9-81ED-4DB2-BD59-A6C34878D82A}">
                    <a16:rowId xmlns:a16="http://schemas.microsoft.com/office/drawing/2014/main" val="3189212038"/>
                  </a:ext>
                </a:extLst>
              </a:tr>
              <a:tr h="370840">
                <a:tc>
                  <a:txBody>
                    <a:bodyPr/>
                    <a:lstStyle/>
                    <a:p>
                      <a:r>
                        <a:rPr lang="en-US" altLang="ja-JP" dirty="0"/>
                        <a:t>neighbor 169.254.49.226 route-map OUT-FILTER out</a:t>
                      </a:r>
                      <a:endParaRPr kumimoji="1" lang="ja-JP" altLang="en-US" dirty="0"/>
                    </a:p>
                  </a:txBody>
                  <a:tcPr/>
                </a:tc>
                <a:tc>
                  <a:txBody>
                    <a:bodyPr/>
                    <a:lstStyle/>
                    <a:p>
                      <a:r>
                        <a:rPr lang="ja-JP" altLang="en-US" dirty="0"/>
                        <a:t>このルートだけ広告する</a:t>
                      </a:r>
                      <a:endParaRPr kumimoji="1" lang="ja-JP" altLang="en-US" dirty="0"/>
                    </a:p>
                  </a:txBody>
                  <a:tcPr/>
                </a:tc>
                <a:extLst>
                  <a:ext uri="{0D108BD9-81ED-4DB2-BD59-A6C34878D82A}">
                    <a16:rowId xmlns:a16="http://schemas.microsoft.com/office/drawing/2014/main" val="30487923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kern="1200" dirty="0">
                          <a:solidFill>
                            <a:schemeClr val="dk1"/>
                          </a:solidFill>
                          <a:latin typeface="+mn-lt"/>
                          <a:ea typeface="+mn-ea"/>
                          <a:cs typeface="+mn-cs"/>
                        </a:rPr>
                        <a:t>show </a:t>
                      </a:r>
                      <a:r>
                        <a:rPr kumimoji="1" lang="en-US" altLang="ja-JP" sz="1800" kern="1200" dirty="0" err="1">
                          <a:solidFill>
                            <a:schemeClr val="dk1"/>
                          </a:solidFill>
                          <a:latin typeface="+mn-lt"/>
                          <a:ea typeface="+mn-ea"/>
                          <a:cs typeface="+mn-cs"/>
                        </a:rPr>
                        <a:t>ip</a:t>
                      </a:r>
                      <a:r>
                        <a:rPr kumimoji="1" lang="en-US" altLang="ja-JP" sz="1800" kern="1200" dirty="0">
                          <a:solidFill>
                            <a:schemeClr val="dk1"/>
                          </a:solidFill>
                          <a:latin typeface="+mn-lt"/>
                          <a:ea typeface="+mn-ea"/>
                          <a:cs typeface="+mn-cs"/>
                        </a:rPr>
                        <a:t> </a:t>
                      </a:r>
                      <a:r>
                        <a:rPr kumimoji="1" lang="en-US" altLang="ja-JP" sz="1800" kern="1200" dirty="0" err="1">
                          <a:solidFill>
                            <a:schemeClr val="dk1"/>
                          </a:solidFill>
                          <a:latin typeface="+mn-lt"/>
                          <a:ea typeface="+mn-ea"/>
                          <a:cs typeface="+mn-cs"/>
                        </a:rPr>
                        <a:t>bgp</a:t>
                      </a:r>
                      <a:endParaRPr kumimoji="1" lang="en-US" altLang="ja-JP" sz="1800" kern="1200" dirty="0">
                        <a:solidFill>
                          <a:schemeClr val="dk1"/>
                        </a:solidFill>
                        <a:latin typeface="+mn-lt"/>
                        <a:ea typeface="+mn-ea"/>
                        <a:cs typeface="+mn-cs"/>
                      </a:endParaRPr>
                    </a:p>
                  </a:txBody>
                  <a:tcPr/>
                </a:tc>
                <a:tc>
                  <a:txBody>
                    <a:bodyPr/>
                    <a:lstStyle/>
                    <a:p>
                      <a:r>
                        <a:rPr lang="en-US" altLang="ja-JP" dirty="0"/>
                        <a:t>BGP</a:t>
                      </a:r>
                      <a:r>
                        <a:rPr lang="ja-JP" altLang="en-US" dirty="0"/>
                        <a:t>テーブル</a:t>
                      </a:r>
                      <a:endParaRPr kumimoji="1" lang="ja-JP" altLang="en-US" dirty="0"/>
                    </a:p>
                  </a:txBody>
                  <a:tcPr/>
                </a:tc>
                <a:extLst>
                  <a:ext uri="{0D108BD9-81ED-4DB2-BD59-A6C34878D82A}">
                    <a16:rowId xmlns:a16="http://schemas.microsoft.com/office/drawing/2014/main" val="247671209"/>
                  </a:ext>
                </a:extLst>
              </a:tr>
              <a:tr h="370840">
                <a:tc>
                  <a:txBody>
                    <a:bodyPr/>
                    <a:lstStyle/>
                    <a:p>
                      <a:r>
                        <a:rPr lang="en-US" altLang="ja-JP" dirty="0"/>
                        <a:t>show </a:t>
                      </a:r>
                      <a:r>
                        <a:rPr lang="en-US" altLang="ja-JP" dirty="0" err="1"/>
                        <a:t>ip</a:t>
                      </a:r>
                      <a:r>
                        <a:rPr lang="en-US" altLang="ja-JP" dirty="0"/>
                        <a:t> </a:t>
                      </a:r>
                      <a:r>
                        <a:rPr lang="en-US" altLang="ja-JP" dirty="0" err="1"/>
                        <a:t>bgp</a:t>
                      </a:r>
                      <a:r>
                        <a:rPr lang="en-US" altLang="ja-JP" dirty="0"/>
                        <a:t> neighbors 169.254.28.185 advertised-routes</a:t>
                      </a:r>
                      <a:endParaRPr kumimoji="1" lang="ja-JP" altLang="en-US" dirty="0"/>
                    </a:p>
                  </a:txBody>
                  <a:tcPr/>
                </a:tc>
                <a:tc>
                  <a:txBody>
                    <a:bodyPr/>
                    <a:lstStyle/>
                    <a:p>
                      <a:r>
                        <a:rPr lang="ja-JP" altLang="en-US" dirty="0"/>
                        <a:t>　　　　</a:t>
                      </a:r>
                      <a:r>
                        <a:rPr lang="en-US" altLang="ja-JP" dirty="0"/>
                        <a:t>neighbor</a:t>
                      </a:r>
                      <a:r>
                        <a:rPr lang="ja-JP" altLang="en-US" dirty="0"/>
                        <a:t>ごとの広告状況</a:t>
                      </a:r>
                      <a:endParaRPr kumimoji="1" lang="ja-JP" altLang="en-US" dirty="0"/>
                    </a:p>
                  </a:txBody>
                  <a:tcPr/>
                </a:tc>
                <a:extLst>
                  <a:ext uri="{0D108BD9-81ED-4DB2-BD59-A6C34878D82A}">
                    <a16:rowId xmlns:a16="http://schemas.microsoft.com/office/drawing/2014/main" val="1132955335"/>
                  </a:ext>
                </a:extLst>
              </a:tr>
              <a:tr h="370840">
                <a:tc>
                  <a:txBody>
                    <a:bodyPr/>
                    <a:lstStyle/>
                    <a:p>
                      <a:r>
                        <a:rPr kumimoji="1" lang="en-US" altLang="ja-JP" dirty="0"/>
                        <a:t>show </a:t>
                      </a:r>
                      <a:r>
                        <a:rPr kumimoji="1" lang="en-US" altLang="ja-JP" dirty="0" err="1"/>
                        <a:t>ip</a:t>
                      </a:r>
                      <a:r>
                        <a:rPr kumimoji="1" lang="en-US" altLang="ja-JP" dirty="0"/>
                        <a:t> route/show </a:t>
                      </a:r>
                      <a:r>
                        <a:rPr kumimoji="1" lang="en-US" altLang="ja-JP" dirty="0" err="1"/>
                        <a:t>ip</a:t>
                      </a:r>
                      <a:r>
                        <a:rPr kumimoji="1" lang="en-US" altLang="ja-JP" dirty="0"/>
                        <a:t> </a:t>
                      </a:r>
                      <a:r>
                        <a:rPr kumimoji="1" lang="en-US" altLang="ja-JP" dirty="0" err="1"/>
                        <a:t>bgp</a:t>
                      </a:r>
                      <a:r>
                        <a:rPr kumimoji="1" lang="en-US" altLang="ja-JP" dirty="0"/>
                        <a:t> summary</a:t>
                      </a:r>
                      <a:endParaRPr kumimoji="1" lang="ja-JP" altLang="en-US" dirty="0"/>
                    </a:p>
                  </a:txBody>
                  <a:tcPr/>
                </a:tc>
                <a:tc>
                  <a:txBody>
                    <a:bodyPr/>
                    <a:lstStyle/>
                    <a:p>
                      <a:r>
                        <a:rPr lang="ja-JP" altLang="en-US" dirty="0"/>
                        <a:t>ルートが</a:t>
                      </a:r>
                      <a:r>
                        <a:rPr lang="en-US" altLang="ja-JP" dirty="0"/>
                        <a:t>BGP</a:t>
                      </a:r>
                      <a:r>
                        <a:rPr lang="ja-JP" altLang="en-US" dirty="0"/>
                        <a:t>に入っているか</a:t>
                      </a:r>
                      <a:endParaRPr kumimoji="1" lang="ja-JP" altLang="en-US" dirty="0"/>
                    </a:p>
                  </a:txBody>
                  <a:tcPr/>
                </a:tc>
                <a:extLst>
                  <a:ext uri="{0D108BD9-81ED-4DB2-BD59-A6C34878D82A}">
                    <a16:rowId xmlns:a16="http://schemas.microsoft.com/office/drawing/2014/main" val="1869411611"/>
                  </a:ext>
                </a:extLst>
              </a:tr>
            </a:tbl>
          </a:graphicData>
        </a:graphic>
      </p:graphicFrame>
    </p:spTree>
    <p:extLst>
      <p:ext uri="{BB962C8B-B14F-4D97-AF65-F5344CB8AC3E}">
        <p14:creationId xmlns:p14="http://schemas.microsoft.com/office/powerpoint/2010/main" val="282749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EDE8E0-C50F-B46C-05D0-7CF765AD2DAD}"/>
              </a:ext>
            </a:extLst>
          </p:cNvPr>
          <p:cNvSpPr>
            <a:spLocks noGrp="1"/>
          </p:cNvSpPr>
          <p:nvPr>
            <p:ph type="title"/>
          </p:nvPr>
        </p:nvSpPr>
        <p:spPr/>
        <p:txBody>
          <a:bodyPr/>
          <a:lstStyle/>
          <a:p>
            <a:r>
              <a:rPr lang="en-US" altLang="ja-JP" dirty="0" err="1">
                <a:solidFill>
                  <a:schemeClr val="dk1"/>
                </a:solidFill>
              </a:rPr>
              <a:t>sudo</a:t>
            </a:r>
            <a:r>
              <a:rPr lang="en-US" altLang="ja-JP" dirty="0">
                <a:solidFill>
                  <a:schemeClr val="dk1"/>
                </a:solidFill>
              </a:rPr>
              <a:t> </a:t>
            </a:r>
            <a:r>
              <a:rPr lang="en-US" altLang="ja-JP" dirty="0" err="1">
                <a:solidFill>
                  <a:schemeClr val="dk1"/>
                </a:solidFill>
              </a:rPr>
              <a:t>ip</a:t>
            </a:r>
            <a:r>
              <a:rPr lang="en-US" altLang="ja-JP" dirty="0">
                <a:solidFill>
                  <a:schemeClr val="dk1"/>
                </a:solidFill>
              </a:rPr>
              <a:t> </a:t>
            </a:r>
            <a:r>
              <a:rPr lang="en-US" altLang="ja-JP" dirty="0" err="1">
                <a:solidFill>
                  <a:schemeClr val="dk1"/>
                </a:solidFill>
              </a:rPr>
              <a:t>xfrm</a:t>
            </a:r>
            <a:r>
              <a:rPr lang="en-US" altLang="ja-JP" dirty="0">
                <a:solidFill>
                  <a:schemeClr val="dk1"/>
                </a:solidFill>
              </a:rPr>
              <a:t> policy</a:t>
            </a:r>
            <a:r>
              <a:rPr lang="ja-JP" altLang="en-US" dirty="0">
                <a:solidFill>
                  <a:schemeClr val="dk1"/>
                </a:solidFill>
              </a:rPr>
              <a:t>の見かた</a:t>
            </a:r>
            <a:endParaRPr kumimoji="1" lang="ja-JP" altLang="en-US" dirty="0"/>
          </a:p>
        </p:txBody>
      </p:sp>
      <p:pic>
        <p:nvPicPr>
          <p:cNvPr id="5" name="図 4">
            <a:extLst>
              <a:ext uri="{FF2B5EF4-FFF2-40B4-BE49-F238E27FC236}">
                <a16:creationId xmlns:a16="http://schemas.microsoft.com/office/drawing/2014/main" id="{4E10D61B-8A78-1F81-661C-6A4E4D5C4B6D}"/>
              </a:ext>
            </a:extLst>
          </p:cNvPr>
          <p:cNvPicPr>
            <a:picLocks noChangeAspect="1"/>
          </p:cNvPicPr>
          <p:nvPr/>
        </p:nvPicPr>
        <p:blipFill>
          <a:blip r:embed="rId2"/>
          <a:stretch>
            <a:fillRect/>
          </a:stretch>
        </p:blipFill>
        <p:spPr>
          <a:xfrm>
            <a:off x="5910033" y="1376233"/>
            <a:ext cx="3286584" cy="1857634"/>
          </a:xfrm>
          <a:prstGeom prst="rect">
            <a:avLst/>
          </a:prstGeom>
        </p:spPr>
      </p:pic>
      <p:pic>
        <p:nvPicPr>
          <p:cNvPr id="7" name="図 6">
            <a:extLst>
              <a:ext uri="{FF2B5EF4-FFF2-40B4-BE49-F238E27FC236}">
                <a16:creationId xmlns:a16="http://schemas.microsoft.com/office/drawing/2014/main" id="{1EE7FFA1-BF4C-D638-4BC0-8B9F89D81664}"/>
              </a:ext>
            </a:extLst>
          </p:cNvPr>
          <p:cNvPicPr>
            <a:picLocks noChangeAspect="1"/>
          </p:cNvPicPr>
          <p:nvPr/>
        </p:nvPicPr>
        <p:blipFill>
          <a:blip r:embed="rId3"/>
          <a:stretch>
            <a:fillRect/>
          </a:stretch>
        </p:blipFill>
        <p:spPr>
          <a:xfrm>
            <a:off x="514102" y="1690688"/>
            <a:ext cx="3543795" cy="924054"/>
          </a:xfrm>
          <a:prstGeom prst="rect">
            <a:avLst/>
          </a:prstGeom>
        </p:spPr>
      </p:pic>
      <p:pic>
        <p:nvPicPr>
          <p:cNvPr id="9" name="図 8">
            <a:extLst>
              <a:ext uri="{FF2B5EF4-FFF2-40B4-BE49-F238E27FC236}">
                <a16:creationId xmlns:a16="http://schemas.microsoft.com/office/drawing/2014/main" id="{80BB5975-263E-5A3F-9D5E-ECDC6E13429A}"/>
              </a:ext>
            </a:extLst>
          </p:cNvPr>
          <p:cNvPicPr>
            <a:picLocks noChangeAspect="1"/>
          </p:cNvPicPr>
          <p:nvPr/>
        </p:nvPicPr>
        <p:blipFill>
          <a:blip r:embed="rId4"/>
          <a:stretch>
            <a:fillRect/>
          </a:stretch>
        </p:blipFill>
        <p:spPr>
          <a:xfrm>
            <a:off x="8855761" y="1242864"/>
            <a:ext cx="1590897" cy="2124371"/>
          </a:xfrm>
          <a:prstGeom prst="rect">
            <a:avLst/>
          </a:prstGeom>
        </p:spPr>
      </p:pic>
      <p:pic>
        <p:nvPicPr>
          <p:cNvPr id="11" name="図 10">
            <a:extLst>
              <a:ext uri="{FF2B5EF4-FFF2-40B4-BE49-F238E27FC236}">
                <a16:creationId xmlns:a16="http://schemas.microsoft.com/office/drawing/2014/main" id="{DCC4A9C7-AB2A-69EF-B34B-94BAE130B809}"/>
              </a:ext>
            </a:extLst>
          </p:cNvPr>
          <p:cNvPicPr>
            <a:picLocks noChangeAspect="1"/>
          </p:cNvPicPr>
          <p:nvPr/>
        </p:nvPicPr>
        <p:blipFill>
          <a:blip r:embed="rId5"/>
          <a:stretch>
            <a:fillRect/>
          </a:stretch>
        </p:blipFill>
        <p:spPr>
          <a:xfrm>
            <a:off x="5830106" y="3233867"/>
            <a:ext cx="3105583" cy="1390844"/>
          </a:xfrm>
          <a:prstGeom prst="rect">
            <a:avLst/>
          </a:prstGeom>
        </p:spPr>
      </p:pic>
    </p:spTree>
    <p:extLst>
      <p:ext uri="{BB962C8B-B14F-4D97-AF65-F5344CB8AC3E}">
        <p14:creationId xmlns:p14="http://schemas.microsoft.com/office/powerpoint/2010/main" val="320372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AAA06A-3B33-CC21-8C34-397BDDDA63EB}"/>
              </a:ext>
            </a:extLst>
          </p:cNvPr>
          <p:cNvSpPr>
            <a:spLocks noGrp="1"/>
          </p:cNvSpPr>
          <p:nvPr>
            <p:ph type="title"/>
          </p:nvPr>
        </p:nvSpPr>
        <p:spPr/>
        <p:txBody>
          <a:bodyPr/>
          <a:lstStyle/>
          <a:p>
            <a:r>
              <a:rPr kumimoji="1" lang="en-US" altLang="ja-JP" dirty="0"/>
              <a:t>AWS CLI</a:t>
            </a:r>
            <a:r>
              <a:rPr kumimoji="1" lang="ja-JP" altLang="en-US" dirty="0"/>
              <a:t>の</a:t>
            </a:r>
            <a:r>
              <a:rPr kumimoji="1" lang="en-US" altLang="ja-JP" dirty="0"/>
              <a:t>Tips</a:t>
            </a:r>
            <a:endParaRPr kumimoji="1" lang="ja-JP" altLang="en-US" dirty="0"/>
          </a:p>
        </p:txBody>
      </p:sp>
      <p:pic>
        <p:nvPicPr>
          <p:cNvPr id="5" name="図 4">
            <a:extLst>
              <a:ext uri="{FF2B5EF4-FFF2-40B4-BE49-F238E27FC236}">
                <a16:creationId xmlns:a16="http://schemas.microsoft.com/office/drawing/2014/main" id="{6CBF8AB6-C9AE-C340-8875-F20B5F38BFF4}"/>
              </a:ext>
            </a:extLst>
          </p:cNvPr>
          <p:cNvPicPr>
            <a:picLocks noChangeAspect="1"/>
          </p:cNvPicPr>
          <p:nvPr/>
        </p:nvPicPr>
        <p:blipFill>
          <a:blip r:embed="rId2"/>
          <a:stretch>
            <a:fillRect/>
          </a:stretch>
        </p:blipFill>
        <p:spPr>
          <a:xfrm>
            <a:off x="311177" y="1552575"/>
            <a:ext cx="4756623" cy="2138588"/>
          </a:xfrm>
          <a:prstGeom prst="rect">
            <a:avLst/>
          </a:prstGeom>
        </p:spPr>
      </p:pic>
      <p:pic>
        <p:nvPicPr>
          <p:cNvPr id="7" name="図 6">
            <a:extLst>
              <a:ext uri="{FF2B5EF4-FFF2-40B4-BE49-F238E27FC236}">
                <a16:creationId xmlns:a16="http://schemas.microsoft.com/office/drawing/2014/main" id="{FF807A31-D8B4-703A-0037-2EB5ED72BAA5}"/>
              </a:ext>
            </a:extLst>
          </p:cNvPr>
          <p:cNvPicPr>
            <a:picLocks noChangeAspect="1"/>
          </p:cNvPicPr>
          <p:nvPr/>
        </p:nvPicPr>
        <p:blipFill>
          <a:blip r:embed="rId3"/>
          <a:stretch>
            <a:fillRect/>
          </a:stretch>
        </p:blipFill>
        <p:spPr>
          <a:xfrm>
            <a:off x="238124" y="3979088"/>
            <a:ext cx="5267813" cy="2102819"/>
          </a:xfrm>
          <a:prstGeom prst="rect">
            <a:avLst/>
          </a:prstGeom>
        </p:spPr>
      </p:pic>
      <p:pic>
        <p:nvPicPr>
          <p:cNvPr id="11" name="図 10">
            <a:extLst>
              <a:ext uri="{FF2B5EF4-FFF2-40B4-BE49-F238E27FC236}">
                <a16:creationId xmlns:a16="http://schemas.microsoft.com/office/drawing/2014/main" id="{ADB9F40F-CA22-C0EE-0E47-91841A1362F5}"/>
              </a:ext>
            </a:extLst>
          </p:cNvPr>
          <p:cNvPicPr>
            <a:picLocks noChangeAspect="1"/>
          </p:cNvPicPr>
          <p:nvPr/>
        </p:nvPicPr>
        <p:blipFill>
          <a:blip r:embed="rId4"/>
          <a:stretch>
            <a:fillRect/>
          </a:stretch>
        </p:blipFill>
        <p:spPr>
          <a:xfrm>
            <a:off x="5067800" y="106750"/>
            <a:ext cx="4447675" cy="3479230"/>
          </a:xfrm>
          <a:prstGeom prst="rect">
            <a:avLst/>
          </a:prstGeom>
        </p:spPr>
      </p:pic>
      <p:pic>
        <p:nvPicPr>
          <p:cNvPr id="13" name="図 12">
            <a:extLst>
              <a:ext uri="{FF2B5EF4-FFF2-40B4-BE49-F238E27FC236}">
                <a16:creationId xmlns:a16="http://schemas.microsoft.com/office/drawing/2014/main" id="{30EF97A7-069B-78CC-61FC-409B73BB6D7B}"/>
              </a:ext>
            </a:extLst>
          </p:cNvPr>
          <p:cNvPicPr>
            <a:picLocks noChangeAspect="1"/>
          </p:cNvPicPr>
          <p:nvPr/>
        </p:nvPicPr>
        <p:blipFill>
          <a:blip r:embed="rId5"/>
          <a:stretch>
            <a:fillRect/>
          </a:stretch>
        </p:blipFill>
        <p:spPr>
          <a:xfrm>
            <a:off x="5410687" y="3542935"/>
            <a:ext cx="3981436" cy="1397976"/>
          </a:xfrm>
          <a:prstGeom prst="rect">
            <a:avLst/>
          </a:prstGeom>
        </p:spPr>
      </p:pic>
      <p:sp>
        <p:nvSpPr>
          <p:cNvPr id="15" name="テキスト ボックス 14">
            <a:extLst>
              <a:ext uri="{FF2B5EF4-FFF2-40B4-BE49-F238E27FC236}">
                <a16:creationId xmlns:a16="http://schemas.microsoft.com/office/drawing/2014/main" id="{99E63EDF-7801-5AF2-B6AF-F113C8675589}"/>
              </a:ext>
            </a:extLst>
          </p:cNvPr>
          <p:cNvSpPr txBox="1"/>
          <p:nvPr/>
        </p:nvSpPr>
        <p:spPr>
          <a:xfrm>
            <a:off x="7601430" y="919440"/>
            <a:ext cx="4362450" cy="369332"/>
          </a:xfrm>
          <a:prstGeom prst="rect">
            <a:avLst/>
          </a:prstGeom>
          <a:noFill/>
        </p:spPr>
        <p:txBody>
          <a:bodyPr wrap="square">
            <a:spAutoFit/>
          </a:bodyPr>
          <a:lstStyle/>
          <a:p>
            <a:r>
              <a:rPr lang="ja-JP" altLang="en-US" dirty="0"/>
              <a:t>(Get-Command aws_completer).Source</a:t>
            </a:r>
          </a:p>
        </p:txBody>
      </p:sp>
      <p:sp>
        <p:nvSpPr>
          <p:cNvPr id="17" name="テキスト ボックス 16">
            <a:extLst>
              <a:ext uri="{FF2B5EF4-FFF2-40B4-BE49-F238E27FC236}">
                <a16:creationId xmlns:a16="http://schemas.microsoft.com/office/drawing/2014/main" id="{3FAC7E61-B053-5341-85E2-B84F7EA5D577}"/>
              </a:ext>
            </a:extLst>
          </p:cNvPr>
          <p:cNvSpPr txBox="1"/>
          <p:nvPr/>
        </p:nvSpPr>
        <p:spPr>
          <a:xfrm>
            <a:off x="8787543" y="2235088"/>
            <a:ext cx="3556858" cy="1446550"/>
          </a:xfrm>
          <a:prstGeom prst="rect">
            <a:avLst/>
          </a:prstGeom>
          <a:noFill/>
        </p:spPr>
        <p:txBody>
          <a:bodyPr wrap="square">
            <a:spAutoFit/>
          </a:bodyPr>
          <a:lstStyle/>
          <a:p>
            <a:r>
              <a:rPr lang="ja-JP" altLang="en-US" sz="800" dirty="0"/>
              <a:t>Register-ArgumentCompleter -Native -CommandName aws -ScriptBlock {</a:t>
            </a:r>
          </a:p>
          <a:p>
            <a:r>
              <a:rPr lang="ja-JP" altLang="en-US" sz="800" dirty="0"/>
              <a:t>    param($commandName, $wordToComplete, $cursorPosition)</a:t>
            </a:r>
          </a:p>
          <a:p>
            <a:r>
              <a:rPr lang="ja-JP" altLang="en-US" sz="800" dirty="0"/>
              <a:t>    $completer = "C:\Program Files\Amazon\AWSCLIV2\aws_completer.exe"</a:t>
            </a:r>
          </a:p>
          <a:p>
            <a:r>
              <a:rPr lang="ja-JP" altLang="en-US" sz="800" dirty="0"/>
              <a:t>    $env:COMP_LINE = $wordToComplete</a:t>
            </a:r>
          </a:p>
          <a:p>
            <a:r>
              <a:rPr lang="ja-JP" altLang="en-US" sz="800" dirty="0"/>
              <a:t>    &amp; $completer | ForEach-Object {</a:t>
            </a:r>
          </a:p>
          <a:p>
            <a:r>
              <a:rPr lang="ja-JP" altLang="en-US" sz="800" dirty="0"/>
              <a:t>        [System.Management.Automation.CompletionResult]::new($_, $_, 'ParameterValue', $_)</a:t>
            </a:r>
          </a:p>
          <a:p>
            <a:r>
              <a:rPr lang="ja-JP" altLang="en-US" sz="800" dirty="0"/>
              <a:t>    }</a:t>
            </a:r>
          </a:p>
          <a:p>
            <a:r>
              <a:rPr lang="ja-JP" altLang="en-US" sz="800" dirty="0"/>
              <a:t>}</a:t>
            </a:r>
          </a:p>
        </p:txBody>
      </p:sp>
      <p:sp>
        <p:nvSpPr>
          <p:cNvPr id="19" name="テキスト ボックス 18">
            <a:extLst>
              <a:ext uri="{FF2B5EF4-FFF2-40B4-BE49-F238E27FC236}">
                <a16:creationId xmlns:a16="http://schemas.microsoft.com/office/drawing/2014/main" id="{92082596-3A99-3807-706C-5AB50AB6412E}"/>
              </a:ext>
            </a:extLst>
          </p:cNvPr>
          <p:cNvSpPr txBox="1"/>
          <p:nvPr/>
        </p:nvSpPr>
        <p:spPr>
          <a:xfrm>
            <a:off x="7291637" y="5038117"/>
            <a:ext cx="4756623" cy="400110"/>
          </a:xfrm>
          <a:prstGeom prst="rect">
            <a:avLst/>
          </a:prstGeom>
          <a:noFill/>
        </p:spPr>
        <p:txBody>
          <a:bodyPr wrap="square">
            <a:spAutoFit/>
          </a:bodyPr>
          <a:lstStyle/>
          <a:p>
            <a:r>
              <a:rPr lang="ja-JP" altLang="en-US" sz="1000" dirty="0"/>
              <a:t>if (!(Test-Path $PROFILE)) { New-Item -Type File -Path $PROFILE -Force }</a:t>
            </a:r>
          </a:p>
          <a:p>
            <a:r>
              <a:rPr lang="ja-JP" altLang="en-US" sz="1000" dirty="0"/>
              <a:t>notepad $PROFILE</a:t>
            </a:r>
          </a:p>
        </p:txBody>
      </p:sp>
    </p:spTree>
    <p:extLst>
      <p:ext uri="{BB962C8B-B14F-4D97-AF65-F5344CB8AC3E}">
        <p14:creationId xmlns:p14="http://schemas.microsoft.com/office/powerpoint/2010/main" val="2388759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897B10-0F41-C408-4283-8865414D2F3A}"/>
              </a:ext>
            </a:extLst>
          </p:cNvPr>
          <p:cNvSpPr>
            <a:spLocks noGrp="1"/>
          </p:cNvSpPr>
          <p:nvPr>
            <p:ph type="title"/>
          </p:nvPr>
        </p:nvSpPr>
        <p:spPr/>
        <p:txBody>
          <a:bodyPr/>
          <a:lstStyle/>
          <a:p>
            <a:r>
              <a:rPr kumimoji="1" lang="en-US" altLang="ja-JP" dirty="0"/>
              <a:t>AWS</a:t>
            </a:r>
            <a:r>
              <a:rPr kumimoji="1" lang="ja-JP" altLang="en-US" dirty="0"/>
              <a:t>　</a:t>
            </a:r>
            <a:r>
              <a:rPr kumimoji="1" lang="en-US" altLang="ja-JP" dirty="0"/>
              <a:t>CLI</a:t>
            </a:r>
            <a:r>
              <a:rPr kumimoji="1" lang="ja-JP" altLang="en-US" dirty="0"/>
              <a:t>コマンド</a:t>
            </a:r>
          </a:p>
        </p:txBody>
      </p:sp>
      <p:graphicFrame>
        <p:nvGraphicFramePr>
          <p:cNvPr id="4" name="表 3">
            <a:extLst>
              <a:ext uri="{FF2B5EF4-FFF2-40B4-BE49-F238E27FC236}">
                <a16:creationId xmlns:a16="http://schemas.microsoft.com/office/drawing/2014/main" id="{8B64790B-7D34-9563-8F90-3AC6D3BE0EA3}"/>
              </a:ext>
            </a:extLst>
          </p:cNvPr>
          <p:cNvGraphicFramePr>
            <a:graphicFrameLocks noGrp="1"/>
          </p:cNvGraphicFramePr>
          <p:nvPr>
            <p:extLst>
              <p:ext uri="{D42A27DB-BD31-4B8C-83A1-F6EECF244321}">
                <p14:modId xmlns:p14="http://schemas.microsoft.com/office/powerpoint/2010/main" val="3689393030"/>
              </p:ext>
            </p:extLst>
          </p:nvPr>
        </p:nvGraphicFramePr>
        <p:xfrm>
          <a:off x="293065" y="1825627"/>
          <a:ext cx="11723343" cy="2153965"/>
        </p:xfrm>
        <a:graphic>
          <a:graphicData uri="http://schemas.openxmlformats.org/drawingml/2006/table">
            <a:tbl>
              <a:tblPr/>
              <a:tblGrid>
                <a:gridCol w="1383335">
                  <a:extLst>
                    <a:ext uri="{9D8B030D-6E8A-4147-A177-3AD203B41FA5}">
                      <a16:colId xmlns:a16="http://schemas.microsoft.com/office/drawing/2014/main" val="848915649"/>
                    </a:ext>
                  </a:extLst>
                </a:gridCol>
                <a:gridCol w="5845493">
                  <a:extLst>
                    <a:ext uri="{9D8B030D-6E8A-4147-A177-3AD203B41FA5}">
                      <a16:colId xmlns:a16="http://schemas.microsoft.com/office/drawing/2014/main" val="4142533856"/>
                    </a:ext>
                  </a:extLst>
                </a:gridCol>
                <a:gridCol w="4494515">
                  <a:extLst>
                    <a:ext uri="{9D8B030D-6E8A-4147-A177-3AD203B41FA5}">
                      <a16:colId xmlns:a16="http://schemas.microsoft.com/office/drawing/2014/main" val="3780294219"/>
                    </a:ext>
                  </a:extLst>
                </a:gridCol>
              </a:tblGrid>
              <a:tr h="331305">
                <a:tc>
                  <a:txBody>
                    <a:bodyPr/>
                    <a:lstStyle/>
                    <a:p>
                      <a:pPr rtl="0">
                        <a:buNone/>
                      </a:pPr>
                      <a:r>
                        <a:rPr lang="ja-JP" altLang="en-US" sz="900" b="1" dirty="0">
                          <a:solidFill>
                            <a:srgbClr val="1F1F1F"/>
                          </a:solidFill>
                          <a:effectLst/>
                          <a:latin typeface="Google Sans Text"/>
                        </a:rPr>
                        <a:t>操作内容</a:t>
                      </a:r>
                      <a:endParaRPr lang="ja-JP" alt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900" b="1" dirty="0">
                          <a:solidFill>
                            <a:srgbClr val="1F1F1F"/>
                          </a:solidFill>
                          <a:effectLst/>
                          <a:latin typeface="Google Sans Text"/>
                        </a:rPr>
                        <a:t>AWS CLI </a:t>
                      </a:r>
                      <a:r>
                        <a:rPr lang="ja-JP" altLang="en-US" sz="900" b="1" dirty="0">
                          <a:solidFill>
                            <a:srgbClr val="1F1F1F"/>
                          </a:solidFill>
                          <a:effectLst/>
                          <a:latin typeface="Google Sans Text"/>
                        </a:rPr>
                        <a:t>コマンド</a:t>
                      </a:r>
                      <a:endParaRPr lang="ja-JP" alt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900" b="1">
                          <a:solidFill>
                            <a:srgbClr val="1F1F1F"/>
                          </a:solidFill>
                          <a:effectLst/>
                          <a:latin typeface="Google Sans Text"/>
                        </a:rPr>
                        <a:t>備考</a:t>
                      </a:r>
                      <a:endParaRPr lang="ja-JP" altLang="en-US" sz="900">
                        <a:solidFill>
                          <a:srgbClr val="1F1F1F"/>
                        </a:solidFill>
                        <a:effectLst/>
                        <a:latin typeface="Google Sans Text"/>
                      </a:endParaRPr>
                    </a:p>
                  </a:txBody>
                  <a:tcPr marL="87611" marR="87611"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461600"/>
                  </a:ext>
                </a:extLst>
              </a:tr>
              <a:tr h="437181">
                <a:tc>
                  <a:txBody>
                    <a:bodyPr/>
                    <a:lstStyle/>
                    <a:p>
                      <a:pPr rtl="0">
                        <a:buNone/>
                      </a:pPr>
                      <a:r>
                        <a:rPr lang="en-US" sz="900" b="1" dirty="0">
                          <a:solidFill>
                            <a:srgbClr val="1F1F1F"/>
                          </a:solidFill>
                          <a:effectLst/>
                          <a:latin typeface="Google Sans Text"/>
                        </a:rPr>
                        <a:t>EC2</a:t>
                      </a:r>
                      <a:r>
                        <a:rPr lang="ja-JP" altLang="en-US" sz="900" b="1" dirty="0">
                          <a:solidFill>
                            <a:srgbClr val="1F1F1F"/>
                          </a:solidFill>
                          <a:effectLst/>
                          <a:latin typeface="Google Sans Text"/>
                        </a:rPr>
                        <a:t>リスト取得</a:t>
                      </a:r>
                      <a:endParaRPr lang="ja-JP" alt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900" dirty="0" err="1">
                          <a:solidFill>
                            <a:srgbClr val="1F1F1F"/>
                          </a:solidFill>
                          <a:effectLst/>
                          <a:latin typeface="Google Sans Text"/>
                        </a:rPr>
                        <a:t>aws</a:t>
                      </a:r>
                      <a:r>
                        <a:rPr lang="en-US" sz="900" dirty="0">
                          <a:solidFill>
                            <a:srgbClr val="1F1F1F"/>
                          </a:solidFill>
                          <a:effectLst/>
                          <a:latin typeface="Google Sans Text"/>
                        </a:rPr>
                        <a:t> ec2 describe-instances --query 'Reservations[].Instances[].{</a:t>
                      </a:r>
                      <a:r>
                        <a:rPr lang="en-US" sz="900" dirty="0" err="1">
                          <a:solidFill>
                            <a:srgbClr val="1F1F1F"/>
                          </a:solidFill>
                          <a:effectLst/>
                          <a:latin typeface="Google Sans Text"/>
                        </a:rPr>
                        <a:t>ID:InstanceId,Name:Tags</a:t>
                      </a:r>
                      <a:r>
                        <a:rPr lang="en-US" sz="900" dirty="0">
                          <a:solidFill>
                            <a:srgbClr val="1F1F1F"/>
                          </a:solidFill>
                          <a:effectLst/>
                          <a:latin typeface="Google Sans Text"/>
                        </a:rPr>
                        <a:t>[?Key==`Name`].Value | [0]}'</a:t>
                      </a: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900">
                          <a:solidFill>
                            <a:srgbClr val="1F1F1F"/>
                          </a:solidFill>
                          <a:effectLst/>
                          <a:latin typeface="Google Sans Text"/>
                        </a:rPr>
                        <a:t>[0],State:State.Name,PrivateIP:PrivateIpAddress,PublicIP:PublicIpAddress}' --output table`</a:t>
                      </a:r>
                    </a:p>
                  </a:txBody>
                  <a:tcPr marL="87611" marR="87611"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613626"/>
                  </a:ext>
                </a:extLst>
              </a:tr>
              <a:tr h="331305">
                <a:tc>
                  <a:txBody>
                    <a:bodyPr/>
                    <a:lstStyle/>
                    <a:p>
                      <a:pPr rtl="0">
                        <a:buNone/>
                      </a:pPr>
                      <a:r>
                        <a:rPr lang="en-US" sz="900" b="1" dirty="0">
                          <a:solidFill>
                            <a:srgbClr val="1F1F1F"/>
                          </a:solidFill>
                          <a:effectLst/>
                          <a:latin typeface="Google Sans Text"/>
                        </a:rPr>
                        <a:t>EC2</a:t>
                      </a:r>
                      <a:r>
                        <a:rPr lang="ja-JP" altLang="en-US" sz="900" b="1" dirty="0">
                          <a:solidFill>
                            <a:srgbClr val="1F1F1F"/>
                          </a:solidFill>
                          <a:effectLst/>
                          <a:latin typeface="Google Sans Text"/>
                        </a:rPr>
                        <a:t>の停止</a:t>
                      </a:r>
                      <a:endParaRPr lang="ja-JP" alt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900" dirty="0" err="1">
                          <a:solidFill>
                            <a:srgbClr val="444746"/>
                          </a:solidFill>
                          <a:effectLst/>
                          <a:latin typeface="Google Sans Text"/>
                        </a:rPr>
                        <a:t>aws</a:t>
                      </a:r>
                      <a:r>
                        <a:rPr lang="en-US" sz="900" dirty="0">
                          <a:solidFill>
                            <a:srgbClr val="444746"/>
                          </a:solidFill>
                          <a:effectLst/>
                          <a:latin typeface="Google Sans Text"/>
                        </a:rPr>
                        <a:t> ec2 stop-instances --instance-ids &lt;ID&gt;</a:t>
                      </a:r>
                      <a:endParaRPr 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endParaRPr lang="ja-JP" altLang="en-US" sz="900">
                        <a:solidFill>
                          <a:srgbClr val="1F1F1F"/>
                        </a:solidFill>
                        <a:effectLst/>
                        <a:latin typeface="Google Sans Text"/>
                      </a:endParaRPr>
                    </a:p>
                  </a:txBody>
                  <a:tcPr marL="87611" marR="87611"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3134153"/>
                  </a:ext>
                </a:extLst>
              </a:tr>
              <a:tr h="331305">
                <a:tc>
                  <a:txBody>
                    <a:bodyPr/>
                    <a:lstStyle/>
                    <a:p>
                      <a:pPr rtl="0">
                        <a:buNone/>
                      </a:pPr>
                      <a:r>
                        <a:rPr lang="en-US" sz="900" b="1" dirty="0">
                          <a:solidFill>
                            <a:srgbClr val="1F1F1F"/>
                          </a:solidFill>
                          <a:effectLst/>
                          <a:latin typeface="Google Sans Text"/>
                        </a:rPr>
                        <a:t>EC2</a:t>
                      </a:r>
                      <a:r>
                        <a:rPr lang="ja-JP" altLang="en-US" sz="900" b="1" dirty="0">
                          <a:solidFill>
                            <a:srgbClr val="1F1F1F"/>
                          </a:solidFill>
                          <a:effectLst/>
                          <a:latin typeface="Google Sans Text"/>
                        </a:rPr>
                        <a:t>の起動</a:t>
                      </a:r>
                      <a:endParaRPr lang="ja-JP" alt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900">
                          <a:solidFill>
                            <a:srgbClr val="444746"/>
                          </a:solidFill>
                          <a:effectLst/>
                          <a:latin typeface="Google Sans Text"/>
                        </a:rPr>
                        <a:t>aws ec2 start-instances --instance-ids &lt;ID&gt;</a:t>
                      </a:r>
                      <a:endParaRPr lang="en-US" sz="90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endParaRPr lang="ja-JP" altLang="en-US" sz="900">
                        <a:solidFill>
                          <a:srgbClr val="1F1F1F"/>
                        </a:solidFill>
                        <a:effectLst/>
                        <a:latin typeface="Google Sans Text"/>
                      </a:endParaRPr>
                    </a:p>
                  </a:txBody>
                  <a:tcPr marL="87611" marR="87611"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0829335"/>
                  </a:ext>
                </a:extLst>
              </a:tr>
              <a:tr h="331305">
                <a:tc>
                  <a:txBody>
                    <a:bodyPr/>
                    <a:lstStyle/>
                    <a:p>
                      <a:pPr rtl="0">
                        <a:buNone/>
                      </a:pPr>
                      <a:r>
                        <a:rPr lang="en-US" sz="900" b="1" dirty="0">
                          <a:solidFill>
                            <a:srgbClr val="1F1F1F"/>
                          </a:solidFill>
                          <a:effectLst/>
                          <a:latin typeface="Google Sans Text"/>
                        </a:rPr>
                        <a:t>EC2</a:t>
                      </a:r>
                      <a:r>
                        <a:rPr lang="ja-JP" altLang="en-US" sz="900" b="1" dirty="0">
                          <a:solidFill>
                            <a:srgbClr val="1F1F1F"/>
                          </a:solidFill>
                          <a:effectLst/>
                          <a:latin typeface="Google Sans Text"/>
                        </a:rPr>
                        <a:t>の削除</a:t>
                      </a:r>
                      <a:endParaRPr lang="ja-JP" alt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900" dirty="0" err="1">
                          <a:solidFill>
                            <a:srgbClr val="444746"/>
                          </a:solidFill>
                          <a:effectLst/>
                          <a:latin typeface="Google Sans Text"/>
                        </a:rPr>
                        <a:t>aws</a:t>
                      </a:r>
                      <a:r>
                        <a:rPr lang="en-US" sz="900" dirty="0">
                          <a:solidFill>
                            <a:srgbClr val="444746"/>
                          </a:solidFill>
                          <a:effectLst/>
                          <a:latin typeface="Google Sans Text"/>
                        </a:rPr>
                        <a:t> ec2 terminate-instances --instance-ids &lt;ID&gt;</a:t>
                      </a:r>
                      <a:endParaRPr lang="en-US" sz="900" dirty="0">
                        <a:solidFill>
                          <a:srgbClr val="1F1F1F"/>
                        </a:solidFill>
                        <a:effectLst/>
                        <a:latin typeface="Google Sans Text"/>
                      </a:endParaRPr>
                    </a:p>
                  </a:txBody>
                  <a:tcPr marL="87611" marR="109514"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endParaRPr lang="ja-JP" altLang="en-US" sz="900" dirty="0">
                        <a:solidFill>
                          <a:srgbClr val="1F1F1F"/>
                        </a:solidFill>
                        <a:effectLst/>
                        <a:latin typeface="Google Sans Text"/>
                      </a:endParaRPr>
                    </a:p>
                  </a:txBody>
                  <a:tcPr marL="87611" marR="87611" marT="146018" marB="1460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9972249"/>
                  </a:ext>
                </a:extLst>
              </a:tr>
            </a:tbl>
          </a:graphicData>
        </a:graphic>
      </p:graphicFrame>
      <p:graphicFrame>
        <p:nvGraphicFramePr>
          <p:cNvPr id="5" name="表 4">
            <a:extLst>
              <a:ext uri="{FF2B5EF4-FFF2-40B4-BE49-F238E27FC236}">
                <a16:creationId xmlns:a16="http://schemas.microsoft.com/office/drawing/2014/main" id="{C1CC18B0-32E1-03B3-ABB6-BA97DE6FD84E}"/>
              </a:ext>
            </a:extLst>
          </p:cNvPr>
          <p:cNvGraphicFramePr>
            <a:graphicFrameLocks noGrp="1"/>
          </p:cNvGraphicFramePr>
          <p:nvPr>
            <p:extLst>
              <p:ext uri="{D42A27DB-BD31-4B8C-83A1-F6EECF244321}">
                <p14:modId xmlns:p14="http://schemas.microsoft.com/office/powerpoint/2010/main" val="3581265929"/>
              </p:ext>
            </p:extLst>
          </p:nvPr>
        </p:nvGraphicFramePr>
        <p:xfrm>
          <a:off x="293066" y="4243706"/>
          <a:ext cx="11433591" cy="2078535"/>
        </p:xfrm>
        <a:graphic>
          <a:graphicData uri="http://schemas.openxmlformats.org/drawingml/2006/table">
            <a:tbl>
              <a:tblPr/>
              <a:tblGrid>
                <a:gridCol w="1450999">
                  <a:extLst>
                    <a:ext uri="{9D8B030D-6E8A-4147-A177-3AD203B41FA5}">
                      <a16:colId xmlns:a16="http://schemas.microsoft.com/office/drawing/2014/main" val="60962960"/>
                    </a:ext>
                  </a:extLst>
                </a:gridCol>
                <a:gridCol w="6431249">
                  <a:extLst>
                    <a:ext uri="{9D8B030D-6E8A-4147-A177-3AD203B41FA5}">
                      <a16:colId xmlns:a16="http://schemas.microsoft.com/office/drawing/2014/main" val="1859440868"/>
                    </a:ext>
                  </a:extLst>
                </a:gridCol>
                <a:gridCol w="3551343">
                  <a:extLst>
                    <a:ext uri="{9D8B030D-6E8A-4147-A177-3AD203B41FA5}">
                      <a16:colId xmlns:a16="http://schemas.microsoft.com/office/drawing/2014/main" val="923242011"/>
                    </a:ext>
                  </a:extLst>
                </a:gridCol>
              </a:tblGrid>
              <a:tr h="470995">
                <a:tc>
                  <a:txBody>
                    <a:bodyPr/>
                    <a:lstStyle/>
                    <a:p>
                      <a:pPr rtl="0">
                        <a:buNone/>
                      </a:pPr>
                      <a:r>
                        <a:rPr lang="en-US" sz="1000" b="1" dirty="0">
                          <a:solidFill>
                            <a:srgbClr val="1F1F1F"/>
                          </a:solidFill>
                          <a:effectLst/>
                          <a:latin typeface="Google Sans Text"/>
                        </a:rPr>
                        <a:t>SG</a:t>
                      </a:r>
                      <a:r>
                        <a:rPr lang="ja-JP" altLang="en-US" sz="1000" b="1" dirty="0">
                          <a:solidFill>
                            <a:srgbClr val="1F1F1F"/>
                          </a:solidFill>
                          <a:effectLst/>
                          <a:latin typeface="Google Sans Text"/>
                        </a:rPr>
                        <a:t>の確認</a:t>
                      </a:r>
                      <a:endParaRPr lang="ja-JP" altLang="en-US" sz="1000" dirty="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dirty="0" err="1">
                          <a:solidFill>
                            <a:srgbClr val="444746"/>
                          </a:solidFill>
                          <a:effectLst/>
                          <a:latin typeface="Google Sans Text"/>
                        </a:rPr>
                        <a:t>aws</a:t>
                      </a:r>
                      <a:r>
                        <a:rPr lang="en-US" sz="1000" dirty="0">
                          <a:solidFill>
                            <a:srgbClr val="444746"/>
                          </a:solidFill>
                          <a:effectLst/>
                          <a:latin typeface="Google Sans Text"/>
                        </a:rPr>
                        <a:t> ec2 describe-security-groups --query '</a:t>
                      </a:r>
                      <a:r>
                        <a:rPr lang="en-US" sz="1000" dirty="0" err="1">
                          <a:solidFill>
                            <a:srgbClr val="444746"/>
                          </a:solidFill>
                          <a:effectLst/>
                          <a:latin typeface="Google Sans Text"/>
                        </a:rPr>
                        <a:t>SecurityGroups</a:t>
                      </a:r>
                      <a:r>
                        <a:rPr lang="en-US" sz="1000" dirty="0">
                          <a:solidFill>
                            <a:srgbClr val="444746"/>
                          </a:solidFill>
                          <a:effectLst/>
                          <a:latin typeface="Google Sans Text"/>
                        </a:rPr>
                        <a:t>[*].{</a:t>
                      </a:r>
                      <a:r>
                        <a:rPr lang="en-US" sz="1000" dirty="0" err="1">
                          <a:solidFill>
                            <a:srgbClr val="444746"/>
                          </a:solidFill>
                          <a:effectLst/>
                          <a:latin typeface="Google Sans Text"/>
                        </a:rPr>
                        <a:t>Name:GroupName,ID:GroupId,Rules:IpPermissions</a:t>
                      </a:r>
                      <a:r>
                        <a:rPr lang="en-US" sz="1000" dirty="0">
                          <a:solidFill>
                            <a:srgbClr val="444746"/>
                          </a:solidFill>
                          <a:effectLst/>
                          <a:latin typeface="Google Sans Text"/>
                        </a:rPr>
                        <a:t>}' --output </a:t>
                      </a:r>
                      <a:r>
                        <a:rPr lang="en-US" sz="1000" dirty="0" err="1">
                          <a:solidFill>
                            <a:srgbClr val="444746"/>
                          </a:solidFill>
                          <a:effectLst/>
                          <a:latin typeface="Google Sans Text"/>
                        </a:rPr>
                        <a:t>json</a:t>
                      </a:r>
                      <a:endParaRPr lang="en-US" sz="1000" dirty="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000" dirty="0">
                          <a:solidFill>
                            <a:srgbClr val="1F1F1F"/>
                          </a:solidFill>
                          <a:effectLst/>
                          <a:latin typeface="Google Sans Text"/>
                        </a:rPr>
                        <a:t>リージョン内の全</a:t>
                      </a:r>
                      <a:r>
                        <a:rPr lang="en-US" altLang="ja-JP" sz="1000" dirty="0">
                          <a:solidFill>
                            <a:srgbClr val="1F1F1F"/>
                          </a:solidFill>
                          <a:effectLst/>
                          <a:latin typeface="Google Sans Text"/>
                        </a:rPr>
                        <a:t>SG</a:t>
                      </a:r>
                      <a:r>
                        <a:rPr lang="ja-JP" altLang="en-US" sz="1000" dirty="0">
                          <a:solidFill>
                            <a:srgbClr val="1F1F1F"/>
                          </a:solidFill>
                          <a:effectLst/>
                          <a:latin typeface="Google Sans Text"/>
                        </a:rPr>
                        <a:t>とルールを表示</a:t>
                      </a:r>
                    </a:p>
                  </a:txBody>
                  <a:tcPr marL="50597" marR="50597"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705433"/>
                  </a:ext>
                </a:extLst>
              </a:tr>
              <a:tr h="393923">
                <a:tc>
                  <a:txBody>
                    <a:bodyPr/>
                    <a:lstStyle/>
                    <a:p>
                      <a:pPr rtl="0">
                        <a:buNone/>
                      </a:pPr>
                      <a:r>
                        <a:rPr lang="en-US" altLang="ja-JP" sz="1000" b="1">
                          <a:solidFill>
                            <a:srgbClr val="1F1F1F"/>
                          </a:solidFill>
                          <a:effectLst/>
                          <a:latin typeface="Google Sans Text"/>
                        </a:rPr>
                        <a:t>SG</a:t>
                      </a:r>
                      <a:r>
                        <a:rPr lang="ja-JP" altLang="en-US" sz="1000" b="1">
                          <a:solidFill>
                            <a:srgbClr val="1F1F1F"/>
                          </a:solidFill>
                          <a:effectLst/>
                          <a:latin typeface="Google Sans Text"/>
                        </a:rPr>
                        <a:t>のルール追加</a:t>
                      </a:r>
                      <a:endParaRPr lang="ja-JP" altLang="en-US" sz="100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dirty="0" err="1">
                          <a:solidFill>
                            <a:srgbClr val="444746"/>
                          </a:solidFill>
                          <a:effectLst/>
                          <a:latin typeface="Google Sans Text"/>
                        </a:rPr>
                        <a:t>aws</a:t>
                      </a:r>
                      <a:r>
                        <a:rPr lang="en-US" sz="1000" dirty="0">
                          <a:solidFill>
                            <a:srgbClr val="444746"/>
                          </a:solidFill>
                          <a:effectLst/>
                          <a:latin typeface="Google Sans Text"/>
                        </a:rPr>
                        <a:t> ec2 authorize-security-group-ingress --group-id &lt;ID&gt; --protocol &lt;</a:t>
                      </a:r>
                      <a:r>
                        <a:rPr lang="en-US" sz="1000" dirty="0" err="1">
                          <a:solidFill>
                            <a:srgbClr val="444746"/>
                          </a:solidFill>
                          <a:effectLst/>
                          <a:latin typeface="Google Sans Text"/>
                        </a:rPr>
                        <a:t>tcp</a:t>
                      </a:r>
                      <a:r>
                        <a:rPr lang="en-US" sz="1000" dirty="0">
                          <a:solidFill>
                            <a:srgbClr val="444746"/>
                          </a:solidFill>
                          <a:effectLst/>
                          <a:latin typeface="Google Sans Text"/>
                        </a:rPr>
                        <a:t>/</a:t>
                      </a:r>
                      <a:r>
                        <a:rPr lang="en-US" sz="1000" dirty="0" err="1">
                          <a:solidFill>
                            <a:srgbClr val="444746"/>
                          </a:solidFill>
                          <a:effectLst/>
                          <a:latin typeface="Google Sans Text"/>
                        </a:rPr>
                        <a:t>udp</a:t>
                      </a:r>
                      <a:r>
                        <a:rPr lang="en-US" sz="1000" dirty="0">
                          <a:solidFill>
                            <a:srgbClr val="444746"/>
                          </a:solidFill>
                          <a:effectLst/>
                          <a:latin typeface="Google Sans Text"/>
                        </a:rPr>
                        <a:t>/</a:t>
                      </a:r>
                      <a:r>
                        <a:rPr lang="en-US" sz="1000" dirty="0" err="1">
                          <a:solidFill>
                            <a:srgbClr val="444746"/>
                          </a:solidFill>
                          <a:effectLst/>
                          <a:latin typeface="Google Sans Text"/>
                        </a:rPr>
                        <a:t>icmp</a:t>
                      </a:r>
                      <a:r>
                        <a:rPr lang="en-US" sz="1000" dirty="0">
                          <a:solidFill>
                            <a:srgbClr val="444746"/>
                          </a:solidFill>
                          <a:effectLst/>
                          <a:latin typeface="Google Sans Text"/>
                        </a:rPr>
                        <a:t>&gt; --port &lt;</a:t>
                      </a:r>
                      <a:r>
                        <a:rPr lang="ja-JP" altLang="en-US" sz="1000" dirty="0">
                          <a:solidFill>
                            <a:srgbClr val="444746"/>
                          </a:solidFill>
                          <a:effectLst/>
                          <a:latin typeface="Google Sans Text"/>
                        </a:rPr>
                        <a:t>番号</a:t>
                      </a:r>
                      <a:r>
                        <a:rPr lang="en-US" altLang="ja-JP" sz="1000" dirty="0">
                          <a:solidFill>
                            <a:srgbClr val="444746"/>
                          </a:solidFill>
                          <a:effectLst/>
                          <a:latin typeface="Google Sans Text"/>
                        </a:rPr>
                        <a:t>&gt; --</a:t>
                      </a:r>
                      <a:r>
                        <a:rPr lang="en-US" sz="1000" dirty="0" err="1">
                          <a:solidFill>
                            <a:srgbClr val="444746"/>
                          </a:solidFill>
                          <a:effectLst/>
                          <a:latin typeface="Google Sans Text"/>
                        </a:rPr>
                        <a:t>cidr</a:t>
                      </a:r>
                      <a:r>
                        <a:rPr lang="en-US" sz="1000" dirty="0">
                          <a:solidFill>
                            <a:srgbClr val="444746"/>
                          </a:solidFill>
                          <a:effectLst/>
                          <a:latin typeface="Google Sans Text"/>
                        </a:rPr>
                        <a:t> &lt;</a:t>
                      </a:r>
                      <a:r>
                        <a:rPr lang="ja-JP" altLang="en-US" sz="1000" dirty="0">
                          <a:solidFill>
                            <a:srgbClr val="444746"/>
                          </a:solidFill>
                          <a:effectLst/>
                          <a:latin typeface="Google Sans Text"/>
                        </a:rPr>
                        <a:t>相手</a:t>
                      </a:r>
                      <a:r>
                        <a:rPr lang="en-US" sz="1000" dirty="0">
                          <a:solidFill>
                            <a:srgbClr val="444746"/>
                          </a:solidFill>
                          <a:effectLst/>
                          <a:latin typeface="Google Sans Text"/>
                        </a:rPr>
                        <a:t>IP/32&gt;</a:t>
                      </a:r>
                      <a:endParaRPr lang="en-US" sz="1000" dirty="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000">
                          <a:solidFill>
                            <a:srgbClr val="1F1F1F"/>
                          </a:solidFill>
                          <a:effectLst/>
                          <a:latin typeface="Google Sans Text"/>
                        </a:rPr>
                        <a:t>特定の通信を許可</a:t>
                      </a:r>
                    </a:p>
                  </a:txBody>
                  <a:tcPr marL="50597" marR="50597"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4451704"/>
                  </a:ext>
                </a:extLst>
              </a:tr>
              <a:tr h="316851">
                <a:tc>
                  <a:txBody>
                    <a:bodyPr/>
                    <a:lstStyle/>
                    <a:p>
                      <a:pPr rtl="0">
                        <a:buNone/>
                      </a:pPr>
                      <a:r>
                        <a:rPr lang="en-US" altLang="ja-JP" sz="1000" b="1">
                          <a:solidFill>
                            <a:srgbClr val="1F1F1F"/>
                          </a:solidFill>
                          <a:effectLst/>
                          <a:latin typeface="Google Sans Text"/>
                        </a:rPr>
                        <a:t>SG</a:t>
                      </a:r>
                      <a:r>
                        <a:rPr lang="ja-JP" altLang="en-US" sz="1000" b="1">
                          <a:solidFill>
                            <a:srgbClr val="1F1F1F"/>
                          </a:solidFill>
                          <a:effectLst/>
                          <a:latin typeface="Google Sans Text"/>
                        </a:rPr>
                        <a:t>のルール削除</a:t>
                      </a:r>
                      <a:endParaRPr lang="ja-JP" altLang="en-US" sz="100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dirty="0" err="1">
                          <a:solidFill>
                            <a:srgbClr val="444746"/>
                          </a:solidFill>
                          <a:effectLst/>
                          <a:latin typeface="Google Sans Text"/>
                        </a:rPr>
                        <a:t>aws</a:t>
                      </a:r>
                      <a:r>
                        <a:rPr lang="en-US" sz="1000" dirty="0">
                          <a:solidFill>
                            <a:srgbClr val="444746"/>
                          </a:solidFill>
                          <a:effectLst/>
                          <a:latin typeface="Google Sans Text"/>
                        </a:rPr>
                        <a:t> ec2 revoke-security-group-ingress --group-id &lt;ID&gt; --protocol &lt;all/</a:t>
                      </a:r>
                      <a:r>
                        <a:rPr lang="en-US" sz="1000" dirty="0" err="1">
                          <a:solidFill>
                            <a:srgbClr val="444746"/>
                          </a:solidFill>
                          <a:effectLst/>
                          <a:latin typeface="Google Sans Text"/>
                        </a:rPr>
                        <a:t>tcp</a:t>
                      </a:r>
                      <a:r>
                        <a:rPr lang="en-US" sz="1000" dirty="0">
                          <a:solidFill>
                            <a:srgbClr val="444746"/>
                          </a:solidFill>
                          <a:effectLst/>
                          <a:latin typeface="Google Sans Text"/>
                        </a:rPr>
                        <a:t>&gt; --port &lt;</a:t>
                      </a:r>
                      <a:r>
                        <a:rPr lang="ja-JP" altLang="en-US" sz="1000" dirty="0">
                          <a:solidFill>
                            <a:srgbClr val="444746"/>
                          </a:solidFill>
                          <a:effectLst/>
                          <a:latin typeface="Google Sans Text"/>
                        </a:rPr>
                        <a:t>番号</a:t>
                      </a:r>
                      <a:r>
                        <a:rPr lang="en-US" altLang="ja-JP" sz="1000" dirty="0">
                          <a:solidFill>
                            <a:srgbClr val="444746"/>
                          </a:solidFill>
                          <a:effectLst/>
                          <a:latin typeface="Google Sans Text"/>
                        </a:rPr>
                        <a:t>&gt; --</a:t>
                      </a:r>
                      <a:r>
                        <a:rPr lang="en-US" sz="1000" dirty="0" err="1">
                          <a:solidFill>
                            <a:srgbClr val="444746"/>
                          </a:solidFill>
                          <a:effectLst/>
                          <a:latin typeface="Google Sans Text"/>
                        </a:rPr>
                        <a:t>cidr</a:t>
                      </a:r>
                      <a:r>
                        <a:rPr lang="en-US" sz="1000" dirty="0">
                          <a:solidFill>
                            <a:srgbClr val="444746"/>
                          </a:solidFill>
                          <a:effectLst/>
                          <a:latin typeface="Google Sans Text"/>
                        </a:rPr>
                        <a:t> &lt;IP&gt;</a:t>
                      </a:r>
                      <a:endParaRPr lang="en-US" sz="1000" dirty="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000">
                          <a:solidFill>
                            <a:srgbClr val="1F1F1F"/>
                          </a:solidFill>
                          <a:effectLst/>
                          <a:latin typeface="Google Sans Text"/>
                        </a:rPr>
                        <a:t>不要な設定を掃除</a:t>
                      </a:r>
                    </a:p>
                  </a:txBody>
                  <a:tcPr marL="50597" marR="50597"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366530"/>
                  </a:ext>
                </a:extLst>
              </a:tr>
              <a:tr h="416644">
                <a:tc>
                  <a:txBody>
                    <a:bodyPr/>
                    <a:lstStyle/>
                    <a:p>
                      <a:pPr rtl="0">
                        <a:buNone/>
                      </a:pPr>
                      <a:r>
                        <a:rPr lang="en-US" sz="1000" b="1">
                          <a:solidFill>
                            <a:srgbClr val="1F1F1F"/>
                          </a:solidFill>
                          <a:effectLst/>
                          <a:latin typeface="Google Sans Text"/>
                        </a:rPr>
                        <a:t>ACL</a:t>
                      </a:r>
                      <a:r>
                        <a:rPr lang="ja-JP" altLang="en-US" sz="1000" b="1">
                          <a:solidFill>
                            <a:srgbClr val="1F1F1F"/>
                          </a:solidFill>
                          <a:effectLst/>
                          <a:latin typeface="Google Sans Text"/>
                        </a:rPr>
                        <a:t>の確認</a:t>
                      </a:r>
                      <a:endParaRPr lang="ja-JP" altLang="en-US" sz="100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dirty="0" err="1">
                          <a:solidFill>
                            <a:srgbClr val="444746"/>
                          </a:solidFill>
                          <a:effectLst/>
                          <a:latin typeface="Google Sans Text"/>
                        </a:rPr>
                        <a:t>aws</a:t>
                      </a:r>
                      <a:r>
                        <a:rPr lang="en-US" sz="1000" dirty="0">
                          <a:solidFill>
                            <a:srgbClr val="444746"/>
                          </a:solidFill>
                          <a:effectLst/>
                          <a:latin typeface="Google Sans Text"/>
                        </a:rPr>
                        <a:t> ec2 describe-network-</a:t>
                      </a:r>
                      <a:r>
                        <a:rPr lang="en-US" sz="1000" dirty="0" err="1">
                          <a:solidFill>
                            <a:srgbClr val="444746"/>
                          </a:solidFill>
                          <a:effectLst/>
                          <a:latin typeface="Google Sans Text"/>
                        </a:rPr>
                        <a:t>acls</a:t>
                      </a:r>
                      <a:r>
                        <a:rPr lang="en-US" sz="1000" dirty="0">
                          <a:solidFill>
                            <a:srgbClr val="444746"/>
                          </a:solidFill>
                          <a:effectLst/>
                          <a:latin typeface="Google Sans Text"/>
                        </a:rPr>
                        <a:t> --query '</a:t>
                      </a:r>
                      <a:r>
                        <a:rPr lang="en-US" sz="1000" dirty="0" err="1">
                          <a:solidFill>
                            <a:srgbClr val="444746"/>
                          </a:solidFill>
                          <a:effectLst/>
                          <a:latin typeface="Google Sans Text"/>
                        </a:rPr>
                        <a:t>NetworkAcls</a:t>
                      </a:r>
                      <a:r>
                        <a:rPr lang="en-US" sz="1000" dirty="0">
                          <a:solidFill>
                            <a:srgbClr val="444746"/>
                          </a:solidFill>
                          <a:effectLst/>
                          <a:latin typeface="Google Sans Text"/>
                        </a:rPr>
                        <a:t>[*].{</a:t>
                      </a:r>
                      <a:r>
                        <a:rPr lang="en-US" sz="1000" dirty="0" err="1">
                          <a:solidFill>
                            <a:srgbClr val="444746"/>
                          </a:solidFill>
                          <a:effectLst/>
                          <a:latin typeface="Google Sans Text"/>
                        </a:rPr>
                        <a:t>ID:NetworkAclId,Vpc:VpcId,Rules:Entries</a:t>
                      </a:r>
                      <a:r>
                        <a:rPr lang="en-US" sz="1000" dirty="0">
                          <a:solidFill>
                            <a:srgbClr val="444746"/>
                          </a:solidFill>
                          <a:effectLst/>
                          <a:latin typeface="Google Sans Text"/>
                        </a:rPr>
                        <a:t>}' --output </a:t>
                      </a:r>
                      <a:r>
                        <a:rPr lang="en-US" sz="1000" dirty="0" err="1">
                          <a:solidFill>
                            <a:srgbClr val="444746"/>
                          </a:solidFill>
                          <a:effectLst/>
                          <a:latin typeface="Google Sans Text"/>
                        </a:rPr>
                        <a:t>json</a:t>
                      </a:r>
                      <a:endParaRPr lang="en-US" sz="1000" dirty="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000">
                          <a:solidFill>
                            <a:srgbClr val="1F1F1F"/>
                          </a:solidFill>
                          <a:effectLst/>
                          <a:latin typeface="Google Sans Text"/>
                        </a:rPr>
                        <a:t>サブネット単位の「壁」を確認</a:t>
                      </a:r>
                    </a:p>
                  </a:txBody>
                  <a:tcPr marL="50597" marR="50597"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1316110"/>
                  </a:ext>
                </a:extLst>
              </a:tr>
              <a:tr h="470995">
                <a:tc>
                  <a:txBody>
                    <a:bodyPr/>
                    <a:lstStyle/>
                    <a:p>
                      <a:pPr rtl="0">
                        <a:buNone/>
                      </a:pPr>
                      <a:r>
                        <a:rPr lang="en-US" altLang="ja-JP" sz="1000" b="1">
                          <a:solidFill>
                            <a:srgbClr val="1F1F1F"/>
                          </a:solidFill>
                          <a:effectLst/>
                          <a:latin typeface="Google Sans Text"/>
                        </a:rPr>
                        <a:t>ACL</a:t>
                      </a:r>
                      <a:r>
                        <a:rPr lang="ja-JP" altLang="en-US" sz="1000" b="1">
                          <a:solidFill>
                            <a:srgbClr val="1F1F1F"/>
                          </a:solidFill>
                          <a:effectLst/>
                          <a:latin typeface="Google Sans Text"/>
                        </a:rPr>
                        <a:t>のルール変更</a:t>
                      </a:r>
                      <a:endParaRPr lang="ja-JP" altLang="en-US" sz="100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a:solidFill>
                            <a:srgbClr val="444746"/>
                          </a:solidFill>
                          <a:effectLst/>
                          <a:latin typeface="Google Sans Text"/>
                        </a:rPr>
                        <a:t>aws ec2 replace-network-acl-entry --network-acl-id &lt;ID&gt; --rule-number &lt;</a:t>
                      </a:r>
                      <a:r>
                        <a:rPr lang="ja-JP" altLang="en-US" sz="1000">
                          <a:solidFill>
                            <a:srgbClr val="444746"/>
                          </a:solidFill>
                          <a:effectLst/>
                          <a:latin typeface="Google Sans Text"/>
                        </a:rPr>
                        <a:t>番号</a:t>
                      </a:r>
                      <a:r>
                        <a:rPr lang="en-US" altLang="ja-JP" sz="1000">
                          <a:solidFill>
                            <a:srgbClr val="444746"/>
                          </a:solidFill>
                          <a:effectLst/>
                          <a:latin typeface="Google Sans Text"/>
                        </a:rPr>
                        <a:t>&gt; --</a:t>
                      </a:r>
                      <a:r>
                        <a:rPr lang="en-US" sz="1000">
                          <a:solidFill>
                            <a:srgbClr val="444746"/>
                          </a:solidFill>
                          <a:effectLst/>
                          <a:latin typeface="Google Sans Text"/>
                        </a:rPr>
                        <a:t>protocol -1 --rule-action &lt;allow/deny&gt; --egress --cidr-block &lt;IP&gt;</a:t>
                      </a:r>
                      <a:endParaRPr lang="en-US" sz="1000">
                        <a:solidFill>
                          <a:srgbClr val="1F1F1F"/>
                        </a:solidFill>
                        <a:effectLst/>
                        <a:latin typeface="Google Sans Text"/>
                      </a:endParaRPr>
                    </a:p>
                  </a:txBody>
                  <a:tcPr marL="50597" marR="63246"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000" dirty="0">
                          <a:solidFill>
                            <a:srgbClr val="1F1F1F"/>
                          </a:solidFill>
                          <a:effectLst/>
                          <a:latin typeface="Google Sans Text"/>
                        </a:rPr>
                        <a:t>既存ルールを上書き</a:t>
                      </a:r>
                    </a:p>
                  </a:txBody>
                  <a:tcPr marL="50597" marR="50597" marT="84328" marB="84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2484871"/>
                  </a:ext>
                </a:extLst>
              </a:tr>
            </a:tbl>
          </a:graphicData>
        </a:graphic>
      </p:graphicFrame>
      <p:sp>
        <p:nvSpPr>
          <p:cNvPr id="7" name="テキスト ボックス 6">
            <a:extLst>
              <a:ext uri="{FF2B5EF4-FFF2-40B4-BE49-F238E27FC236}">
                <a16:creationId xmlns:a16="http://schemas.microsoft.com/office/drawing/2014/main" id="{B02E4BA9-CFA2-680B-72FA-7B3F08818996}"/>
              </a:ext>
            </a:extLst>
          </p:cNvPr>
          <p:cNvSpPr txBox="1"/>
          <p:nvPr/>
        </p:nvSpPr>
        <p:spPr>
          <a:xfrm>
            <a:off x="5810250" y="535759"/>
            <a:ext cx="6096000" cy="646331"/>
          </a:xfrm>
          <a:prstGeom prst="rect">
            <a:avLst/>
          </a:prstGeom>
          <a:noFill/>
        </p:spPr>
        <p:txBody>
          <a:bodyPr wrap="square">
            <a:spAutoFit/>
          </a:bodyPr>
          <a:lstStyle/>
          <a:p>
            <a:r>
              <a:rPr lang="ja-JP" altLang="en-US" dirty="0"/>
              <a:t>リージョン指定はコマンドの最後に--region us-e</a:t>
            </a:r>
            <a:r>
              <a:rPr lang="en-US" altLang="ja-JP" dirty="0"/>
              <a:t>a</a:t>
            </a:r>
            <a:r>
              <a:rPr lang="ja-JP" altLang="en-US" dirty="0"/>
              <a:t>st-2</a:t>
            </a:r>
            <a:endParaRPr lang="en-US" altLang="ja-JP" dirty="0"/>
          </a:p>
          <a:p>
            <a:r>
              <a:rPr lang="ja-JP" altLang="en-US" dirty="0"/>
              <a:t>を付ける</a:t>
            </a:r>
          </a:p>
        </p:txBody>
      </p:sp>
    </p:spTree>
    <p:extLst>
      <p:ext uri="{BB962C8B-B14F-4D97-AF65-F5344CB8AC3E}">
        <p14:creationId xmlns:p14="http://schemas.microsoft.com/office/powerpoint/2010/main" val="2962474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8633D8-E4F6-E47B-B2BB-ACE2ABF416A0}"/>
              </a:ext>
            </a:extLst>
          </p:cNvPr>
          <p:cNvSpPr>
            <a:spLocks noGrp="1"/>
          </p:cNvSpPr>
          <p:nvPr>
            <p:ph type="title"/>
          </p:nvPr>
        </p:nvSpPr>
        <p:spPr/>
        <p:txBody>
          <a:bodyPr/>
          <a:lstStyle/>
          <a:p>
            <a:r>
              <a:rPr lang="en-US" altLang="ja-JP" dirty="0"/>
              <a:t>AWS</a:t>
            </a:r>
            <a:r>
              <a:rPr lang="ja-JP" altLang="en-US" dirty="0"/>
              <a:t>　</a:t>
            </a:r>
            <a:r>
              <a:rPr lang="en-US" altLang="ja-JP" dirty="0"/>
              <a:t>CLI</a:t>
            </a:r>
            <a:r>
              <a:rPr lang="ja-JP" altLang="en-US" dirty="0"/>
              <a:t>コマンドその</a:t>
            </a:r>
            <a:r>
              <a:rPr lang="en-US" altLang="ja-JP"/>
              <a:t>2</a:t>
            </a:r>
            <a:endParaRPr kumimoji="1" lang="ja-JP" altLang="en-US" dirty="0"/>
          </a:p>
        </p:txBody>
      </p:sp>
      <p:graphicFrame>
        <p:nvGraphicFramePr>
          <p:cNvPr id="4" name="表 3">
            <a:extLst>
              <a:ext uri="{FF2B5EF4-FFF2-40B4-BE49-F238E27FC236}">
                <a16:creationId xmlns:a16="http://schemas.microsoft.com/office/drawing/2014/main" id="{82B31A21-BFD6-94EB-74EC-2E20EC613983}"/>
              </a:ext>
            </a:extLst>
          </p:cNvPr>
          <p:cNvGraphicFramePr>
            <a:graphicFrameLocks noGrp="1"/>
          </p:cNvGraphicFramePr>
          <p:nvPr>
            <p:extLst>
              <p:ext uri="{D42A27DB-BD31-4B8C-83A1-F6EECF244321}">
                <p14:modId xmlns:p14="http://schemas.microsoft.com/office/powerpoint/2010/main" val="1391492806"/>
              </p:ext>
            </p:extLst>
          </p:nvPr>
        </p:nvGraphicFramePr>
        <p:xfrm>
          <a:off x="149087" y="1825626"/>
          <a:ext cx="11887200" cy="2287060"/>
        </p:xfrm>
        <a:graphic>
          <a:graphicData uri="http://schemas.openxmlformats.org/drawingml/2006/table">
            <a:tbl>
              <a:tblPr/>
              <a:tblGrid>
                <a:gridCol w="1073426">
                  <a:extLst>
                    <a:ext uri="{9D8B030D-6E8A-4147-A177-3AD203B41FA5}">
                      <a16:colId xmlns:a16="http://schemas.microsoft.com/office/drawing/2014/main" val="2610689933"/>
                    </a:ext>
                  </a:extLst>
                </a:gridCol>
                <a:gridCol w="7121536">
                  <a:extLst>
                    <a:ext uri="{9D8B030D-6E8A-4147-A177-3AD203B41FA5}">
                      <a16:colId xmlns:a16="http://schemas.microsoft.com/office/drawing/2014/main" val="675020955"/>
                    </a:ext>
                  </a:extLst>
                </a:gridCol>
                <a:gridCol w="3692238">
                  <a:extLst>
                    <a:ext uri="{9D8B030D-6E8A-4147-A177-3AD203B41FA5}">
                      <a16:colId xmlns:a16="http://schemas.microsoft.com/office/drawing/2014/main" val="3826229683"/>
                    </a:ext>
                  </a:extLst>
                </a:gridCol>
              </a:tblGrid>
              <a:tr h="230679">
                <a:tc>
                  <a:txBody>
                    <a:bodyPr/>
                    <a:lstStyle/>
                    <a:p>
                      <a:pPr rtl="0">
                        <a:buNone/>
                      </a:pPr>
                      <a:r>
                        <a:rPr lang="ja-JP" altLang="en-US" sz="1100" b="1" dirty="0">
                          <a:solidFill>
                            <a:srgbClr val="1F1F1F"/>
                          </a:solidFill>
                          <a:effectLst/>
                          <a:latin typeface="Google Sans Text"/>
                        </a:rPr>
                        <a:t>操作内容</a:t>
                      </a:r>
                      <a:endParaRPr lang="ja-JP" alt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100" b="1">
                          <a:solidFill>
                            <a:srgbClr val="1F1F1F"/>
                          </a:solidFill>
                          <a:effectLst/>
                          <a:latin typeface="Google Sans Text"/>
                        </a:rPr>
                        <a:t>AWS CLI </a:t>
                      </a:r>
                      <a:r>
                        <a:rPr lang="ja-JP" altLang="en-US" sz="1100" b="1">
                          <a:solidFill>
                            <a:srgbClr val="1F1F1F"/>
                          </a:solidFill>
                          <a:effectLst/>
                          <a:latin typeface="Google Sans Text"/>
                        </a:rPr>
                        <a:t>コマンド</a:t>
                      </a:r>
                      <a:endParaRPr lang="ja-JP" altLang="en-US" sz="110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100" b="1">
                          <a:solidFill>
                            <a:srgbClr val="1F1F1F"/>
                          </a:solidFill>
                          <a:effectLst/>
                          <a:latin typeface="Google Sans Text"/>
                        </a:rPr>
                        <a:t>備考</a:t>
                      </a:r>
                      <a:endParaRPr lang="ja-JP" altLang="en-US" sz="1100">
                        <a:solidFill>
                          <a:srgbClr val="1F1F1F"/>
                        </a:solidFill>
                        <a:effectLst/>
                        <a:latin typeface="Google Sans Text"/>
                      </a:endParaRPr>
                    </a:p>
                  </a:txBody>
                  <a:tcPr marL="56757" marR="56757"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5208035"/>
                  </a:ext>
                </a:extLst>
              </a:tr>
              <a:tr h="339053">
                <a:tc>
                  <a:txBody>
                    <a:bodyPr/>
                    <a:lstStyle/>
                    <a:p>
                      <a:pPr rtl="0">
                        <a:buNone/>
                      </a:pPr>
                      <a:r>
                        <a:rPr lang="en-US" sz="1100" b="1" dirty="0">
                          <a:solidFill>
                            <a:srgbClr val="1F1F1F"/>
                          </a:solidFill>
                          <a:effectLst/>
                          <a:latin typeface="Google Sans Text"/>
                        </a:rPr>
                        <a:t>CGW</a:t>
                      </a:r>
                      <a:r>
                        <a:rPr lang="ja-JP" altLang="en-US" sz="1100" b="1" dirty="0">
                          <a:solidFill>
                            <a:srgbClr val="1F1F1F"/>
                          </a:solidFill>
                          <a:effectLst/>
                          <a:latin typeface="Google Sans Text"/>
                        </a:rPr>
                        <a:t>の確認</a:t>
                      </a:r>
                      <a:endParaRPr lang="ja-JP" alt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100" dirty="0" err="1">
                          <a:solidFill>
                            <a:srgbClr val="444746"/>
                          </a:solidFill>
                          <a:effectLst/>
                          <a:latin typeface="Google Sans Text"/>
                        </a:rPr>
                        <a:t>aws</a:t>
                      </a:r>
                      <a:r>
                        <a:rPr lang="en-US" sz="1100" dirty="0">
                          <a:solidFill>
                            <a:srgbClr val="444746"/>
                          </a:solidFill>
                          <a:effectLst/>
                          <a:latin typeface="Google Sans Text"/>
                        </a:rPr>
                        <a:t> ec2 describe-customer-gateways --query '</a:t>
                      </a:r>
                      <a:r>
                        <a:rPr lang="en-US" sz="1100" dirty="0" err="1">
                          <a:solidFill>
                            <a:srgbClr val="444746"/>
                          </a:solidFill>
                          <a:effectLst/>
                          <a:latin typeface="Google Sans Text"/>
                        </a:rPr>
                        <a:t>CustomerGateways</a:t>
                      </a:r>
                      <a:r>
                        <a:rPr lang="en-US" sz="1100" dirty="0">
                          <a:solidFill>
                            <a:srgbClr val="444746"/>
                          </a:solidFill>
                          <a:effectLst/>
                          <a:latin typeface="Google Sans Text"/>
                        </a:rPr>
                        <a:t>[*].{</a:t>
                      </a:r>
                      <a:r>
                        <a:rPr lang="en-US" sz="1100" dirty="0" err="1">
                          <a:solidFill>
                            <a:srgbClr val="444746"/>
                          </a:solidFill>
                          <a:effectLst/>
                          <a:latin typeface="Google Sans Text"/>
                        </a:rPr>
                        <a:t>ID:CustomerGatewayId,IP:IpAddress,Type:Type,State:State</a:t>
                      </a:r>
                      <a:r>
                        <a:rPr lang="en-US" sz="1100" dirty="0">
                          <a:solidFill>
                            <a:srgbClr val="444746"/>
                          </a:solidFill>
                          <a:effectLst/>
                          <a:latin typeface="Google Sans Text"/>
                        </a:rPr>
                        <a:t>}' --output table</a:t>
                      </a:r>
                      <a:endParaRPr 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100">
                          <a:solidFill>
                            <a:srgbClr val="1F1F1F"/>
                          </a:solidFill>
                          <a:effectLst/>
                          <a:latin typeface="Google Sans Text"/>
                        </a:rPr>
                        <a:t>自分の</a:t>
                      </a:r>
                      <a:r>
                        <a:rPr lang="en-US" altLang="ja-JP" sz="1100">
                          <a:solidFill>
                            <a:srgbClr val="1F1F1F"/>
                          </a:solidFill>
                          <a:effectLst/>
                          <a:latin typeface="Google Sans Text"/>
                        </a:rPr>
                        <a:t>EC2</a:t>
                      </a:r>
                      <a:r>
                        <a:rPr lang="ja-JP" altLang="en-US" sz="1100">
                          <a:solidFill>
                            <a:srgbClr val="1F1F1F"/>
                          </a:solidFill>
                          <a:effectLst/>
                          <a:latin typeface="Google Sans Text"/>
                        </a:rPr>
                        <a:t>の</a:t>
                      </a:r>
                      <a:r>
                        <a:rPr lang="en-US" altLang="ja-JP" sz="1100">
                          <a:solidFill>
                            <a:srgbClr val="1F1F1F"/>
                          </a:solidFill>
                          <a:effectLst/>
                          <a:latin typeface="Google Sans Text"/>
                        </a:rPr>
                        <a:t>IP</a:t>
                      </a:r>
                      <a:r>
                        <a:rPr lang="ja-JP" altLang="en-US" sz="1100">
                          <a:solidFill>
                            <a:srgbClr val="1F1F1F"/>
                          </a:solidFill>
                          <a:effectLst/>
                          <a:latin typeface="Google Sans Text"/>
                        </a:rPr>
                        <a:t>が登録されているか</a:t>
                      </a:r>
                    </a:p>
                  </a:txBody>
                  <a:tcPr marL="56757" marR="56757"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2686497"/>
                  </a:ext>
                </a:extLst>
              </a:tr>
              <a:tr h="339053">
                <a:tc>
                  <a:txBody>
                    <a:bodyPr/>
                    <a:lstStyle/>
                    <a:p>
                      <a:pPr rtl="0">
                        <a:buNone/>
                      </a:pPr>
                      <a:r>
                        <a:rPr lang="en-US" sz="1100" b="1" dirty="0">
                          <a:solidFill>
                            <a:srgbClr val="1F1F1F"/>
                          </a:solidFill>
                          <a:effectLst/>
                          <a:latin typeface="Google Sans Text"/>
                        </a:rPr>
                        <a:t>VGW</a:t>
                      </a:r>
                      <a:r>
                        <a:rPr lang="ja-JP" altLang="en-US" sz="1100" b="1" dirty="0">
                          <a:solidFill>
                            <a:srgbClr val="1F1F1F"/>
                          </a:solidFill>
                          <a:effectLst/>
                          <a:latin typeface="Google Sans Text"/>
                        </a:rPr>
                        <a:t>の確認</a:t>
                      </a:r>
                      <a:endParaRPr lang="ja-JP" alt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100" dirty="0" err="1">
                          <a:solidFill>
                            <a:srgbClr val="444746"/>
                          </a:solidFill>
                          <a:effectLst/>
                          <a:latin typeface="Google Sans Text"/>
                        </a:rPr>
                        <a:t>aws</a:t>
                      </a:r>
                      <a:r>
                        <a:rPr lang="en-US" sz="1100" dirty="0">
                          <a:solidFill>
                            <a:srgbClr val="444746"/>
                          </a:solidFill>
                          <a:effectLst/>
                          <a:latin typeface="Google Sans Text"/>
                        </a:rPr>
                        <a:t> ec2 describe-</a:t>
                      </a:r>
                      <a:r>
                        <a:rPr lang="en-US" sz="1100" dirty="0" err="1">
                          <a:solidFill>
                            <a:srgbClr val="444746"/>
                          </a:solidFill>
                          <a:effectLst/>
                          <a:latin typeface="Google Sans Text"/>
                        </a:rPr>
                        <a:t>vpn</a:t>
                      </a:r>
                      <a:r>
                        <a:rPr lang="en-US" sz="1100" dirty="0">
                          <a:solidFill>
                            <a:srgbClr val="444746"/>
                          </a:solidFill>
                          <a:effectLst/>
                          <a:latin typeface="Google Sans Text"/>
                        </a:rPr>
                        <a:t>-gateways --query '</a:t>
                      </a:r>
                      <a:r>
                        <a:rPr lang="en-US" sz="1100" dirty="0" err="1">
                          <a:solidFill>
                            <a:srgbClr val="444746"/>
                          </a:solidFill>
                          <a:effectLst/>
                          <a:latin typeface="Google Sans Text"/>
                        </a:rPr>
                        <a:t>VpnGateways</a:t>
                      </a:r>
                      <a:r>
                        <a:rPr lang="en-US" sz="1100" dirty="0">
                          <a:solidFill>
                            <a:srgbClr val="444746"/>
                          </a:solidFill>
                          <a:effectLst/>
                          <a:latin typeface="Google Sans Text"/>
                        </a:rPr>
                        <a:t>[*].{</a:t>
                      </a:r>
                      <a:r>
                        <a:rPr lang="en-US" sz="1100" dirty="0" err="1">
                          <a:solidFill>
                            <a:srgbClr val="444746"/>
                          </a:solidFill>
                          <a:effectLst/>
                          <a:latin typeface="Google Sans Text"/>
                        </a:rPr>
                        <a:t>ID:VpnGatewayId,VPC:VpcAttachments</a:t>
                      </a:r>
                      <a:r>
                        <a:rPr lang="en-US" sz="1100" dirty="0">
                          <a:solidFill>
                            <a:srgbClr val="444746"/>
                          </a:solidFill>
                          <a:effectLst/>
                          <a:latin typeface="Google Sans Text"/>
                        </a:rPr>
                        <a:t>[0].</a:t>
                      </a:r>
                      <a:r>
                        <a:rPr lang="en-US" sz="1100" dirty="0" err="1">
                          <a:solidFill>
                            <a:srgbClr val="444746"/>
                          </a:solidFill>
                          <a:effectLst/>
                          <a:latin typeface="Google Sans Text"/>
                        </a:rPr>
                        <a:t>VpcId,State:State</a:t>
                      </a:r>
                      <a:r>
                        <a:rPr lang="en-US" sz="1100" dirty="0">
                          <a:solidFill>
                            <a:srgbClr val="444746"/>
                          </a:solidFill>
                          <a:effectLst/>
                          <a:latin typeface="Google Sans Text"/>
                        </a:rPr>
                        <a:t>}' --output table</a:t>
                      </a:r>
                      <a:endParaRPr 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altLang="ja-JP" sz="1100">
                          <a:solidFill>
                            <a:srgbClr val="1F1F1F"/>
                          </a:solidFill>
                          <a:effectLst/>
                          <a:latin typeface="Google Sans Text"/>
                        </a:rPr>
                        <a:t>VPC</a:t>
                      </a:r>
                      <a:r>
                        <a:rPr lang="ja-JP" altLang="en-US" sz="1100">
                          <a:solidFill>
                            <a:srgbClr val="1F1F1F"/>
                          </a:solidFill>
                          <a:effectLst/>
                          <a:latin typeface="Google Sans Text"/>
                        </a:rPr>
                        <a:t>にアタッチされているか</a:t>
                      </a:r>
                    </a:p>
                  </a:txBody>
                  <a:tcPr marL="56757" marR="56757"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0151227"/>
                  </a:ext>
                </a:extLst>
              </a:tr>
              <a:tr h="344641">
                <a:tc>
                  <a:txBody>
                    <a:bodyPr/>
                    <a:lstStyle/>
                    <a:p>
                      <a:pPr rtl="0">
                        <a:buNone/>
                      </a:pPr>
                      <a:r>
                        <a:rPr lang="en-US" sz="1100" b="1" dirty="0">
                          <a:solidFill>
                            <a:srgbClr val="1F1F1F"/>
                          </a:solidFill>
                          <a:effectLst/>
                          <a:latin typeface="Google Sans Text"/>
                        </a:rPr>
                        <a:t>VPN</a:t>
                      </a:r>
                      <a:r>
                        <a:rPr lang="ja-JP" altLang="en-US" sz="1100" b="1" dirty="0">
                          <a:solidFill>
                            <a:srgbClr val="1F1F1F"/>
                          </a:solidFill>
                          <a:effectLst/>
                          <a:latin typeface="Google Sans Text"/>
                        </a:rPr>
                        <a:t>接続の確認</a:t>
                      </a:r>
                      <a:endParaRPr lang="ja-JP" alt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100" dirty="0" err="1">
                          <a:solidFill>
                            <a:srgbClr val="444746"/>
                          </a:solidFill>
                          <a:effectLst/>
                          <a:latin typeface="Google Sans Text"/>
                        </a:rPr>
                        <a:t>aws</a:t>
                      </a:r>
                      <a:r>
                        <a:rPr lang="en-US" sz="1100" dirty="0">
                          <a:solidFill>
                            <a:srgbClr val="444746"/>
                          </a:solidFill>
                          <a:effectLst/>
                          <a:latin typeface="Google Sans Text"/>
                        </a:rPr>
                        <a:t> ec2 describe-</a:t>
                      </a:r>
                      <a:r>
                        <a:rPr lang="en-US" sz="1100" dirty="0" err="1">
                          <a:solidFill>
                            <a:srgbClr val="444746"/>
                          </a:solidFill>
                          <a:effectLst/>
                          <a:latin typeface="Google Sans Text"/>
                        </a:rPr>
                        <a:t>vpn</a:t>
                      </a:r>
                      <a:r>
                        <a:rPr lang="en-US" sz="1100" dirty="0">
                          <a:solidFill>
                            <a:srgbClr val="444746"/>
                          </a:solidFill>
                          <a:effectLst/>
                          <a:latin typeface="Google Sans Text"/>
                        </a:rPr>
                        <a:t>-connections --query '</a:t>
                      </a:r>
                      <a:r>
                        <a:rPr lang="en-US" sz="1100" dirty="0" err="1">
                          <a:solidFill>
                            <a:srgbClr val="444746"/>
                          </a:solidFill>
                          <a:effectLst/>
                          <a:latin typeface="Google Sans Text"/>
                        </a:rPr>
                        <a:t>VpnConnections</a:t>
                      </a:r>
                      <a:r>
                        <a:rPr lang="en-US" sz="1100" dirty="0">
                          <a:solidFill>
                            <a:srgbClr val="444746"/>
                          </a:solidFill>
                          <a:effectLst/>
                          <a:latin typeface="Google Sans Text"/>
                        </a:rPr>
                        <a:t>[*].{ID:VpnConnectionId,State:State,VGW:VpnGatewayId,CGW:CustomerGatewayId}' --output table</a:t>
                      </a:r>
                      <a:endParaRPr 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100" b="1">
                          <a:solidFill>
                            <a:srgbClr val="1F1F1F"/>
                          </a:solidFill>
                          <a:effectLst/>
                          <a:latin typeface="Google Sans Text"/>
                        </a:rPr>
                        <a:t>接続の紐付けとステータス</a:t>
                      </a:r>
                      <a:endParaRPr lang="ja-JP" altLang="en-US" sz="1100">
                        <a:solidFill>
                          <a:srgbClr val="1F1F1F"/>
                        </a:solidFill>
                        <a:effectLst/>
                        <a:latin typeface="Google Sans Text"/>
                      </a:endParaRPr>
                    </a:p>
                  </a:txBody>
                  <a:tcPr marL="56757" marR="56757"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8346526"/>
                  </a:ext>
                </a:extLst>
              </a:tr>
              <a:tr h="230679">
                <a:tc>
                  <a:txBody>
                    <a:bodyPr/>
                    <a:lstStyle/>
                    <a:p>
                      <a:pPr rtl="0">
                        <a:buNone/>
                      </a:pPr>
                      <a:r>
                        <a:rPr lang="en-US" sz="1100" b="1" dirty="0">
                          <a:solidFill>
                            <a:srgbClr val="1F1F1F"/>
                          </a:solidFill>
                          <a:effectLst/>
                          <a:latin typeface="Google Sans Text"/>
                        </a:rPr>
                        <a:t>VPN</a:t>
                      </a:r>
                      <a:r>
                        <a:rPr lang="ja-JP" altLang="en-US" sz="1100" b="1" dirty="0">
                          <a:solidFill>
                            <a:srgbClr val="1F1F1F"/>
                          </a:solidFill>
                          <a:effectLst/>
                          <a:latin typeface="Google Sans Text"/>
                        </a:rPr>
                        <a:t>詳細状態</a:t>
                      </a:r>
                      <a:endParaRPr lang="ja-JP" alt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100" dirty="0" err="1">
                          <a:solidFill>
                            <a:srgbClr val="444746"/>
                          </a:solidFill>
                          <a:effectLst/>
                          <a:latin typeface="Google Sans Text"/>
                        </a:rPr>
                        <a:t>aws</a:t>
                      </a:r>
                      <a:r>
                        <a:rPr lang="en-US" sz="1100" dirty="0">
                          <a:solidFill>
                            <a:srgbClr val="444746"/>
                          </a:solidFill>
                          <a:effectLst/>
                          <a:latin typeface="Google Sans Text"/>
                        </a:rPr>
                        <a:t> ec2 describe-</a:t>
                      </a:r>
                      <a:r>
                        <a:rPr lang="en-US" sz="1100" dirty="0" err="1">
                          <a:solidFill>
                            <a:srgbClr val="444746"/>
                          </a:solidFill>
                          <a:effectLst/>
                          <a:latin typeface="Google Sans Text"/>
                        </a:rPr>
                        <a:t>vpn</a:t>
                      </a:r>
                      <a:r>
                        <a:rPr lang="en-US" sz="1100" dirty="0">
                          <a:solidFill>
                            <a:srgbClr val="444746"/>
                          </a:solidFill>
                          <a:effectLst/>
                          <a:latin typeface="Google Sans Text"/>
                        </a:rPr>
                        <a:t>-connections --</a:t>
                      </a:r>
                      <a:r>
                        <a:rPr lang="en-US" sz="1100" dirty="0" err="1">
                          <a:solidFill>
                            <a:srgbClr val="444746"/>
                          </a:solidFill>
                          <a:effectLst/>
                          <a:latin typeface="Google Sans Text"/>
                        </a:rPr>
                        <a:t>vpn</a:t>
                      </a:r>
                      <a:r>
                        <a:rPr lang="en-US" sz="1100" dirty="0">
                          <a:solidFill>
                            <a:srgbClr val="444746"/>
                          </a:solidFill>
                          <a:effectLst/>
                          <a:latin typeface="Google Sans Text"/>
                        </a:rPr>
                        <a:t>-connection-ids &lt;ID&gt; --query '</a:t>
                      </a:r>
                      <a:r>
                        <a:rPr lang="en-US" sz="1100" dirty="0" err="1">
                          <a:solidFill>
                            <a:srgbClr val="444746"/>
                          </a:solidFill>
                          <a:effectLst/>
                          <a:latin typeface="Google Sans Text"/>
                        </a:rPr>
                        <a:t>VpnConnections</a:t>
                      </a:r>
                      <a:r>
                        <a:rPr lang="en-US" sz="1100" dirty="0">
                          <a:solidFill>
                            <a:srgbClr val="444746"/>
                          </a:solidFill>
                          <a:effectLst/>
                          <a:latin typeface="Google Sans Text"/>
                        </a:rPr>
                        <a:t>[*].</a:t>
                      </a:r>
                      <a:r>
                        <a:rPr lang="en-US" sz="1100" dirty="0" err="1">
                          <a:solidFill>
                            <a:srgbClr val="444746"/>
                          </a:solidFill>
                          <a:effectLst/>
                          <a:latin typeface="Google Sans Text"/>
                        </a:rPr>
                        <a:t>VgwTelemetry</a:t>
                      </a:r>
                      <a:r>
                        <a:rPr lang="en-US" sz="1100" dirty="0">
                          <a:solidFill>
                            <a:srgbClr val="444746"/>
                          </a:solidFill>
                          <a:effectLst/>
                          <a:latin typeface="Google Sans Text"/>
                        </a:rPr>
                        <a:t>'</a:t>
                      </a:r>
                      <a:endParaRPr lang="en-US" sz="1100" dirty="0">
                        <a:solidFill>
                          <a:srgbClr val="1F1F1F"/>
                        </a:solidFill>
                        <a:effectLst/>
                        <a:latin typeface="Google Sans Text"/>
                      </a:endParaRPr>
                    </a:p>
                  </a:txBody>
                  <a:tcPr marL="56757" marR="70946"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100" b="1" dirty="0">
                          <a:solidFill>
                            <a:srgbClr val="1F1F1F"/>
                          </a:solidFill>
                          <a:effectLst/>
                          <a:latin typeface="Google Sans Text"/>
                        </a:rPr>
                        <a:t>トンネル毎の</a:t>
                      </a:r>
                      <a:r>
                        <a:rPr lang="en-US" altLang="ja-JP" sz="1100" b="1" dirty="0">
                          <a:solidFill>
                            <a:srgbClr val="1F1F1F"/>
                          </a:solidFill>
                          <a:effectLst/>
                          <a:latin typeface="Google Sans Text"/>
                        </a:rPr>
                        <a:t>UP/DOWN</a:t>
                      </a:r>
                      <a:r>
                        <a:rPr lang="ja-JP" altLang="en-US" sz="1100" b="1" dirty="0">
                          <a:solidFill>
                            <a:srgbClr val="1F1F1F"/>
                          </a:solidFill>
                          <a:effectLst/>
                          <a:latin typeface="Google Sans Text"/>
                        </a:rPr>
                        <a:t>とエラー理由</a:t>
                      </a:r>
                      <a:endParaRPr lang="ja-JP" altLang="en-US" sz="1100" dirty="0">
                        <a:solidFill>
                          <a:srgbClr val="1F1F1F"/>
                        </a:solidFill>
                        <a:effectLst/>
                        <a:latin typeface="Google Sans Text"/>
                      </a:endParaRPr>
                    </a:p>
                  </a:txBody>
                  <a:tcPr marL="56757" marR="56757" marT="94594" marB="94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8800568"/>
                  </a:ext>
                </a:extLst>
              </a:tr>
            </a:tbl>
          </a:graphicData>
        </a:graphic>
      </p:graphicFrame>
      <p:graphicFrame>
        <p:nvGraphicFramePr>
          <p:cNvPr id="5" name="表 4">
            <a:extLst>
              <a:ext uri="{FF2B5EF4-FFF2-40B4-BE49-F238E27FC236}">
                <a16:creationId xmlns:a16="http://schemas.microsoft.com/office/drawing/2014/main" id="{FA3ED60F-96A0-B733-0449-D5EC2785AE50}"/>
              </a:ext>
            </a:extLst>
          </p:cNvPr>
          <p:cNvGraphicFramePr>
            <a:graphicFrameLocks noGrp="1"/>
          </p:cNvGraphicFramePr>
          <p:nvPr>
            <p:extLst>
              <p:ext uri="{D42A27DB-BD31-4B8C-83A1-F6EECF244321}">
                <p14:modId xmlns:p14="http://schemas.microsoft.com/office/powerpoint/2010/main" val="4078274951"/>
              </p:ext>
            </p:extLst>
          </p:nvPr>
        </p:nvGraphicFramePr>
        <p:xfrm>
          <a:off x="155714" y="4247624"/>
          <a:ext cx="11880573" cy="2383118"/>
        </p:xfrm>
        <a:graphic>
          <a:graphicData uri="http://schemas.openxmlformats.org/drawingml/2006/table">
            <a:tbl>
              <a:tblPr/>
              <a:tblGrid>
                <a:gridCol w="1530626">
                  <a:extLst>
                    <a:ext uri="{9D8B030D-6E8A-4147-A177-3AD203B41FA5}">
                      <a16:colId xmlns:a16="http://schemas.microsoft.com/office/drawing/2014/main" val="2787621151"/>
                    </a:ext>
                  </a:extLst>
                </a:gridCol>
                <a:gridCol w="7977808">
                  <a:extLst>
                    <a:ext uri="{9D8B030D-6E8A-4147-A177-3AD203B41FA5}">
                      <a16:colId xmlns:a16="http://schemas.microsoft.com/office/drawing/2014/main" val="2534885912"/>
                    </a:ext>
                  </a:extLst>
                </a:gridCol>
                <a:gridCol w="2372139">
                  <a:extLst>
                    <a:ext uri="{9D8B030D-6E8A-4147-A177-3AD203B41FA5}">
                      <a16:colId xmlns:a16="http://schemas.microsoft.com/office/drawing/2014/main" val="1692574685"/>
                    </a:ext>
                  </a:extLst>
                </a:gridCol>
              </a:tblGrid>
              <a:tr h="853446">
                <a:tc>
                  <a:txBody>
                    <a:bodyPr/>
                    <a:lstStyle/>
                    <a:p>
                      <a:pPr rtl="0">
                        <a:buNone/>
                      </a:pPr>
                      <a:r>
                        <a:rPr lang="ja-JP" altLang="en-US" sz="1100" b="1" dirty="0">
                          <a:solidFill>
                            <a:srgbClr val="1F1F1F"/>
                          </a:solidFill>
                          <a:effectLst/>
                          <a:latin typeface="Google Sans Text"/>
                        </a:rPr>
                        <a:t>ルートテーブル確認</a:t>
                      </a:r>
                      <a:endParaRPr lang="ja-JP" altLang="en-US" sz="1100" dirty="0">
                        <a:solidFill>
                          <a:srgbClr val="1F1F1F"/>
                        </a:solidFill>
                        <a:effectLst/>
                        <a:latin typeface="Google Sans Text"/>
                      </a:endParaRPr>
                    </a:p>
                  </a:txBody>
                  <a:tcPr marL="83147" marR="103933"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600" dirty="0" err="1">
                          <a:solidFill>
                            <a:srgbClr val="444746"/>
                          </a:solidFill>
                          <a:effectLst/>
                          <a:latin typeface="Google Sans Text"/>
                        </a:rPr>
                        <a:t>aws</a:t>
                      </a:r>
                      <a:r>
                        <a:rPr lang="en-US" sz="1600" dirty="0">
                          <a:solidFill>
                            <a:srgbClr val="444746"/>
                          </a:solidFill>
                          <a:effectLst/>
                          <a:latin typeface="Google Sans Text"/>
                        </a:rPr>
                        <a:t> ec2 describe-route-tables --query '</a:t>
                      </a:r>
                      <a:r>
                        <a:rPr lang="en-US" sz="1600" dirty="0" err="1">
                          <a:solidFill>
                            <a:srgbClr val="444746"/>
                          </a:solidFill>
                          <a:effectLst/>
                          <a:latin typeface="Google Sans Text"/>
                        </a:rPr>
                        <a:t>RouteTables</a:t>
                      </a:r>
                      <a:r>
                        <a:rPr lang="en-US" sz="1600" dirty="0">
                          <a:solidFill>
                            <a:srgbClr val="444746"/>
                          </a:solidFill>
                          <a:effectLst/>
                          <a:latin typeface="Google Sans Text"/>
                        </a:rPr>
                        <a:t>[*].{</a:t>
                      </a:r>
                      <a:r>
                        <a:rPr lang="en-US" sz="1600" dirty="0" err="1">
                          <a:solidFill>
                            <a:srgbClr val="444746"/>
                          </a:solidFill>
                          <a:effectLst/>
                          <a:latin typeface="Google Sans Text"/>
                        </a:rPr>
                        <a:t>ID:RouteTableId,Vpc:VpcId,Routes:Routes</a:t>
                      </a:r>
                      <a:r>
                        <a:rPr lang="en-US" sz="1600" dirty="0">
                          <a:solidFill>
                            <a:srgbClr val="444746"/>
                          </a:solidFill>
                          <a:effectLst/>
                          <a:latin typeface="Google Sans Text"/>
                        </a:rPr>
                        <a:t>}' --output </a:t>
                      </a:r>
                      <a:r>
                        <a:rPr lang="en-US" sz="1600" dirty="0" err="1">
                          <a:solidFill>
                            <a:srgbClr val="444746"/>
                          </a:solidFill>
                          <a:effectLst/>
                          <a:latin typeface="Google Sans Text"/>
                        </a:rPr>
                        <a:t>json</a:t>
                      </a:r>
                      <a:endParaRPr lang="en-US" sz="1600" dirty="0">
                        <a:solidFill>
                          <a:srgbClr val="1F1F1F"/>
                        </a:solidFill>
                        <a:effectLst/>
                        <a:latin typeface="Google Sans Text"/>
                      </a:endParaRPr>
                    </a:p>
                  </a:txBody>
                  <a:tcPr marL="83147" marR="103933"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100" dirty="0">
                          <a:solidFill>
                            <a:srgbClr val="1F1F1F"/>
                          </a:solidFill>
                          <a:effectLst/>
                          <a:latin typeface="Google Sans Text"/>
                        </a:rPr>
                        <a:t>どこに何が向いているか全表示</a:t>
                      </a:r>
                    </a:p>
                  </a:txBody>
                  <a:tcPr marL="83147" marR="83147"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5628098"/>
                  </a:ext>
                </a:extLst>
              </a:tr>
              <a:tr h="574137">
                <a:tc>
                  <a:txBody>
                    <a:bodyPr/>
                    <a:lstStyle/>
                    <a:p>
                      <a:pPr rtl="0">
                        <a:buNone/>
                      </a:pPr>
                      <a:r>
                        <a:rPr lang="ja-JP" altLang="en-US" sz="1100" b="1" dirty="0">
                          <a:solidFill>
                            <a:srgbClr val="1F1F1F"/>
                          </a:solidFill>
                          <a:effectLst/>
                          <a:latin typeface="Google Sans Text"/>
                        </a:rPr>
                        <a:t>ルーティング追加</a:t>
                      </a:r>
                      <a:endParaRPr lang="ja-JP" altLang="en-US" sz="1100" dirty="0">
                        <a:solidFill>
                          <a:srgbClr val="1F1F1F"/>
                        </a:solidFill>
                        <a:effectLst/>
                        <a:latin typeface="Google Sans Text"/>
                      </a:endParaRPr>
                    </a:p>
                  </a:txBody>
                  <a:tcPr marL="83147" marR="103933"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600" dirty="0" err="1">
                          <a:solidFill>
                            <a:srgbClr val="444746"/>
                          </a:solidFill>
                          <a:effectLst/>
                          <a:latin typeface="Google Sans Text"/>
                        </a:rPr>
                        <a:t>aws</a:t>
                      </a:r>
                      <a:r>
                        <a:rPr lang="en-US" sz="1600" dirty="0">
                          <a:solidFill>
                            <a:srgbClr val="444746"/>
                          </a:solidFill>
                          <a:effectLst/>
                          <a:latin typeface="Google Sans Text"/>
                        </a:rPr>
                        <a:t> ec2 create-route --route-table-id &lt;ID&gt; --destination-</a:t>
                      </a:r>
                      <a:r>
                        <a:rPr lang="en-US" sz="1600" dirty="0" err="1">
                          <a:solidFill>
                            <a:srgbClr val="444746"/>
                          </a:solidFill>
                          <a:effectLst/>
                          <a:latin typeface="Google Sans Text"/>
                        </a:rPr>
                        <a:t>cidr</a:t>
                      </a:r>
                      <a:r>
                        <a:rPr lang="en-US" sz="1600" dirty="0">
                          <a:solidFill>
                            <a:srgbClr val="444746"/>
                          </a:solidFill>
                          <a:effectLst/>
                          <a:latin typeface="Google Sans Text"/>
                        </a:rPr>
                        <a:t>-block &lt;</a:t>
                      </a:r>
                      <a:r>
                        <a:rPr lang="ja-JP" altLang="en-US" sz="1600" dirty="0">
                          <a:solidFill>
                            <a:srgbClr val="444746"/>
                          </a:solidFill>
                          <a:effectLst/>
                          <a:latin typeface="Google Sans Text"/>
                        </a:rPr>
                        <a:t>相手</a:t>
                      </a:r>
                      <a:r>
                        <a:rPr lang="en-US" sz="1600" dirty="0">
                          <a:solidFill>
                            <a:srgbClr val="444746"/>
                          </a:solidFill>
                          <a:effectLst/>
                          <a:latin typeface="Google Sans Text"/>
                        </a:rPr>
                        <a:t>CIDR&gt; --gateway-id &lt;VGW-ID&gt;</a:t>
                      </a:r>
                      <a:endParaRPr lang="en-US" sz="1600" dirty="0">
                        <a:solidFill>
                          <a:srgbClr val="1F1F1F"/>
                        </a:solidFill>
                        <a:effectLst/>
                        <a:latin typeface="Google Sans Text"/>
                      </a:endParaRPr>
                    </a:p>
                  </a:txBody>
                  <a:tcPr marL="83147" marR="103933"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altLang="ja-JP" sz="1100" dirty="0">
                          <a:solidFill>
                            <a:srgbClr val="1F1F1F"/>
                          </a:solidFill>
                          <a:effectLst/>
                          <a:latin typeface="Google Sans Text"/>
                        </a:rPr>
                        <a:t>VGW</a:t>
                      </a:r>
                      <a:r>
                        <a:rPr lang="ja-JP" altLang="en-US" sz="1100" dirty="0">
                          <a:solidFill>
                            <a:srgbClr val="1F1F1F"/>
                          </a:solidFill>
                          <a:effectLst/>
                          <a:latin typeface="Google Sans Text"/>
                        </a:rPr>
                        <a:t>（</a:t>
                      </a:r>
                      <a:r>
                        <a:rPr lang="en-US" altLang="ja-JP" sz="1100" dirty="0">
                          <a:solidFill>
                            <a:srgbClr val="1F1F1F"/>
                          </a:solidFill>
                          <a:effectLst/>
                          <a:latin typeface="Google Sans Text"/>
                        </a:rPr>
                        <a:t>VPN</a:t>
                      </a:r>
                      <a:r>
                        <a:rPr lang="ja-JP" altLang="en-US" sz="1100" dirty="0">
                          <a:solidFill>
                            <a:srgbClr val="1F1F1F"/>
                          </a:solidFill>
                          <a:effectLst/>
                          <a:latin typeface="Google Sans Text"/>
                        </a:rPr>
                        <a:t>）への道を作る</a:t>
                      </a:r>
                    </a:p>
                  </a:txBody>
                  <a:tcPr marL="83147" marR="83147"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810592"/>
                  </a:ext>
                </a:extLst>
              </a:tr>
              <a:tr h="713791">
                <a:tc>
                  <a:txBody>
                    <a:bodyPr/>
                    <a:lstStyle/>
                    <a:p>
                      <a:pPr rtl="0">
                        <a:buNone/>
                      </a:pPr>
                      <a:r>
                        <a:rPr lang="ja-JP" altLang="en-US" sz="1100" b="1" dirty="0">
                          <a:solidFill>
                            <a:srgbClr val="1F1F1F"/>
                          </a:solidFill>
                          <a:effectLst/>
                          <a:latin typeface="Google Sans Text"/>
                        </a:rPr>
                        <a:t>ルーティング変更</a:t>
                      </a:r>
                      <a:endParaRPr lang="ja-JP" altLang="en-US" sz="1100" dirty="0">
                        <a:solidFill>
                          <a:srgbClr val="1F1F1F"/>
                        </a:solidFill>
                        <a:effectLst/>
                        <a:latin typeface="Google Sans Text"/>
                      </a:endParaRPr>
                    </a:p>
                  </a:txBody>
                  <a:tcPr marL="83147" marR="103933"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600" dirty="0" err="1">
                          <a:solidFill>
                            <a:srgbClr val="444746"/>
                          </a:solidFill>
                          <a:effectLst/>
                          <a:latin typeface="Google Sans Text"/>
                        </a:rPr>
                        <a:t>aws</a:t>
                      </a:r>
                      <a:r>
                        <a:rPr lang="en-US" sz="1600" dirty="0">
                          <a:solidFill>
                            <a:srgbClr val="444746"/>
                          </a:solidFill>
                          <a:effectLst/>
                          <a:latin typeface="Google Sans Text"/>
                        </a:rPr>
                        <a:t> ec2 replace-route --route-table-id &lt;ID&gt; --destination-</a:t>
                      </a:r>
                      <a:r>
                        <a:rPr lang="en-US" sz="1600" dirty="0" err="1">
                          <a:solidFill>
                            <a:srgbClr val="444746"/>
                          </a:solidFill>
                          <a:effectLst/>
                          <a:latin typeface="Google Sans Text"/>
                        </a:rPr>
                        <a:t>cidr</a:t>
                      </a:r>
                      <a:r>
                        <a:rPr lang="en-US" sz="1600" dirty="0">
                          <a:solidFill>
                            <a:srgbClr val="444746"/>
                          </a:solidFill>
                          <a:effectLst/>
                          <a:latin typeface="Google Sans Text"/>
                        </a:rPr>
                        <a:t>-block &lt;</a:t>
                      </a:r>
                      <a:r>
                        <a:rPr lang="ja-JP" altLang="en-US" sz="1600" dirty="0">
                          <a:solidFill>
                            <a:srgbClr val="444746"/>
                          </a:solidFill>
                          <a:effectLst/>
                          <a:latin typeface="Google Sans Text"/>
                        </a:rPr>
                        <a:t>相手</a:t>
                      </a:r>
                      <a:r>
                        <a:rPr lang="en-US" sz="1600" dirty="0">
                          <a:solidFill>
                            <a:srgbClr val="444746"/>
                          </a:solidFill>
                          <a:effectLst/>
                          <a:latin typeface="Google Sans Text"/>
                        </a:rPr>
                        <a:t>CIDR&gt; --network-interface-id &lt;EC2</a:t>
                      </a:r>
                      <a:r>
                        <a:rPr lang="ja-JP" altLang="en-US" sz="1600" dirty="0">
                          <a:solidFill>
                            <a:srgbClr val="444746"/>
                          </a:solidFill>
                          <a:effectLst/>
                          <a:latin typeface="Google Sans Text"/>
                        </a:rPr>
                        <a:t>の</a:t>
                      </a:r>
                      <a:r>
                        <a:rPr lang="en-US" sz="1600" dirty="0">
                          <a:solidFill>
                            <a:srgbClr val="444746"/>
                          </a:solidFill>
                          <a:effectLst/>
                          <a:latin typeface="Google Sans Text"/>
                        </a:rPr>
                        <a:t>ENI-ID&gt;</a:t>
                      </a:r>
                      <a:endParaRPr lang="en-US" sz="1600" dirty="0">
                        <a:solidFill>
                          <a:srgbClr val="1F1F1F"/>
                        </a:solidFill>
                        <a:effectLst/>
                        <a:latin typeface="Google Sans Text"/>
                      </a:endParaRPr>
                    </a:p>
                  </a:txBody>
                  <a:tcPr marL="83147" marR="103933"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ja-JP" altLang="en-US" sz="1100" dirty="0">
                          <a:solidFill>
                            <a:srgbClr val="1F1F1F"/>
                          </a:solidFill>
                          <a:effectLst/>
                          <a:latin typeface="Google Sans Text"/>
                        </a:rPr>
                        <a:t>送信先を</a:t>
                      </a:r>
                      <a:r>
                        <a:rPr lang="en-US" altLang="ja-JP" sz="1100" dirty="0">
                          <a:solidFill>
                            <a:srgbClr val="1F1F1F"/>
                          </a:solidFill>
                          <a:effectLst/>
                          <a:latin typeface="Google Sans Text"/>
                        </a:rPr>
                        <a:t>VGW</a:t>
                      </a:r>
                      <a:r>
                        <a:rPr lang="ja-JP" altLang="en-US" sz="1100" dirty="0">
                          <a:solidFill>
                            <a:srgbClr val="1F1F1F"/>
                          </a:solidFill>
                          <a:effectLst/>
                          <a:latin typeface="Google Sans Text"/>
                        </a:rPr>
                        <a:t>から</a:t>
                      </a:r>
                      <a:r>
                        <a:rPr lang="en-US" altLang="ja-JP" sz="1100" dirty="0">
                          <a:solidFill>
                            <a:srgbClr val="1F1F1F"/>
                          </a:solidFill>
                          <a:effectLst/>
                          <a:latin typeface="Google Sans Text"/>
                        </a:rPr>
                        <a:t>EC2(</a:t>
                      </a:r>
                      <a:r>
                        <a:rPr lang="ja-JP" altLang="en-US" sz="1100" dirty="0">
                          <a:solidFill>
                            <a:srgbClr val="1F1F1F"/>
                          </a:solidFill>
                          <a:effectLst/>
                          <a:latin typeface="Google Sans Text"/>
                        </a:rPr>
                        <a:t>ルーター</a:t>
                      </a:r>
                      <a:r>
                        <a:rPr lang="en-US" altLang="ja-JP" sz="1100" dirty="0">
                          <a:solidFill>
                            <a:srgbClr val="1F1F1F"/>
                          </a:solidFill>
                          <a:effectLst/>
                          <a:latin typeface="Google Sans Text"/>
                        </a:rPr>
                        <a:t>)</a:t>
                      </a:r>
                      <a:r>
                        <a:rPr lang="ja-JP" altLang="en-US" sz="1100" dirty="0">
                          <a:solidFill>
                            <a:srgbClr val="1F1F1F"/>
                          </a:solidFill>
                          <a:effectLst/>
                          <a:latin typeface="Google Sans Text"/>
                        </a:rPr>
                        <a:t>へ変更</a:t>
                      </a:r>
                    </a:p>
                  </a:txBody>
                  <a:tcPr marL="83147" marR="83147" marT="138578" marB="138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691910"/>
                  </a:ext>
                </a:extLst>
              </a:tr>
            </a:tbl>
          </a:graphicData>
        </a:graphic>
      </p:graphicFrame>
    </p:spTree>
    <p:extLst>
      <p:ext uri="{BB962C8B-B14F-4D97-AF65-F5344CB8AC3E}">
        <p14:creationId xmlns:p14="http://schemas.microsoft.com/office/powerpoint/2010/main" val="2313577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72B56-CF31-4C9A-619C-B440772E96E0}"/>
              </a:ext>
            </a:extLst>
          </p:cNvPr>
          <p:cNvSpPr>
            <a:spLocks noGrp="1"/>
          </p:cNvSpPr>
          <p:nvPr>
            <p:ph type="title"/>
          </p:nvPr>
        </p:nvSpPr>
        <p:spPr/>
        <p:txBody>
          <a:bodyPr/>
          <a:lstStyle/>
          <a:p>
            <a:r>
              <a:rPr kumimoji="1" lang="ja-JP" altLang="en-US" dirty="0"/>
              <a:t>振り返り</a:t>
            </a:r>
          </a:p>
        </p:txBody>
      </p:sp>
      <p:sp>
        <p:nvSpPr>
          <p:cNvPr id="4" name="テキスト ボックス 3">
            <a:extLst>
              <a:ext uri="{FF2B5EF4-FFF2-40B4-BE49-F238E27FC236}">
                <a16:creationId xmlns:a16="http://schemas.microsoft.com/office/drawing/2014/main" id="{FF503222-D2BC-E355-AB0C-8486E74D40AD}"/>
              </a:ext>
            </a:extLst>
          </p:cNvPr>
          <p:cNvSpPr txBox="1"/>
          <p:nvPr/>
        </p:nvSpPr>
        <p:spPr>
          <a:xfrm>
            <a:off x="532618" y="1502688"/>
            <a:ext cx="11126764" cy="5355312"/>
          </a:xfrm>
          <a:prstGeom prst="rect">
            <a:avLst/>
          </a:prstGeom>
          <a:noFill/>
        </p:spPr>
        <p:txBody>
          <a:bodyPr wrap="none" rtlCol="0">
            <a:spAutoFit/>
          </a:bodyPr>
          <a:lstStyle/>
          <a:p>
            <a:r>
              <a:rPr kumimoji="1" lang="ja-JP" altLang="en-US" dirty="0"/>
              <a:t>■前提条件</a:t>
            </a:r>
            <a:endParaRPr kumimoji="1" lang="en-US" altLang="ja-JP" dirty="0"/>
          </a:p>
          <a:p>
            <a:r>
              <a:rPr kumimoji="1" lang="en-US" altLang="ja-JP" dirty="0"/>
              <a:t>AWS</a:t>
            </a:r>
            <a:r>
              <a:rPr kumimoji="1" lang="ja-JP" altLang="en-US" dirty="0"/>
              <a:t>上に</a:t>
            </a:r>
            <a:r>
              <a:rPr kumimoji="1" lang="en-US" altLang="ja-JP" dirty="0"/>
              <a:t>2</a:t>
            </a:r>
            <a:r>
              <a:rPr kumimoji="1" lang="ja-JP" altLang="en-US" dirty="0"/>
              <a:t>つの</a:t>
            </a:r>
            <a:r>
              <a:rPr kumimoji="1" lang="en-US" altLang="ja-JP" dirty="0"/>
              <a:t>VPC</a:t>
            </a:r>
            <a:r>
              <a:rPr kumimoji="1" lang="ja-JP" altLang="en-US" dirty="0"/>
              <a:t>を作成し、</a:t>
            </a:r>
            <a:r>
              <a:rPr kumimoji="1" lang="en-US" altLang="ja-JP" dirty="0"/>
              <a:t>VPC</a:t>
            </a:r>
            <a:r>
              <a:rPr kumimoji="1" lang="ja-JP" altLang="en-US" dirty="0"/>
              <a:t>間を</a:t>
            </a:r>
            <a:r>
              <a:rPr kumimoji="1" lang="en-US" altLang="ja-JP" dirty="0"/>
              <a:t>site to site VPN</a:t>
            </a:r>
            <a:r>
              <a:rPr kumimoji="1" lang="ja-JP" altLang="en-US" dirty="0"/>
              <a:t>で接続する対応を行った。</a:t>
            </a:r>
            <a:endParaRPr kumimoji="1" lang="en-US" altLang="ja-JP" dirty="0"/>
          </a:p>
          <a:p>
            <a:r>
              <a:rPr lang="ja-JP" altLang="en-US" dirty="0"/>
              <a:t>片方は</a:t>
            </a:r>
            <a:r>
              <a:rPr lang="en-US" altLang="ja-JP" dirty="0"/>
              <a:t>virtual </a:t>
            </a:r>
            <a:r>
              <a:rPr lang="en-US" altLang="ja-JP" dirty="0" err="1"/>
              <a:t>privategateway</a:t>
            </a:r>
            <a:r>
              <a:rPr lang="ja-JP" altLang="en-US" dirty="0"/>
              <a:t>、もう一方は</a:t>
            </a:r>
            <a:r>
              <a:rPr lang="en-US" altLang="ja-JP" dirty="0"/>
              <a:t>EC2</a:t>
            </a:r>
            <a:r>
              <a:rPr lang="ja-JP" altLang="en-US" dirty="0"/>
              <a:t>をルーター代わりにカスタマーゲートウェイを設置</a:t>
            </a:r>
            <a:endParaRPr lang="en-US" altLang="ja-JP" dirty="0"/>
          </a:p>
          <a:p>
            <a:endParaRPr kumimoji="1" lang="en-US" altLang="ja-JP" dirty="0"/>
          </a:p>
          <a:p>
            <a:r>
              <a:rPr lang="ja-JP" altLang="en-US" dirty="0"/>
              <a:t>■ハマった内容</a:t>
            </a:r>
            <a:endParaRPr lang="en-US" altLang="ja-JP" dirty="0"/>
          </a:p>
          <a:p>
            <a:r>
              <a:rPr kumimoji="1" lang="ja-JP" altLang="en-US" dirty="0"/>
              <a:t>・</a:t>
            </a:r>
            <a:r>
              <a:rPr kumimoji="1" lang="en-US" altLang="ja-JP" dirty="0"/>
              <a:t>Antigravity</a:t>
            </a:r>
            <a:r>
              <a:rPr kumimoji="1" lang="ja-JP" altLang="en-US" dirty="0"/>
              <a:t>の無料範囲が切れたので、全体を分かる</a:t>
            </a:r>
            <a:r>
              <a:rPr kumimoji="1" lang="en-US" altLang="ja-JP" dirty="0"/>
              <a:t>AI</a:t>
            </a:r>
            <a:r>
              <a:rPr kumimoji="1" lang="ja-JP" altLang="en-US" dirty="0"/>
              <a:t>エージェントが使えなかった。</a:t>
            </a:r>
            <a:endParaRPr kumimoji="1" lang="en-US" altLang="ja-JP" dirty="0"/>
          </a:p>
          <a:p>
            <a:r>
              <a:rPr lang="ja-JP" altLang="en-US" dirty="0"/>
              <a:t>・</a:t>
            </a:r>
            <a:r>
              <a:rPr lang="en-US" altLang="ja-JP" dirty="0"/>
              <a:t>Gemini</a:t>
            </a:r>
            <a:r>
              <a:rPr lang="ja-JP" altLang="en-US" dirty="0"/>
              <a:t>を使って調べながら対応した。</a:t>
            </a:r>
            <a:endParaRPr lang="en-US" altLang="ja-JP" dirty="0"/>
          </a:p>
          <a:p>
            <a:r>
              <a:rPr kumimoji="1" lang="ja-JP" altLang="en-US" dirty="0"/>
              <a:t>・</a:t>
            </a:r>
            <a:r>
              <a:rPr kumimoji="1" lang="en-US" altLang="ja-JP" dirty="0"/>
              <a:t>Gemini</a:t>
            </a:r>
            <a:r>
              <a:rPr kumimoji="1" lang="ja-JP" altLang="en-US" dirty="0"/>
              <a:t>があと少しで動きますと言って、色々設定を変更したが改善せずぐちゃぐちゃになった。</a:t>
            </a:r>
            <a:endParaRPr kumimoji="1" lang="en-US" altLang="ja-JP" dirty="0"/>
          </a:p>
          <a:p>
            <a:r>
              <a:rPr lang="ja-JP" altLang="en-US" dirty="0"/>
              <a:t>・</a:t>
            </a:r>
            <a:r>
              <a:rPr lang="en-US" altLang="ja-JP" dirty="0" err="1"/>
              <a:t>Chatgpt</a:t>
            </a:r>
            <a:r>
              <a:rPr lang="ja-JP" altLang="en-US" dirty="0"/>
              <a:t>に切り替えたら、違った観点で修正を提案した、割と良かったが、</a:t>
            </a:r>
            <a:endParaRPr lang="en-US" altLang="ja-JP" dirty="0"/>
          </a:p>
          <a:p>
            <a:r>
              <a:rPr kumimoji="1" lang="ja-JP" altLang="en-US" dirty="0"/>
              <a:t>直ぐに</a:t>
            </a:r>
            <a:r>
              <a:rPr kumimoji="1" lang="en-US" altLang="ja-JP" dirty="0"/>
              <a:t>Gemini</a:t>
            </a:r>
            <a:r>
              <a:rPr kumimoji="1" lang="ja-JP" altLang="en-US" dirty="0"/>
              <a:t>と同じで次で治りますと色々やり始めてぐちゃぐちゃに。</a:t>
            </a:r>
            <a:endParaRPr kumimoji="1" lang="en-US" altLang="ja-JP" dirty="0"/>
          </a:p>
          <a:p>
            <a:endParaRPr lang="en-US" altLang="ja-JP" dirty="0"/>
          </a:p>
          <a:p>
            <a:r>
              <a:rPr kumimoji="1" lang="ja-JP" altLang="en-US" dirty="0"/>
              <a:t>・色々試した中で登場人物を整理、要素技術を</a:t>
            </a:r>
            <a:r>
              <a:rPr kumimoji="1" lang="en-US" altLang="ja-JP" dirty="0"/>
              <a:t>AI</a:t>
            </a:r>
            <a:r>
              <a:rPr kumimoji="1" lang="ja-JP" altLang="en-US" dirty="0"/>
              <a:t>を使って</a:t>
            </a:r>
            <a:r>
              <a:rPr kumimoji="1" lang="en-US" altLang="ja-JP" dirty="0"/>
              <a:t>1</a:t>
            </a:r>
            <a:r>
              <a:rPr kumimoji="1" lang="ja-JP" altLang="en-US" dirty="0"/>
              <a:t>つずつ調査して整理。</a:t>
            </a:r>
            <a:endParaRPr kumimoji="1" lang="en-US" altLang="ja-JP" dirty="0"/>
          </a:p>
          <a:p>
            <a:r>
              <a:rPr lang="ja-JP" altLang="en-US" dirty="0"/>
              <a:t>・</a:t>
            </a:r>
            <a:r>
              <a:rPr lang="en-US" altLang="ja-JP" dirty="0"/>
              <a:t>AWS</a:t>
            </a:r>
            <a:r>
              <a:rPr lang="ja-JP" altLang="en-US" dirty="0"/>
              <a:t>からダウンロードできる設定ファイルが</a:t>
            </a:r>
            <a:r>
              <a:rPr lang="en-US" altLang="ja-JP" dirty="0"/>
              <a:t>AWS</a:t>
            </a:r>
            <a:r>
              <a:rPr lang="ja-JP" altLang="en-US" dirty="0"/>
              <a:t>サービスの設定かローカルデバイスに投入する設定か</a:t>
            </a:r>
            <a:endParaRPr lang="en-US" altLang="ja-JP" dirty="0"/>
          </a:p>
          <a:p>
            <a:r>
              <a:rPr lang="ja-JP" altLang="en-US" dirty="0"/>
              <a:t>判断が</a:t>
            </a:r>
            <a:r>
              <a:rPr kumimoji="1" lang="ja-JP" altLang="en-US" dirty="0"/>
              <a:t>出来なかった。</a:t>
            </a:r>
            <a:endParaRPr kumimoji="1" lang="en-US" altLang="ja-JP" dirty="0"/>
          </a:p>
          <a:p>
            <a:r>
              <a:rPr lang="ja-JP" altLang="en-US" dirty="0"/>
              <a:t>・</a:t>
            </a:r>
            <a:r>
              <a:rPr lang="en-US" altLang="ja-JP" dirty="0"/>
              <a:t>AWS</a:t>
            </a:r>
            <a:r>
              <a:rPr lang="ja-JP" altLang="en-US" dirty="0"/>
              <a:t>の設定ファイル内の</a:t>
            </a:r>
            <a:r>
              <a:rPr lang="en-US" altLang="ja-JP" dirty="0"/>
              <a:t>AWS</a:t>
            </a:r>
            <a:r>
              <a:rPr lang="ja-JP" altLang="en-US" dirty="0"/>
              <a:t>側、ローカル側の</a:t>
            </a:r>
            <a:r>
              <a:rPr lang="en-US" altLang="ja-JP" dirty="0"/>
              <a:t>IP</a:t>
            </a:r>
            <a:r>
              <a:rPr lang="ja-JP" altLang="en-US" dirty="0"/>
              <a:t>アドレスがひっくり返っていた。</a:t>
            </a:r>
            <a:endParaRPr lang="en-US" altLang="ja-JP" dirty="0"/>
          </a:p>
          <a:p>
            <a:r>
              <a:rPr kumimoji="1" lang="ja-JP" altLang="en-US" dirty="0"/>
              <a:t>・</a:t>
            </a:r>
            <a:r>
              <a:rPr kumimoji="1" lang="en-US" altLang="ja-JP" dirty="0" err="1"/>
              <a:t>TCPdump</a:t>
            </a:r>
            <a:r>
              <a:rPr kumimoji="1" lang="ja-JP" altLang="en-US" dirty="0"/>
              <a:t>から</a:t>
            </a:r>
            <a:r>
              <a:rPr kumimoji="1" lang="en-US" altLang="ja-JP" dirty="0"/>
              <a:t>AWS</a:t>
            </a:r>
            <a:r>
              <a:rPr kumimoji="1" lang="ja-JP" altLang="en-US" dirty="0"/>
              <a:t>からの通信をキャプチャーして調査</a:t>
            </a:r>
            <a:endParaRPr kumimoji="1" lang="en-US" altLang="ja-JP" dirty="0"/>
          </a:p>
          <a:p>
            <a:r>
              <a:rPr lang="ja-JP" altLang="en-US" dirty="0"/>
              <a:t>・</a:t>
            </a:r>
            <a:r>
              <a:rPr lang="en-US" altLang="ja-JP" dirty="0" err="1"/>
              <a:t>Strongswan</a:t>
            </a:r>
            <a:r>
              <a:rPr lang="ja-JP" altLang="en-US" dirty="0"/>
              <a:t>や</a:t>
            </a:r>
            <a:r>
              <a:rPr lang="en-US" altLang="ja-JP" dirty="0"/>
              <a:t>FRR</a:t>
            </a:r>
            <a:r>
              <a:rPr lang="ja-JP" altLang="en-US" dirty="0"/>
              <a:t>など知らないツールの設定・</a:t>
            </a:r>
            <a:r>
              <a:rPr lang="en-US" altLang="ja-JP" dirty="0"/>
              <a:t>BGP</a:t>
            </a:r>
            <a:r>
              <a:rPr lang="ja-JP" altLang="en-US" dirty="0"/>
              <a:t>の設定など未経験の設定が多かった。</a:t>
            </a:r>
            <a:endParaRPr lang="en-US" altLang="ja-JP" dirty="0"/>
          </a:p>
          <a:p>
            <a:r>
              <a:rPr kumimoji="1" lang="ja-JP" altLang="en-US" dirty="0"/>
              <a:t>・</a:t>
            </a:r>
            <a:r>
              <a:rPr kumimoji="1" lang="en-US" altLang="ja-JP" dirty="0"/>
              <a:t>ubuntu</a:t>
            </a:r>
            <a:r>
              <a:rPr kumimoji="1" lang="ja-JP" altLang="en-US" dirty="0"/>
              <a:t>の仮想インターフェースや</a:t>
            </a:r>
            <a:r>
              <a:rPr kumimoji="1" lang="en-US" altLang="ja-JP" dirty="0" err="1"/>
              <a:t>ErasticIP</a:t>
            </a:r>
            <a:r>
              <a:rPr kumimoji="1" lang="ja-JP" altLang="en-US" dirty="0"/>
              <a:t>の振る舞いなど知らない事があった。</a:t>
            </a:r>
            <a:endParaRPr kumimoji="1" lang="en-US" altLang="ja-JP" dirty="0"/>
          </a:p>
          <a:p>
            <a:r>
              <a:rPr lang="ja-JP" altLang="en-US" dirty="0"/>
              <a:t>・結果として</a:t>
            </a:r>
            <a:r>
              <a:rPr lang="en-US" altLang="ja-JP" dirty="0"/>
              <a:t>4</a:t>
            </a:r>
            <a:r>
              <a:rPr lang="ja-JP" altLang="en-US" dirty="0"/>
              <a:t>日間ハマってしまった。</a:t>
            </a:r>
            <a:endParaRPr kumimoji="1" lang="en-US" altLang="ja-JP" dirty="0"/>
          </a:p>
        </p:txBody>
      </p:sp>
    </p:spTree>
    <p:extLst>
      <p:ext uri="{BB962C8B-B14F-4D97-AF65-F5344CB8AC3E}">
        <p14:creationId xmlns:p14="http://schemas.microsoft.com/office/powerpoint/2010/main" val="1444223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171BBE-50A0-1E1E-B261-554E040DC065}"/>
              </a:ext>
            </a:extLst>
          </p:cNvPr>
          <p:cNvSpPr>
            <a:spLocks noGrp="1"/>
          </p:cNvSpPr>
          <p:nvPr>
            <p:ph type="title"/>
          </p:nvPr>
        </p:nvSpPr>
        <p:spPr/>
        <p:txBody>
          <a:bodyPr/>
          <a:lstStyle/>
          <a:p>
            <a:r>
              <a:rPr kumimoji="1" lang="ja-JP" altLang="en-US" dirty="0"/>
              <a:t>対策</a:t>
            </a:r>
          </a:p>
        </p:txBody>
      </p:sp>
      <p:sp>
        <p:nvSpPr>
          <p:cNvPr id="3" name="コンテンツ プレースホルダー 2">
            <a:extLst>
              <a:ext uri="{FF2B5EF4-FFF2-40B4-BE49-F238E27FC236}">
                <a16:creationId xmlns:a16="http://schemas.microsoft.com/office/drawing/2014/main" id="{A130AB90-A374-51DF-C340-4A090A2524EA}"/>
              </a:ext>
            </a:extLst>
          </p:cNvPr>
          <p:cNvSpPr>
            <a:spLocks noGrp="1"/>
          </p:cNvSpPr>
          <p:nvPr>
            <p:ph idx="1"/>
          </p:nvPr>
        </p:nvSpPr>
        <p:spPr/>
        <p:txBody>
          <a:bodyPr>
            <a:normAutofit fontScale="62500" lnSpcReduction="20000"/>
          </a:bodyPr>
          <a:lstStyle/>
          <a:p>
            <a:r>
              <a:rPr kumimoji="1" lang="en-US" altLang="ja-JP" dirty="0"/>
              <a:t>1</a:t>
            </a:r>
            <a:r>
              <a:rPr kumimoji="1" lang="ja-JP" altLang="en-US" dirty="0"/>
              <a:t>日置きに知らない内容の要素技術を整理する方が良い気がする。それだけで</a:t>
            </a:r>
            <a:r>
              <a:rPr kumimoji="1" lang="en-US" altLang="ja-JP" dirty="0"/>
              <a:t>4</a:t>
            </a:r>
            <a:r>
              <a:rPr kumimoji="1" lang="ja-JP" altLang="en-US" dirty="0"/>
              <a:t>日⇒</a:t>
            </a:r>
            <a:r>
              <a:rPr kumimoji="1" lang="en-US" altLang="ja-JP" dirty="0"/>
              <a:t>2</a:t>
            </a:r>
            <a:r>
              <a:rPr kumimoji="1" lang="ja-JP" altLang="en-US" dirty="0"/>
              <a:t>日にハマる時間を減らせる気がする。</a:t>
            </a:r>
            <a:endParaRPr kumimoji="1" lang="en-US" altLang="ja-JP" dirty="0"/>
          </a:p>
          <a:p>
            <a:pPr marL="0" indent="0">
              <a:buNone/>
            </a:pPr>
            <a:r>
              <a:rPr lang="ja-JP" altLang="en-US" dirty="0"/>
              <a:t>最低でもこれは整理しながら進んだ方が良いかも</a:t>
            </a:r>
            <a:endParaRPr lang="en-US" altLang="ja-JP" dirty="0"/>
          </a:p>
          <a:p>
            <a:pPr marL="0" indent="0">
              <a:buNone/>
            </a:pPr>
            <a:r>
              <a:rPr lang="ja-JP" altLang="en-US" dirty="0"/>
              <a:t>⇒ツールの概要・設定内容・コマンド</a:t>
            </a:r>
            <a:endParaRPr lang="en-US" altLang="ja-JP" dirty="0"/>
          </a:p>
          <a:p>
            <a:pPr marL="0" indent="0">
              <a:buNone/>
            </a:pPr>
            <a:r>
              <a:rPr kumimoji="1" lang="ja-JP" altLang="en-US" dirty="0"/>
              <a:t>⇒あと少しで終わりそうな気配があっても取り合えず整理しながら進んだ方が得るものが多そうな予感</a:t>
            </a:r>
            <a:endParaRPr kumimoji="1" lang="en-US" altLang="ja-JP" dirty="0"/>
          </a:p>
          <a:p>
            <a:pPr marL="0" indent="0">
              <a:buNone/>
            </a:pPr>
            <a:r>
              <a:rPr kumimoji="1" lang="ja-JP" altLang="en-US" dirty="0"/>
              <a:t>⇒</a:t>
            </a:r>
            <a:r>
              <a:rPr kumimoji="1" lang="en-US" altLang="ja-JP" dirty="0"/>
              <a:t>AI</a:t>
            </a:r>
            <a:r>
              <a:rPr kumimoji="1" lang="ja-JP" altLang="en-US" dirty="0"/>
              <a:t>が何度も同じ設定を提案してきたら、一回関連技術を整理して自分でデバックするのが良いかも</a:t>
            </a:r>
            <a:endParaRPr kumimoji="1" lang="en-US" altLang="ja-JP" dirty="0"/>
          </a:p>
          <a:p>
            <a:endParaRPr lang="en-US" altLang="ja-JP" dirty="0"/>
          </a:p>
          <a:p>
            <a:r>
              <a:rPr kumimoji="1" lang="ja-JP" altLang="en-US" dirty="0"/>
              <a:t>出来れば公式ドキュメントを見るようにしたほうが良いような気もするが、それを探すより</a:t>
            </a:r>
            <a:r>
              <a:rPr kumimoji="1" lang="en-US" altLang="ja-JP" dirty="0"/>
              <a:t>AI</a:t>
            </a:r>
            <a:r>
              <a:rPr kumimoji="1" lang="ja-JP" altLang="en-US" dirty="0"/>
              <a:t>で検索するのが早い場合が多いので悩みどころ。でも絶対に公式で調べ方は知っておいた方が良い</a:t>
            </a:r>
            <a:endParaRPr kumimoji="1" lang="en-US" altLang="ja-JP" dirty="0"/>
          </a:p>
          <a:p>
            <a:endParaRPr lang="en-US" altLang="ja-JP" dirty="0"/>
          </a:p>
          <a:p>
            <a:r>
              <a:rPr kumimoji="1" lang="en-US" altLang="ja-JP" dirty="0"/>
              <a:t>AI</a:t>
            </a:r>
            <a:r>
              <a:rPr kumimoji="1" lang="ja-JP" altLang="en-US" dirty="0"/>
              <a:t>が自動補完する機能に多少振り回された。</a:t>
            </a:r>
            <a:endParaRPr kumimoji="1" lang="en-US" altLang="ja-JP" dirty="0"/>
          </a:p>
          <a:p>
            <a:pPr marL="0" indent="0">
              <a:buNone/>
            </a:pPr>
            <a:r>
              <a:rPr kumimoji="1" lang="ja-JP" altLang="en-US" dirty="0"/>
              <a:t>（</a:t>
            </a:r>
            <a:r>
              <a:rPr kumimoji="1" lang="en-US" altLang="ja-JP" dirty="0"/>
              <a:t>ESC</a:t>
            </a:r>
            <a:r>
              <a:rPr kumimoji="1" lang="ja-JP" altLang="en-US" dirty="0"/>
              <a:t>キーで提案を破棄できる。</a:t>
            </a:r>
            <a:r>
              <a:rPr kumimoji="1" lang="en-US" altLang="ja-JP" dirty="0"/>
              <a:t>Tab</a:t>
            </a:r>
            <a:r>
              <a:rPr kumimoji="1" lang="ja-JP" altLang="en-US" dirty="0"/>
              <a:t>キーで採用できる</a:t>
            </a:r>
            <a:r>
              <a:rPr kumimoji="1" lang="en-US" altLang="ja-JP" dirty="0"/>
              <a:t>)</a:t>
            </a:r>
          </a:p>
          <a:p>
            <a:endParaRPr lang="en-US" altLang="ja-JP" dirty="0"/>
          </a:p>
          <a:p>
            <a:endParaRPr kumimoji="1" lang="ja-JP" altLang="en-US" dirty="0"/>
          </a:p>
        </p:txBody>
      </p:sp>
    </p:spTree>
    <p:extLst>
      <p:ext uri="{BB962C8B-B14F-4D97-AF65-F5344CB8AC3E}">
        <p14:creationId xmlns:p14="http://schemas.microsoft.com/office/powerpoint/2010/main" val="41223030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8e20e6-048a-4bad-a26b-318dd1cd4d47}" enabled="1" method="Privileged" siteId="{66c65d8a-9158-4521-a2d8-664963db48e4}" contentBits="0" removed="0"/>
</clbl:labelList>
</file>

<file path=docProps/app.xml><?xml version="1.0" encoding="utf-8"?>
<Properties xmlns="http://schemas.openxmlformats.org/officeDocument/2006/extended-properties" xmlns:vt="http://schemas.openxmlformats.org/officeDocument/2006/docPropsVTypes">
  <TotalTime>1593</TotalTime>
  <Words>1962</Words>
  <Application>Microsoft Office PowerPoint</Application>
  <PresentationFormat>ワイド画面</PresentationFormat>
  <Paragraphs>286</Paragraphs>
  <Slides>22</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22</vt:i4>
      </vt:variant>
    </vt:vector>
  </HeadingPairs>
  <TitlesOfParts>
    <vt:vector size="29" baseType="lpstr">
      <vt:lpstr>Amazon Ember</vt:lpstr>
      <vt:lpstr>Google Sans Text</vt:lpstr>
      <vt:lpstr>Noto Sans JP</vt:lpstr>
      <vt:lpstr>游ゴシック</vt:lpstr>
      <vt:lpstr>游ゴシック Light</vt:lpstr>
      <vt:lpstr>Arial</vt:lpstr>
      <vt:lpstr>Office テーマ</vt:lpstr>
      <vt:lpstr>PowerPoint プレゼンテーション</vt:lpstr>
      <vt:lpstr>主要技術</vt:lpstr>
      <vt:lpstr>strongswan</vt:lpstr>
      <vt:lpstr>VTI（仮想トンネルIF）その１</vt:lpstr>
      <vt:lpstr>VTI（仮想トンネルIF）その２</vt:lpstr>
      <vt:lpstr>VTI（仮想トンネルIF）その3</vt:lpstr>
      <vt:lpstr>route-basedとpolicy-based</vt:lpstr>
      <vt:lpstr>route-based</vt:lpstr>
      <vt:lpstr>policy-based</vt:lpstr>
      <vt:lpstr>FRRの役割</vt:lpstr>
      <vt:lpstr>EC2のIPアドレス周り</vt:lpstr>
      <vt:lpstr>BGP通信について</vt:lpstr>
      <vt:lpstr>設定ファイルの書き方（ strongswan ）</vt:lpstr>
      <vt:lpstr>設定ファイルの書き方（ strongswan ）</vt:lpstr>
      <vt:lpstr>FRRの設定内容</vt:lpstr>
      <vt:lpstr>FRRコマンド表</vt:lpstr>
      <vt:lpstr>sudo ip xfrm policyの見かた</vt:lpstr>
      <vt:lpstr>AWS CLIのTips</vt:lpstr>
      <vt:lpstr>AWS　CLIコマンド</vt:lpstr>
      <vt:lpstr>AWS　CLIコマンドその2</vt:lpstr>
      <vt:lpstr>振り返り</vt:lpstr>
      <vt:lpstr>対策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Yoshida, Hiroshi (SMOJ)</dc:creator>
  <cp:lastModifiedBy>Yoshida, Hiroshi (SMOJ)</cp:lastModifiedBy>
  <cp:revision>16</cp:revision>
  <dcterms:created xsi:type="dcterms:W3CDTF">2026-04-26T10:36:41Z</dcterms:created>
  <dcterms:modified xsi:type="dcterms:W3CDTF">2026-04-30T09:50:16Z</dcterms:modified>
</cp:coreProperties>
</file>