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70" r:id="rId6"/>
    <p:sldId id="269" r:id="rId7"/>
    <p:sldId id="262" r:id="rId8"/>
    <p:sldId id="271" r:id="rId9"/>
    <p:sldId id="265" r:id="rId10"/>
    <p:sldId id="267" r:id="rId11"/>
    <p:sldId id="268" r:id="rId1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1A2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100" d="100"/>
          <a:sy n="100" d="100"/>
        </p:scale>
        <p:origin x="234" y="1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105968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【ナレーション】</a:t>
            </a:r>
          </a:p>
          <a:p>
            <a:r>
              <a:t>こんにちは。本日はCI/CDパイプライン ポートフォリオプロジェクトをご紹介します。</a:t>
            </a:r>
          </a:p>
          <a:p>
            <a:endParaRPr/>
          </a:p>
          <a:p>
            <a:r>
              <a:t>PythonアプリケーションとDockerコンテナ、TerraformによるAWSインフラを対象に</a:t>
            </a:r>
          </a:p>
          <a:p>
            <a:r>
              <a:t>ゼロから本番を意識したCI/CDパイプラインを約1週間で構築しました。</a:t>
            </a:r>
          </a:p>
          <a:p>
            <a:endParaRPr/>
          </a:p>
          <a:p>
            <a:r>
              <a:t>GitHub Actions・Terraform・Docker・ECR/ECS・Trivy・CodeQL・OIDCという複数の</a:t>
            </a:r>
          </a:p>
          <a:p>
            <a:r>
              <a:t>ツールと技術を組み合わせた実践的な学習プロジェクトです。</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【ナレーション】</a:t>
            </a:r>
          </a:p>
          <a:p>
            <a:r>
              <a:t>このプロジェクトは4つの柱で構成されています。</a:t>
            </a:r>
          </a:p>
          <a:p>
            <a:endParaRPr/>
          </a:p>
          <a:p>
            <a:r>
              <a:t>CI（継続的インテグレーション）：PRを作成するたびにコード品質チェック、</a:t>
            </a:r>
          </a:p>
          <a:p>
            <a:r>
              <a:t>セキュリティスキャン、Terraform検証が自動実行されます。問題があればマージできません。</a:t>
            </a:r>
          </a:p>
          <a:p>
            <a:endParaRPr/>
          </a:p>
          <a:p>
            <a:r>
              <a:t>CD（継続的デリバリー）：mainブランチへのマージで dev→stg→prod に段階的デプロイ。</a:t>
            </a:r>
          </a:p>
          <a:p>
            <a:r>
              <a:t>stgとprodは必ず手動承認を経ます。</a:t>
            </a:r>
          </a:p>
          <a:p>
            <a:endParaRPr/>
          </a:p>
          <a:p>
            <a:r>
              <a:t>Image CI/CD：DockerイメージのビルドからECRプッシュ、ECS Fargateデプロイまで</a:t>
            </a:r>
          </a:p>
          <a:p>
            <a:r>
              <a:t>コンテナの一貫したパイプラインです。</a:t>
            </a:r>
          </a:p>
          <a:p>
            <a:endParaRPr/>
          </a:p>
          <a:p>
            <a:r>
              <a:t>セキュリティ：コードを書いた段階からランタイムまで5段階の多層防御を実装しました。</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【ナレーション】</a:t>
            </a:r>
          </a:p>
          <a:p>
            <a:r>
              <a:t>これが全体のアーキテクチャ図です。左から右へ流れるフローをご覧ください。</a:t>
            </a:r>
          </a:p>
          <a:p>
            <a:endParaRPr/>
          </a:p>
          <a:p>
            <a:r>
              <a:t>まず左上でフィーチャーブランチにPRを作成します。</a:t>
            </a:r>
          </a:p>
          <a:p>
            <a:r>
              <a:t>するとCIパイプラインが起動し、5種類のジョブが並行実行されます。</a:t>
            </a:r>
          </a:p>
          <a:p>
            <a:r>
              <a:t>python-quality、python-test、security-scan、terraform-check、そしてimage-ciです。</a:t>
            </a:r>
          </a:p>
          <a:p>
            <a:endParaRPr/>
          </a:p>
          <a:p>
            <a:r>
              <a:t>ブランチ保護により、これらすべてのジョブが成功しないとマージできません。</a:t>
            </a:r>
          </a:p>
          <a:p>
            <a:endParaRPr/>
          </a:p>
          <a:p>
            <a:r>
              <a:t>mainにマージされると右側の2つのCDが同時に動きます。</a:t>
            </a:r>
          </a:p>
          <a:p>
            <a:r>
              <a:t>Terraform CDはdev環境に自動デプロイし、その後stgとprodは手動承認を経てデプロイします。</a:t>
            </a:r>
          </a:p>
          <a:p>
            <a:r>
              <a:t>Image CDはDockerイメージをビルドしてセキュリティスキャン後にECRへプッシュし、</a:t>
            </a:r>
          </a:p>
          <a:p>
            <a:r>
              <a:t>ECS Fargateのサービスを更新します。</a:t>
            </a:r>
          </a:p>
          <a:p>
            <a:endParaRPr/>
          </a:p>
          <a:p>
            <a:r>
              <a:t>このフロー全体を通じて、コードが品質とセキュリティの関門をくぐり抜けて</a:t>
            </a:r>
          </a:p>
          <a:p>
            <a:r>
              <a:t>初めて本番に届く仕組みになっています。</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【ナレーション】</a:t>
            </a:r>
          </a:p>
          <a:p>
            <a:r>
              <a:t>CIパイプラインの5つのジョブをフロー図でご説明します。</a:t>
            </a:r>
          </a:p>
          <a:p>
            <a:endParaRPr/>
          </a:p>
          <a:p>
            <a:r>
              <a:t>PRが作成されると、左から右に5つのジョブが流れます。</a:t>
            </a:r>
          </a:p>
          <a:p>
            <a:endParaRPr/>
          </a:p>
          <a:p>
            <a:r>
              <a:t>1番目のpython-qualityでruffとmypyによるコード品質チェック、</a:t>
            </a:r>
          </a:p>
          <a:p>
            <a:r>
              <a:t>2番目のpython-testでpytestを実行しカバレッジ80%を閾値として検査、</a:t>
            </a:r>
          </a:p>
          <a:p>
            <a:r>
              <a:t>3番目のsecurity-scanでpip-audit・gitleaks・checkovによるセキュリティチェック、</a:t>
            </a:r>
          </a:p>
          <a:p>
            <a:r>
              <a:t>4番目のterraform-checkでTerraformのフォーマット・検証・差分確認、</a:t>
            </a:r>
          </a:p>
          <a:p>
            <a:r>
              <a:t>5番目のimage-ciでDockerイメージをビルドしTrivyとCodeQLでセキュリティスキャン。</a:t>
            </a:r>
          </a:p>
          <a:p>
            <a:endParaRPr/>
          </a:p>
          <a:p>
            <a:r>
              <a:t>これら5つがすべて緑（通過）にならなければマージボタンが押せない設計です。</a:t>
            </a:r>
          </a:p>
          <a:p>
            <a:endParaRPr/>
          </a:p>
          <a:p>
            <a:r>
              <a:t>ローカルでも同じコマンドを実行できます：</a:t>
            </a:r>
          </a:p>
          <a:p>
            <a:r>
              <a:t>ruff check . / mypy . / pytest --cov=app / terraform validate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48938-0AE2-2787-87AE-8E8566663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EC44B4-9EF4-4526-FDD9-A9493A6E1DF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1D3D03C-FDD5-440A-110C-E6DA60443EC8}"/>
              </a:ext>
            </a:extLst>
          </p:cNvPr>
          <p:cNvSpPr>
            <a:spLocks noGrp="1"/>
          </p:cNvSpPr>
          <p:nvPr>
            <p:ph type="body" sz="quarter" idx="3"/>
          </p:nvPr>
        </p:nvSpPr>
        <p:spPr/>
        <p:txBody>
          <a:bodyPr/>
          <a:lstStyle/>
          <a:p>
            <a:r>
              <a:t>【ナレーション】</a:t>
            </a:r>
          </a:p>
          <a:p>
            <a:r>
              <a:t>Dockerfileのセキュリティ設計についてご説明します。</a:t>
            </a:r>
          </a:p>
          <a:p>
            <a:endParaRPr/>
          </a:p>
          <a:p>
            <a:r>
              <a:t>まずマルチステージビルドを採用しています。Stage1でpipインストールなどビルド作業を行い、Stage2ではビルド成果物だけをコピーして本番イメージを作ります。これにより、ビルドツールや一時ファイルが本番イメージに含まれなくなり、攻撃面を減らせます。</a:t>
            </a:r>
          </a:p>
          <a:p>
            <a:endParaRPr/>
          </a:p>
          <a:p>
            <a:r>
              <a:t>ベースイメージはpython:3.14-slimを選択しました。当初python:3.12-slimを使っていたところTrivyでOSパッケージの脆弱性が多数検出され、3.14-slimに更新してセキュリティを改善しました。</a:t>
            </a:r>
          </a:p>
          <a:p>
            <a:endParaRPr/>
          </a:p>
          <a:p>
            <a:r>
              <a:t>非rootユーザーの設定も重要です。UID/GID 1001でappuserを作成し、コンテナ内プロセスを非rootで実行することで、万一コンテナが侵害されてもホストへの影響を最小化します。</a:t>
            </a:r>
          </a:p>
          <a:p>
            <a:endParaRPr/>
          </a:p>
          <a:p>
            <a:r>
              <a:t>最後にHEALTHCHECKを定義することで、ECSがコンテナの正常性を自動判断し、異常時は自動で再起動する仕組みを実現しています。</a:t>
            </a:r>
          </a:p>
          <a:p>
            <a:endParaRPr/>
          </a:p>
        </p:txBody>
      </p:sp>
      <p:sp>
        <p:nvSpPr>
          <p:cNvPr id="4" name="Slide Number Placeholder 3">
            <a:extLst>
              <a:ext uri="{FF2B5EF4-FFF2-40B4-BE49-F238E27FC236}">
                <a16:creationId xmlns:a16="http://schemas.microsoft.com/office/drawing/2014/main" id="{1437E936-87A2-E406-F811-1B348BACA13A}"/>
              </a:ext>
            </a:extLst>
          </p:cNvPr>
          <p:cNvSpPr>
            <a:spLocks noGrp="1"/>
          </p:cNvSpPr>
          <p:nvPr>
            <p:ph type="sldNum" sz="quarter" idx="5"/>
          </p:nvPr>
        </p:nvSpPr>
        <p:spPr/>
      </p:sp>
    </p:spTree>
    <p:extLst>
      <p:ext uri="{BB962C8B-B14F-4D97-AF65-F5344CB8AC3E}">
        <p14:creationId xmlns:p14="http://schemas.microsoft.com/office/powerpoint/2010/main" val="32655091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【ナレーション】</a:t>
            </a:r>
          </a:p>
          <a:p>
            <a:r>
              <a:t>Dockerfileのセキュリティ設計についてご説明します。</a:t>
            </a:r>
          </a:p>
          <a:p>
            <a:endParaRPr/>
          </a:p>
          <a:p>
            <a:r>
              <a:t>まずマルチステージビルドを採用しています。Stage1でpipインストールなどビルド作業を行い、Stage2ではビルド成果物だけをコピーして本番イメージを作ります。これにより、ビルドツールや一時ファイルが本番イメージに含まれなくなり、攻撃面を減らせます。</a:t>
            </a:r>
          </a:p>
          <a:p>
            <a:endParaRPr/>
          </a:p>
          <a:p>
            <a:r>
              <a:t>ベースイメージはpython:3.14-slimを選択しました。当初python:3.12-slimを使っていたところTrivyでOSパッケージの脆弱性が多数検出され、3.14-slimに更新してセキュリティを改善しました。</a:t>
            </a:r>
          </a:p>
          <a:p>
            <a:endParaRPr/>
          </a:p>
          <a:p>
            <a:r>
              <a:t>非rootユーザーの設定も重要です。UID/GID 1001でappuserを作成し、コンテナ内プロセスを非rootで実行することで、万一コンテナが侵害されてもホストへの影響を最小化します。</a:t>
            </a:r>
          </a:p>
          <a:p>
            <a:endParaRPr/>
          </a:p>
          <a:p>
            <a:r>
              <a:t>最後にHEALTHCHECKを定義することで、ECSがコンテナの正常性を自動判断し、異常時は自動で再起動する仕組みを実現しています。</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【ナレーション】</a:t>
            </a:r>
          </a:p>
          <a:p>
            <a:r>
              <a:t>Image CI/CDのパイプラインをご説明します。</a:t>
            </a:r>
          </a:p>
          <a:p>
            <a:endParaRPr/>
          </a:p>
          <a:p>
            <a:r>
              <a:t>左のCI部分（PR時）は4ステップです。</a:t>
            </a:r>
          </a:p>
          <a:p>
            <a:r>
              <a:t>まずdocker buildでマルチステージビルドを実行します。</a:t>
            </a:r>
          </a:p>
          <a:p>
            <a:r>
              <a:t>次にTrivy FSでrequirements.txtの依存関係をスキャン（Layer 2）、</a:t>
            </a:r>
          </a:p>
          <a:p>
            <a:r>
              <a:t>Trivy imageでDockerイメージのOSパッケージをスキャン（Layer 3）、</a:t>
            </a:r>
          </a:p>
          <a:p>
            <a:r>
              <a:t>CodeQL SATSでPythonコードを静的解析（Layer 4）します。</a:t>
            </a:r>
          </a:p>
          <a:p>
            <a:endParaRPr/>
          </a:p>
          <a:p>
            <a:r>
              <a:t>右のCD部分（mainマージ時）は2ステップです。</a:t>
            </a:r>
          </a:p>
          <a:p>
            <a:r>
              <a:t>ECRにプッシュして、ECS Fargateにデプロイします。</a:t>
            </a:r>
          </a:p>
          <a:p>
            <a:endParaRPr/>
          </a:p>
          <a:p>
            <a:r>
              <a:t>下のECR設計ポイントで特に重要なのがgithub.shaタグです。</a:t>
            </a:r>
          </a:p>
          <a:p>
            <a:r>
              <a:t>最初は「latest」タグを使おうとしましたが、ECRのイミュータブルタグ設定で</a:t>
            </a:r>
          </a:p>
          <a:p>
            <a:r>
              <a:t>409エラーが発生しました。これを機にgithub.shaをタグとして使うように変更し、</a:t>
            </a:r>
          </a:p>
          <a:p>
            <a:r>
              <a:t>各コミットのイメージを追跡できる設計になりました。</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【ナレーション】</a:t>
            </a:r>
          </a:p>
          <a:p>
            <a:r>
              <a:t>AWS認証の設計についてご説明します。</a:t>
            </a:r>
          </a:p>
          <a:p>
            <a:endParaRPr/>
          </a:p>
          <a:p>
            <a:r>
              <a:t>GitHub ActionsからAWSを操作するとき、よくあるのがアクセスキーをGitHub Secretsに保存する方法ですが、このプロジェクトではOIDC（OpenID Connect）を使った一時的な認証情報の取得を採用しました。</a:t>
            </a:r>
          </a:p>
          <a:p>
            <a:endParaRPr/>
          </a:p>
          <a:p>
            <a:r>
              <a:t>フローとしては、まずGitHub ActionsがJWTトークンを発行し、そのトークンをAWS STSのAssumeRoleWithWebIdentityに渡します。STSが信頼性を検証すると、有効期限が15分の一時的な認証情報が発行され、その認証情報でTerraform applyやECRプッシュを実行します。</a:t>
            </a:r>
          </a:p>
          <a:p>
            <a:endParaRPr/>
          </a:p>
          <a:p>
            <a:r>
              <a:t>この設計のメリットは3つです。まず長期アクセスキーを保存しないため、仮にGitHub Secretsが漏えいしても悪用できません。次に、IAMロールに必要な操作だけを許可する最小権限を徹底します。そして、特定のリポジトリとブランチからのみAssumeRoleを許可するポリシーで、意図しないリポジトリからの操作を防ぎます。</a:t>
            </a:r>
          </a:p>
          <a:p>
            <a:endParaRPr/>
          </a:p>
          <a:p>
            <a:r>
              <a:t>実装中にはIAM信頼ポリシーのsub条件が厳しすぎてOIDC認証が失敗するトラブルも経験し、StringLike条件でリポジトリスコープに調整して解決しました。</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【ナレーション】</a:t>
            </a:r>
          </a:p>
          <a:p>
            <a:r>
              <a:t>実装中に発生した11件のトラブルから特に重要な4件をご紹介します。</a:t>
            </a:r>
          </a:p>
          <a:p>
            <a:endParaRPr/>
          </a:p>
          <a:p>
            <a:r>
              <a:t>1件目はOIDC認証失敗（#2）。</a:t>
            </a:r>
          </a:p>
          <a:p>
            <a:r>
              <a:t>IAMの信頼ポリシーで sub 条件を完全一致（StringEquals）で設定していたため、</a:t>
            </a:r>
          </a:p>
          <a:p>
            <a:r>
              <a:t>push・PR・workflow_dispatch の3系統で認証が失敗しました。</a:t>
            </a:r>
          </a:p>
          <a:p>
            <a:r>
              <a:t>StringLike条件に変更してリポジトリスコープで許可することで解決しました。</a:t>
            </a:r>
          </a:p>
          <a:p>
            <a:endParaRPr/>
          </a:p>
          <a:p>
            <a:r>
              <a:t>2件目はECR 409エラー（#10）。</a:t>
            </a:r>
          </a:p>
          <a:p>
            <a:r>
              <a:t>ECRのイミュータブルタグ設定で「latest」タグが上書きできなかった問題です。</a:t>
            </a:r>
          </a:p>
          <a:p>
            <a:r>
              <a:t>github.shaをユニークタグとして使うように変更し、</a:t>
            </a:r>
          </a:p>
          <a:p>
            <a:r>
              <a:t>コミットとイメージの対応関係も明確になりました。</a:t>
            </a:r>
          </a:p>
          <a:p>
            <a:endParaRPr/>
          </a:p>
          <a:p>
            <a:r>
              <a:t>3件目はS3 409エラー（#7）。</a:t>
            </a:r>
          </a:p>
          <a:p>
            <a:r>
              <a:t>Terraform stateと実リソースの不整合です。</a:t>
            </a:r>
          </a:p>
          <a:p>
            <a:r>
              <a:t>terraform importで既存バケットをstateに取り込んで解決しました。</a:t>
            </a:r>
          </a:p>
          <a:p>
            <a:endParaRPr/>
          </a:p>
          <a:p>
            <a:r>
              <a:t>4件目はTrivyによる脆弱性多数検出（#11）。</a:t>
            </a:r>
          </a:p>
          <a:p>
            <a:r>
              <a:t>python:3.12-slimのDebianパッケージにCRITICALが多数含まれていたため</a:t>
            </a:r>
          </a:p>
          <a:p>
            <a:r>
              <a:t>3.14-slimに更新しました。</a:t>
            </a:r>
          </a:p>
          <a:p>
            <a:endParaRPr/>
          </a:p>
          <a:p>
            <a:r>
              <a:t>これらのトラブルはすべてエラーメッセージから根本原因を特定し、</a:t>
            </a:r>
          </a:p>
          <a:p>
            <a:r>
              <a:t>再発防止策として設計に組み込みました。</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【ナレーション】</a:t>
            </a:r>
          </a:p>
          <a:p>
            <a:r>
              <a:t>このプロジェクトで実践的に習得した技術スタックをご説明します。</a:t>
            </a:r>
          </a:p>
          <a:p>
            <a:endParaRPr/>
          </a:p>
          <a:p>
            <a:r>
              <a:t>CI/CDはGitHub Actionsを使ってワークフロー設計から</a:t>
            </a:r>
          </a:p>
          <a:p>
            <a:r>
              <a:t>Environmentによる承認フロー、OIDCとの認証連携まで実装しました。</a:t>
            </a:r>
          </a:p>
          <a:p>
            <a:endParaRPr/>
          </a:p>
          <a:p>
            <a:r>
              <a:t>AWSはECR・ECS Fargate・IAM・S3・CloudWatchを</a:t>
            </a:r>
          </a:p>
          <a:p>
            <a:r>
              <a:t>実際に構築して使っています。</a:t>
            </a:r>
          </a:p>
          <a:p>
            <a:endParaRPr/>
          </a:p>
          <a:p>
            <a:r>
              <a:t>セキュリティはTrivy・CodeQL・pip-audit・gitleaks・checkovという</a:t>
            </a:r>
          </a:p>
          <a:p>
            <a:r>
              <a:t>5つのツールを組み合わせた多層防御を設計・実装しました。</a:t>
            </a:r>
          </a:p>
          <a:p>
            <a:endParaRPr/>
          </a:p>
          <a:p>
            <a:r>
              <a:t>Docker/IaCではマルチステージビルドとコンテナセキュリティのベストプラクティス、</a:t>
            </a:r>
          </a:p>
          <a:p>
            <a:r>
              <a:t>Terraformによる3環境構成を実践しました。</a:t>
            </a:r>
          </a:p>
          <a:p>
            <a:endParaRPr/>
          </a:p>
          <a:p>
            <a:r>
              <a:t>Pythonはruff・mypy・pytestで高い品質基準を維持しながら</a:t>
            </a:r>
          </a:p>
          <a:p>
            <a:r>
              <a:t>Flask APIを実装しました。</a:t>
            </a:r>
          </a:p>
          <a:p>
            <a:endParaRPr/>
          </a:p>
          <a:p>
            <a:r>
              <a:t>運用設計として段階的デプロイ・ロールバック戦略・ヘルスチェック・</a:t>
            </a:r>
          </a:p>
          <a:p>
            <a:r>
              <a:t>障害対応手順書まで一貫して設計しています。</a:t>
            </a:r>
          </a:p>
          <a:p>
            <a:endParaRPr/>
          </a:p>
          <a:p>
            <a:r>
              <a:t>単にツールを使うだけでなく、なぜその設計にするかの</a:t>
            </a:r>
          </a:p>
          <a:p>
            <a:r>
              <a:t>理由まで理解したうえで実装しています。</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【ナレーション】</a:t>
            </a:r>
          </a:p>
          <a:p>
            <a:r>
              <a:t>まとめです。</a:t>
            </a:r>
          </a:p>
          <a:p>
            <a:endParaRPr/>
          </a:p>
          <a:p>
            <a:r>
              <a:t>このプロジェクトで達成した成果は4点です。</a:t>
            </a:r>
          </a:p>
          <a:p>
            <a:endParaRPr/>
          </a:p>
          <a:p>
            <a:r>
              <a:t>01: CI/CDパイプラインをゼロから設計・構築しました。</a:t>
            </a:r>
          </a:p>
          <a:p>
            <a:r>
              <a:t>    PRからテスト・スキャン・デプロイまで全工程を自動化しています。</a:t>
            </a:r>
          </a:p>
          <a:p>
            <a:endParaRPr/>
          </a:p>
          <a:p>
            <a:r>
              <a:t>02: 5段階のセキュリティ多層防御を実践しました。</a:t>
            </a:r>
          </a:p>
          <a:p>
            <a:r>
              <a:t>    Trivy・CodeQL・checkov等でコードからランタイムまで隙間なく守ります。</a:t>
            </a:r>
          </a:p>
          <a:p>
            <a:endParaRPr/>
          </a:p>
          <a:p>
            <a:r>
              <a:t>03: AWS本番環境を意識したインフラ設計を実現しました。</a:t>
            </a:r>
          </a:p>
          <a:p>
            <a:r>
              <a:t>    OIDC認証・ECR/ECS・Terraform・最小権限という</a:t>
            </a:r>
          </a:p>
          <a:p>
            <a:r>
              <a:t>    実際のプロダクションで使われるベストプラクティスを適用しています。</a:t>
            </a:r>
          </a:p>
          <a:p>
            <a:endParaRPr/>
          </a:p>
          <a:p>
            <a:r>
              <a:t>04: 11件のトラブルを実際に根本解決しました。</a:t>
            </a:r>
          </a:p>
          <a:p>
            <a:r>
              <a:t>    エラーメッセージから根本原因を特定し再発防止策を設計する</a:t>
            </a:r>
          </a:p>
          <a:p>
            <a:r>
              <a:t>    実践的な問題解決力を実証しています。</a:t>
            </a:r>
          </a:p>
          <a:p>
            <a:endParaRPr/>
          </a:p>
          <a:p>
            <a:r>
              <a:t>以上が「CI/CD Pipeline Portfolio Project」のご紹介でした。</a:t>
            </a:r>
          </a:p>
          <a:p>
            <a:r>
              <a:t>ご質問があればお気軽にどうぞ。</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035040"/>
            <a:ext cx="12188952" cy="822960"/>
          </a:xfrm>
          <a:prstGeom prst="rect">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822960"/>
            <a:ext cx="11731752" cy="1188720"/>
          </a:xfrm>
          <a:prstGeom prst="rect">
            <a:avLst/>
          </a:prstGeom>
          <a:noFill/>
        </p:spPr>
        <p:txBody>
          <a:bodyPr wrap="square">
            <a:spAutoFit/>
          </a:bodyPr>
          <a:lstStyle/>
          <a:p>
            <a:pPr algn="ctr"/>
            <a:r>
              <a:rPr sz="5600" b="1">
                <a:solidFill>
                  <a:srgbClr val="FFFFFF"/>
                </a:solidFill>
              </a:rPr>
              <a:t>CI/CD Pipeline</a:t>
            </a:r>
          </a:p>
        </p:txBody>
      </p:sp>
      <p:sp>
        <p:nvSpPr>
          <p:cNvPr id="5" name="TextBox 4"/>
          <p:cNvSpPr txBox="1"/>
          <p:nvPr/>
        </p:nvSpPr>
        <p:spPr>
          <a:xfrm>
            <a:off x="320040" y="1828800"/>
            <a:ext cx="11731752" cy="914400"/>
          </a:xfrm>
          <a:prstGeom prst="rect">
            <a:avLst/>
          </a:prstGeom>
          <a:noFill/>
        </p:spPr>
        <p:txBody>
          <a:bodyPr wrap="square">
            <a:spAutoFit/>
          </a:bodyPr>
          <a:lstStyle/>
          <a:p>
            <a:pPr algn="ctr"/>
            <a:r>
              <a:rPr sz="3800" b="0">
                <a:solidFill>
                  <a:srgbClr val="569CD6"/>
                </a:solidFill>
              </a:rPr>
              <a:t>Portfolio Project</a:t>
            </a:r>
          </a:p>
        </p:txBody>
      </p:sp>
      <p:sp>
        <p:nvSpPr>
          <p:cNvPr id="6" name="TextBox 5"/>
          <p:cNvSpPr txBox="1"/>
          <p:nvPr/>
        </p:nvSpPr>
        <p:spPr>
          <a:xfrm>
            <a:off x="320040" y="2926080"/>
            <a:ext cx="11731752" cy="548640"/>
          </a:xfrm>
          <a:prstGeom prst="rect">
            <a:avLst/>
          </a:prstGeom>
          <a:noFill/>
        </p:spPr>
        <p:txBody>
          <a:bodyPr wrap="square">
            <a:spAutoFit/>
          </a:bodyPr>
          <a:lstStyle/>
          <a:p>
            <a:pPr algn="ctr"/>
            <a:r>
              <a:rPr sz="2000" b="0">
                <a:solidFill>
                  <a:srgbClr val="CCCCCC"/>
                </a:solidFill>
              </a:rPr>
              <a:t>Python × Docker × Terraform × AWS</a:t>
            </a:r>
          </a:p>
        </p:txBody>
      </p:sp>
      <p:sp>
        <p:nvSpPr>
          <p:cNvPr id="7" name="TextBox 6"/>
          <p:cNvSpPr txBox="1"/>
          <p:nvPr/>
        </p:nvSpPr>
        <p:spPr>
          <a:xfrm>
            <a:off x="320040" y="3566160"/>
            <a:ext cx="11731752" cy="457200"/>
          </a:xfrm>
          <a:prstGeom prst="rect">
            <a:avLst/>
          </a:prstGeom>
          <a:noFill/>
        </p:spPr>
        <p:txBody>
          <a:bodyPr wrap="square">
            <a:spAutoFit/>
          </a:bodyPr>
          <a:lstStyle/>
          <a:p>
            <a:pPr algn="ctr"/>
            <a:r>
              <a:rPr sz="1500" b="0">
                <a:solidFill>
                  <a:srgbClr val="8888AA"/>
                </a:solidFill>
              </a:rPr>
              <a:t>実装期間：2026-06-21 〜 2026-06-27（約1週間）</a:t>
            </a:r>
          </a:p>
        </p:txBody>
      </p:sp>
      <p:sp>
        <p:nvSpPr>
          <p:cNvPr id="8" name="Rounded Rectangle 7"/>
          <p:cNvSpPr/>
          <p:nvPr/>
        </p:nvSpPr>
        <p:spPr>
          <a:xfrm>
            <a:off x="1074420" y="4389120"/>
            <a:ext cx="1920240" cy="502920"/>
          </a:xfrm>
          <a:prstGeom prst="roundRect">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74420" y="4389120"/>
            <a:ext cx="1920240" cy="502920"/>
          </a:xfrm>
          <a:prstGeom prst="rect">
            <a:avLst/>
          </a:prstGeom>
          <a:noFill/>
        </p:spPr>
        <p:txBody>
          <a:bodyPr wrap="square">
            <a:spAutoFit/>
          </a:bodyPr>
          <a:lstStyle/>
          <a:p>
            <a:pPr algn="ctr"/>
            <a:r>
              <a:rPr sz="1300" b="1">
                <a:solidFill>
                  <a:srgbClr val="FFFFFF"/>
                </a:solidFill>
              </a:rPr>
              <a:t>GitHub Actions</a:t>
            </a:r>
          </a:p>
        </p:txBody>
      </p:sp>
      <p:sp>
        <p:nvSpPr>
          <p:cNvPr id="10" name="Rounded Rectangle 9"/>
          <p:cNvSpPr/>
          <p:nvPr/>
        </p:nvSpPr>
        <p:spPr>
          <a:xfrm>
            <a:off x="3104388" y="4389120"/>
            <a:ext cx="1920240" cy="502920"/>
          </a:xfrm>
          <a:prstGeom prst="roundRect">
            <a:avLst/>
          </a:prstGeom>
          <a:solidFill>
            <a:srgbClr val="4EC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104388" y="4389120"/>
            <a:ext cx="1920240" cy="502920"/>
          </a:xfrm>
          <a:prstGeom prst="rect">
            <a:avLst/>
          </a:prstGeom>
          <a:noFill/>
        </p:spPr>
        <p:txBody>
          <a:bodyPr wrap="square">
            <a:spAutoFit/>
          </a:bodyPr>
          <a:lstStyle/>
          <a:p>
            <a:pPr algn="ctr"/>
            <a:r>
              <a:rPr sz="1300" b="1">
                <a:solidFill>
                  <a:srgbClr val="FFFFFF"/>
                </a:solidFill>
              </a:rPr>
              <a:t>Terraform</a:t>
            </a:r>
          </a:p>
        </p:txBody>
      </p:sp>
      <p:sp>
        <p:nvSpPr>
          <p:cNvPr id="12" name="Rounded Rectangle 11"/>
          <p:cNvSpPr/>
          <p:nvPr/>
        </p:nvSpPr>
        <p:spPr>
          <a:xfrm>
            <a:off x="5134356" y="4389120"/>
            <a:ext cx="1920240" cy="50292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34356" y="4389120"/>
            <a:ext cx="1920240" cy="502920"/>
          </a:xfrm>
          <a:prstGeom prst="rect">
            <a:avLst/>
          </a:prstGeom>
          <a:noFill/>
        </p:spPr>
        <p:txBody>
          <a:bodyPr wrap="square">
            <a:spAutoFit/>
          </a:bodyPr>
          <a:lstStyle/>
          <a:p>
            <a:pPr algn="ctr"/>
            <a:r>
              <a:rPr sz="1300" b="1">
                <a:solidFill>
                  <a:srgbClr val="FFFFFF"/>
                </a:solidFill>
              </a:rPr>
              <a:t>ECR / ECS</a:t>
            </a:r>
          </a:p>
        </p:txBody>
      </p:sp>
      <p:sp>
        <p:nvSpPr>
          <p:cNvPr id="14" name="Rounded Rectangle 13"/>
          <p:cNvSpPr/>
          <p:nvPr/>
        </p:nvSpPr>
        <p:spPr>
          <a:xfrm>
            <a:off x="7164324" y="4389120"/>
            <a:ext cx="1920240" cy="502920"/>
          </a:xfrm>
          <a:prstGeom prst="roundRect">
            <a:avLst/>
          </a:prstGeom>
          <a:solidFill>
            <a:srgbClr val="FF5F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64324" y="4389120"/>
            <a:ext cx="1920240" cy="502920"/>
          </a:xfrm>
          <a:prstGeom prst="rect">
            <a:avLst/>
          </a:prstGeom>
          <a:noFill/>
        </p:spPr>
        <p:txBody>
          <a:bodyPr wrap="square">
            <a:spAutoFit/>
          </a:bodyPr>
          <a:lstStyle/>
          <a:p>
            <a:pPr algn="ctr"/>
            <a:r>
              <a:rPr sz="1300" b="1">
                <a:solidFill>
                  <a:srgbClr val="FFFFFF"/>
                </a:solidFill>
              </a:rPr>
              <a:t>Trivy + CodeQL</a:t>
            </a:r>
          </a:p>
        </p:txBody>
      </p:sp>
      <p:sp>
        <p:nvSpPr>
          <p:cNvPr id="16" name="Rounded Rectangle 15"/>
          <p:cNvSpPr/>
          <p:nvPr/>
        </p:nvSpPr>
        <p:spPr>
          <a:xfrm>
            <a:off x="9194292" y="4389120"/>
            <a:ext cx="1920240" cy="502920"/>
          </a:xfrm>
          <a:prstGeom prst="roundRect">
            <a:avLst/>
          </a:prstGeom>
          <a:solidFill>
            <a:srgbClr val="BD9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94292" y="4389120"/>
            <a:ext cx="1920240" cy="502920"/>
          </a:xfrm>
          <a:prstGeom prst="rect">
            <a:avLst/>
          </a:prstGeom>
          <a:noFill/>
        </p:spPr>
        <p:txBody>
          <a:bodyPr wrap="square">
            <a:spAutoFit/>
          </a:bodyPr>
          <a:lstStyle/>
          <a:p>
            <a:pPr algn="ctr"/>
            <a:r>
              <a:rPr sz="1300" b="1">
                <a:solidFill>
                  <a:srgbClr val="FFFFFF"/>
                </a:solidFill>
              </a:rPr>
              <a:t>OIDC Auth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621792"/>
          </a:xfrm>
          <a:prstGeom prst="rect">
            <a:avLst/>
          </a:prstGeom>
          <a:noFill/>
        </p:spPr>
        <p:txBody>
          <a:bodyPr wrap="square">
            <a:spAutoFit/>
          </a:bodyPr>
          <a:lstStyle/>
          <a:p>
            <a:pPr algn="l"/>
            <a:r>
              <a:rPr sz="2800" b="1">
                <a:solidFill>
                  <a:srgbClr val="FFFFFF"/>
                </a:solidFill>
              </a:rPr>
              <a:t>プロジェクト概要 — 4つの柱</a:t>
            </a:r>
          </a:p>
        </p:txBody>
      </p:sp>
      <p:sp>
        <p:nvSpPr>
          <p:cNvPr id="4" name="Rectangle 3"/>
          <p:cNvSpPr/>
          <p:nvPr/>
        </p:nvSpPr>
        <p:spPr>
          <a:xfrm>
            <a:off x="0" y="6656832"/>
            <a:ext cx="12188952" cy="201168"/>
          </a:xfrm>
          <a:prstGeom prst="rect">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65176" y="1234440"/>
            <a:ext cx="2743200" cy="4754880"/>
          </a:xfrm>
          <a:prstGeom prst="roundRect">
            <a:avLst/>
          </a:prstGeom>
          <a:solidFill>
            <a:srgbClr val="252540"/>
          </a:solidFill>
          <a:ln w="25400">
            <a:solidFill>
              <a:srgbClr val="569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65176" y="1234440"/>
            <a:ext cx="2743200" cy="502920"/>
          </a:xfrm>
          <a:prstGeom prst="roundRect">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88136" y="1828800"/>
            <a:ext cx="1097280" cy="1097280"/>
          </a:xfrm>
          <a:prstGeom prst="ellipse">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88136" y="1920240"/>
            <a:ext cx="1097280" cy="877824"/>
          </a:xfrm>
          <a:prstGeom prst="rect">
            <a:avLst/>
          </a:prstGeom>
          <a:noFill/>
        </p:spPr>
        <p:txBody>
          <a:bodyPr wrap="square">
            <a:spAutoFit/>
          </a:bodyPr>
          <a:lstStyle/>
          <a:p>
            <a:pPr algn="ctr"/>
            <a:r>
              <a:rPr sz="3200" b="1">
                <a:solidFill>
                  <a:srgbClr val="FFFFFF"/>
                </a:solidFill>
              </a:rPr>
              <a:t>⚙</a:t>
            </a:r>
          </a:p>
        </p:txBody>
      </p:sp>
      <p:sp>
        <p:nvSpPr>
          <p:cNvPr id="9" name="TextBox 8"/>
          <p:cNvSpPr txBox="1"/>
          <p:nvPr/>
        </p:nvSpPr>
        <p:spPr>
          <a:xfrm>
            <a:off x="265176" y="3063240"/>
            <a:ext cx="2743200" cy="457200"/>
          </a:xfrm>
          <a:prstGeom prst="rect">
            <a:avLst/>
          </a:prstGeom>
          <a:noFill/>
        </p:spPr>
        <p:txBody>
          <a:bodyPr wrap="square">
            <a:spAutoFit/>
          </a:bodyPr>
          <a:lstStyle/>
          <a:p>
            <a:pPr algn="ctr"/>
            <a:r>
              <a:rPr sz="1600" b="1">
                <a:solidFill>
                  <a:srgbClr val="569CD6"/>
                </a:solidFill>
              </a:rPr>
              <a:t>CI</a:t>
            </a:r>
          </a:p>
        </p:txBody>
      </p:sp>
      <p:sp>
        <p:nvSpPr>
          <p:cNvPr id="10" name="TextBox 9"/>
          <p:cNvSpPr txBox="1"/>
          <p:nvPr/>
        </p:nvSpPr>
        <p:spPr>
          <a:xfrm>
            <a:off x="356616" y="3520440"/>
            <a:ext cx="2560320" cy="411480"/>
          </a:xfrm>
          <a:prstGeom prst="rect">
            <a:avLst/>
          </a:prstGeom>
          <a:noFill/>
        </p:spPr>
        <p:txBody>
          <a:bodyPr wrap="square">
            <a:spAutoFit/>
          </a:bodyPr>
          <a:lstStyle/>
          <a:p>
            <a:pPr algn="ctr"/>
            <a:r>
              <a:rPr sz="1100" b="0">
                <a:solidFill>
                  <a:srgbClr val="8888AA"/>
                </a:solidFill>
              </a:rPr>
              <a:t>PR 作成時に自動チェック</a:t>
            </a:r>
          </a:p>
        </p:txBody>
      </p:sp>
      <p:sp>
        <p:nvSpPr>
          <p:cNvPr id="11" name="TextBox 10"/>
          <p:cNvSpPr txBox="1"/>
          <p:nvPr/>
        </p:nvSpPr>
        <p:spPr>
          <a:xfrm>
            <a:off x="402336" y="4023360"/>
            <a:ext cx="2468880" cy="1828800"/>
          </a:xfrm>
          <a:prstGeom prst="rect">
            <a:avLst/>
          </a:prstGeom>
          <a:noFill/>
        </p:spPr>
        <p:txBody>
          <a:bodyPr wrap="square">
            <a:spAutoFit/>
          </a:bodyPr>
          <a:lstStyle/>
          <a:p>
            <a:pPr algn="l"/>
            <a:r>
              <a:rPr sz="1200" b="0">
                <a:solidFill>
                  <a:srgbClr val="CCCCCC"/>
                </a:solidFill>
              </a:rPr>
              <a:t>• ruff / mypy / pytest
• Terraform検証
• セキュリティスキャン
• 問題があればマージ不可</a:t>
            </a:r>
          </a:p>
        </p:txBody>
      </p:sp>
      <p:sp>
        <p:nvSpPr>
          <p:cNvPr id="12" name="Rounded Rectangle 11"/>
          <p:cNvSpPr/>
          <p:nvPr/>
        </p:nvSpPr>
        <p:spPr>
          <a:xfrm>
            <a:off x="3236976" y="1234440"/>
            <a:ext cx="2743200" cy="4754880"/>
          </a:xfrm>
          <a:prstGeom prst="roundRect">
            <a:avLst/>
          </a:prstGeom>
          <a:solidFill>
            <a:srgbClr val="252540"/>
          </a:solidFill>
          <a:ln w="2540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236976" y="1234440"/>
            <a:ext cx="2743200" cy="502920"/>
          </a:xfrm>
          <a:prstGeom prst="roundRect">
            <a:avLst/>
          </a:prstGeom>
          <a:solidFill>
            <a:srgbClr val="4EC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059936" y="1828800"/>
            <a:ext cx="1097280" cy="1097280"/>
          </a:xfrm>
          <a:prstGeom prst="ellipse">
            <a:avLst/>
          </a:prstGeom>
          <a:solidFill>
            <a:srgbClr val="4EC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59936" y="1920240"/>
            <a:ext cx="1097280" cy="877824"/>
          </a:xfrm>
          <a:prstGeom prst="rect">
            <a:avLst/>
          </a:prstGeom>
          <a:noFill/>
        </p:spPr>
        <p:txBody>
          <a:bodyPr wrap="square">
            <a:spAutoFit/>
          </a:bodyPr>
          <a:lstStyle/>
          <a:p>
            <a:pPr algn="ctr"/>
            <a:r>
              <a:rPr sz="3200" b="1">
                <a:solidFill>
                  <a:srgbClr val="FFFFFF"/>
                </a:solidFill>
              </a:rPr>
              <a:t>▶</a:t>
            </a:r>
          </a:p>
        </p:txBody>
      </p:sp>
      <p:sp>
        <p:nvSpPr>
          <p:cNvPr id="16" name="TextBox 15"/>
          <p:cNvSpPr txBox="1"/>
          <p:nvPr/>
        </p:nvSpPr>
        <p:spPr>
          <a:xfrm>
            <a:off x="3236976" y="3063240"/>
            <a:ext cx="2743200" cy="457200"/>
          </a:xfrm>
          <a:prstGeom prst="rect">
            <a:avLst/>
          </a:prstGeom>
          <a:noFill/>
        </p:spPr>
        <p:txBody>
          <a:bodyPr wrap="square">
            <a:spAutoFit/>
          </a:bodyPr>
          <a:lstStyle/>
          <a:p>
            <a:pPr algn="ctr"/>
            <a:r>
              <a:rPr sz="1600" b="1">
                <a:solidFill>
                  <a:srgbClr val="4EC97E"/>
                </a:solidFill>
              </a:rPr>
              <a:t>CD</a:t>
            </a:r>
          </a:p>
        </p:txBody>
      </p:sp>
      <p:sp>
        <p:nvSpPr>
          <p:cNvPr id="17" name="TextBox 16"/>
          <p:cNvSpPr txBox="1"/>
          <p:nvPr/>
        </p:nvSpPr>
        <p:spPr>
          <a:xfrm>
            <a:off x="3328416" y="3520440"/>
            <a:ext cx="2560320" cy="411480"/>
          </a:xfrm>
          <a:prstGeom prst="rect">
            <a:avLst/>
          </a:prstGeom>
          <a:noFill/>
        </p:spPr>
        <p:txBody>
          <a:bodyPr wrap="square">
            <a:spAutoFit/>
          </a:bodyPr>
          <a:lstStyle/>
          <a:p>
            <a:pPr algn="ctr"/>
            <a:r>
              <a:rPr sz="1100" b="0">
                <a:solidFill>
                  <a:srgbClr val="8888AA"/>
                </a:solidFill>
              </a:rPr>
              <a:t>mainマージで段階デプロイ</a:t>
            </a:r>
          </a:p>
        </p:txBody>
      </p:sp>
      <p:sp>
        <p:nvSpPr>
          <p:cNvPr id="18" name="TextBox 17"/>
          <p:cNvSpPr txBox="1"/>
          <p:nvPr/>
        </p:nvSpPr>
        <p:spPr>
          <a:xfrm>
            <a:off x="3374136" y="4023360"/>
            <a:ext cx="2468880" cy="1828800"/>
          </a:xfrm>
          <a:prstGeom prst="rect">
            <a:avLst/>
          </a:prstGeom>
          <a:noFill/>
        </p:spPr>
        <p:txBody>
          <a:bodyPr wrap="square">
            <a:spAutoFit/>
          </a:bodyPr>
          <a:lstStyle/>
          <a:p>
            <a:pPr algn="l"/>
            <a:r>
              <a:rPr sz="1200" b="0">
                <a:solidFill>
                  <a:srgbClr val="CCCCCC"/>
                </a:solidFill>
              </a:rPr>
              <a:t>• dev → stg → prod
• stg/prodは手動承認
• ヘルスチェック自動実行
• ロールバック手順書完備</a:t>
            </a:r>
          </a:p>
        </p:txBody>
      </p:sp>
      <p:sp>
        <p:nvSpPr>
          <p:cNvPr id="19" name="Rounded Rectangle 18"/>
          <p:cNvSpPr/>
          <p:nvPr/>
        </p:nvSpPr>
        <p:spPr>
          <a:xfrm>
            <a:off x="6208776" y="1234440"/>
            <a:ext cx="2743200" cy="4754880"/>
          </a:xfrm>
          <a:prstGeom prst="roundRect">
            <a:avLst/>
          </a:prstGeom>
          <a:solidFill>
            <a:srgbClr val="252540"/>
          </a:solidFill>
          <a:ln w="2540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208776" y="1234440"/>
            <a:ext cx="2743200" cy="50292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7031736" y="1828800"/>
            <a:ext cx="1097280" cy="1097280"/>
          </a:xfrm>
          <a:prstGeom prst="ellipse">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31736" y="1920240"/>
            <a:ext cx="1097280" cy="877824"/>
          </a:xfrm>
          <a:prstGeom prst="rect">
            <a:avLst/>
          </a:prstGeom>
          <a:noFill/>
        </p:spPr>
        <p:txBody>
          <a:bodyPr wrap="square">
            <a:spAutoFit/>
          </a:bodyPr>
          <a:lstStyle/>
          <a:p>
            <a:pPr algn="ctr"/>
            <a:r>
              <a:rPr sz="3200" b="1">
                <a:solidFill>
                  <a:srgbClr val="FFFFFF"/>
                </a:solidFill>
              </a:rPr>
              <a:t>◆</a:t>
            </a:r>
          </a:p>
        </p:txBody>
      </p:sp>
      <p:sp>
        <p:nvSpPr>
          <p:cNvPr id="23" name="TextBox 22"/>
          <p:cNvSpPr txBox="1"/>
          <p:nvPr/>
        </p:nvSpPr>
        <p:spPr>
          <a:xfrm>
            <a:off x="6208776" y="3063240"/>
            <a:ext cx="2743200" cy="457200"/>
          </a:xfrm>
          <a:prstGeom prst="rect">
            <a:avLst/>
          </a:prstGeom>
          <a:noFill/>
        </p:spPr>
        <p:txBody>
          <a:bodyPr wrap="square">
            <a:spAutoFit/>
          </a:bodyPr>
          <a:lstStyle/>
          <a:p>
            <a:pPr algn="ctr"/>
            <a:r>
              <a:rPr sz="1600" b="1">
                <a:solidFill>
                  <a:srgbClr val="FF9900"/>
                </a:solidFill>
              </a:rPr>
              <a:t>Image CI/CD</a:t>
            </a:r>
          </a:p>
        </p:txBody>
      </p:sp>
      <p:sp>
        <p:nvSpPr>
          <p:cNvPr id="24" name="TextBox 23"/>
          <p:cNvSpPr txBox="1"/>
          <p:nvPr/>
        </p:nvSpPr>
        <p:spPr>
          <a:xfrm>
            <a:off x="6300216" y="3520440"/>
            <a:ext cx="2560320" cy="411480"/>
          </a:xfrm>
          <a:prstGeom prst="rect">
            <a:avLst/>
          </a:prstGeom>
          <a:noFill/>
        </p:spPr>
        <p:txBody>
          <a:bodyPr wrap="square">
            <a:spAutoFit/>
          </a:bodyPr>
          <a:lstStyle/>
          <a:p>
            <a:pPr algn="ctr"/>
            <a:r>
              <a:rPr sz="1100" b="0">
                <a:solidFill>
                  <a:srgbClr val="8888AA"/>
                </a:solidFill>
              </a:rPr>
              <a:t>コンテナ一貫パイプライン</a:t>
            </a:r>
          </a:p>
        </p:txBody>
      </p:sp>
      <p:sp>
        <p:nvSpPr>
          <p:cNvPr id="25" name="TextBox 24"/>
          <p:cNvSpPr txBox="1"/>
          <p:nvPr/>
        </p:nvSpPr>
        <p:spPr>
          <a:xfrm>
            <a:off x="6345936" y="4023360"/>
            <a:ext cx="2468880" cy="1828800"/>
          </a:xfrm>
          <a:prstGeom prst="rect">
            <a:avLst/>
          </a:prstGeom>
          <a:noFill/>
        </p:spPr>
        <p:txBody>
          <a:bodyPr wrap="square">
            <a:spAutoFit/>
          </a:bodyPr>
          <a:lstStyle/>
          <a:p>
            <a:pPr algn="l"/>
            <a:r>
              <a:rPr sz="1200" b="0">
                <a:solidFill>
                  <a:srgbClr val="CCCCCC"/>
                </a:solidFill>
              </a:rPr>
              <a:t>• Dockerビルド &amp; スキャン
• Trivy FS/image
• ECRプッシュ
• ECS Fargateデプロイ</a:t>
            </a:r>
          </a:p>
        </p:txBody>
      </p:sp>
      <p:sp>
        <p:nvSpPr>
          <p:cNvPr id="26" name="Rounded Rectangle 25"/>
          <p:cNvSpPr/>
          <p:nvPr/>
        </p:nvSpPr>
        <p:spPr>
          <a:xfrm>
            <a:off x="9180576" y="1234440"/>
            <a:ext cx="2743200" cy="4754880"/>
          </a:xfrm>
          <a:prstGeom prst="roundRect">
            <a:avLst/>
          </a:prstGeom>
          <a:solidFill>
            <a:srgbClr val="252540"/>
          </a:solidFill>
          <a:ln w="2540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180576" y="1234440"/>
            <a:ext cx="2743200" cy="502920"/>
          </a:xfrm>
          <a:prstGeom prst="roundRect">
            <a:avLst/>
          </a:prstGeom>
          <a:solidFill>
            <a:srgbClr val="FF5F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0003536" y="1828800"/>
            <a:ext cx="1097280" cy="1097280"/>
          </a:xfrm>
          <a:prstGeom prst="ellipse">
            <a:avLst/>
          </a:prstGeom>
          <a:solidFill>
            <a:srgbClr val="FF5F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003536" y="1920240"/>
            <a:ext cx="1097280" cy="877824"/>
          </a:xfrm>
          <a:prstGeom prst="rect">
            <a:avLst/>
          </a:prstGeom>
          <a:noFill/>
        </p:spPr>
        <p:txBody>
          <a:bodyPr wrap="square">
            <a:spAutoFit/>
          </a:bodyPr>
          <a:lstStyle/>
          <a:p>
            <a:pPr algn="ctr"/>
            <a:r>
              <a:rPr sz="3200" b="1">
                <a:solidFill>
                  <a:srgbClr val="FFFFFF"/>
                </a:solidFill>
              </a:rPr>
              <a:t>■</a:t>
            </a:r>
          </a:p>
        </p:txBody>
      </p:sp>
      <p:sp>
        <p:nvSpPr>
          <p:cNvPr id="30" name="TextBox 29"/>
          <p:cNvSpPr txBox="1"/>
          <p:nvPr/>
        </p:nvSpPr>
        <p:spPr>
          <a:xfrm>
            <a:off x="9180576" y="3063240"/>
            <a:ext cx="2743200" cy="457200"/>
          </a:xfrm>
          <a:prstGeom prst="rect">
            <a:avLst/>
          </a:prstGeom>
          <a:noFill/>
        </p:spPr>
        <p:txBody>
          <a:bodyPr wrap="square">
            <a:spAutoFit/>
          </a:bodyPr>
          <a:lstStyle/>
          <a:p>
            <a:pPr algn="ctr"/>
            <a:r>
              <a:rPr sz="1600" b="1">
                <a:solidFill>
                  <a:srgbClr val="FF5F57"/>
                </a:solidFill>
              </a:rPr>
              <a:t>Security</a:t>
            </a:r>
          </a:p>
        </p:txBody>
      </p:sp>
      <p:sp>
        <p:nvSpPr>
          <p:cNvPr id="31" name="TextBox 30"/>
          <p:cNvSpPr txBox="1"/>
          <p:nvPr/>
        </p:nvSpPr>
        <p:spPr>
          <a:xfrm>
            <a:off x="9272016" y="3520440"/>
            <a:ext cx="2560320" cy="411480"/>
          </a:xfrm>
          <a:prstGeom prst="rect">
            <a:avLst/>
          </a:prstGeom>
          <a:noFill/>
        </p:spPr>
        <p:txBody>
          <a:bodyPr wrap="square">
            <a:spAutoFit/>
          </a:bodyPr>
          <a:lstStyle/>
          <a:p>
            <a:pPr algn="ctr"/>
            <a:r>
              <a:rPr sz="1100" b="0">
                <a:solidFill>
                  <a:srgbClr val="8888AA"/>
                </a:solidFill>
              </a:rPr>
              <a:t>5段階の多層防御</a:t>
            </a:r>
          </a:p>
        </p:txBody>
      </p:sp>
      <p:sp>
        <p:nvSpPr>
          <p:cNvPr id="32" name="TextBox 31"/>
          <p:cNvSpPr txBox="1"/>
          <p:nvPr/>
        </p:nvSpPr>
        <p:spPr>
          <a:xfrm>
            <a:off x="9317736" y="4023360"/>
            <a:ext cx="2468880" cy="1828800"/>
          </a:xfrm>
          <a:prstGeom prst="rect">
            <a:avLst/>
          </a:prstGeom>
          <a:noFill/>
        </p:spPr>
        <p:txBody>
          <a:bodyPr wrap="square">
            <a:spAutoFit/>
          </a:bodyPr>
          <a:lstStyle/>
          <a:p>
            <a:pPr algn="l"/>
            <a:r>
              <a:rPr sz="1200" b="0">
                <a:solidFill>
                  <a:srgbClr val="CCCCCC"/>
                </a:solidFill>
              </a:rPr>
              <a:t>• コード段階スキャン
• ビルド前後スキャン
• SAST (CodeQL)
• ランタイムセキュリティ</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621792"/>
          </a:xfrm>
          <a:prstGeom prst="rect">
            <a:avLst/>
          </a:prstGeom>
          <a:noFill/>
        </p:spPr>
        <p:txBody>
          <a:bodyPr wrap="square">
            <a:spAutoFit/>
          </a:bodyPr>
          <a:lstStyle/>
          <a:p>
            <a:pPr algn="l"/>
            <a:r>
              <a:rPr sz="2800" b="1">
                <a:solidFill>
                  <a:srgbClr val="FFFFFF"/>
                </a:solidFill>
              </a:rPr>
              <a:t>全体アーキテクチャ図</a:t>
            </a:r>
          </a:p>
        </p:txBody>
      </p:sp>
      <p:sp>
        <p:nvSpPr>
          <p:cNvPr id="4" name="TextBox 3"/>
          <p:cNvSpPr txBox="1"/>
          <p:nvPr/>
        </p:nvSpPr>
        <p:spPr>
          <a:xfrm>
            <a:off x="457200" y="694944"/>
            <a:ext cx="10972800" cy="365760"/>
          </a:xfrm>
          <a:prstGeom prst="rect">
            <a:avLst/>
          </a:prstGeom>
          <a:noFill/>
        </p:spPr>
        <p:txBody>
          <a:bodyPr wrap="square">
            <a:spAutoFit/>
          </a:bodyPr>
          <a:lstStyle/>
          <a:p>
            <a:pPr algn="l"/>
            <a:r>
              <a:rPr sz="1400" b="0">
                <a:solidFill>
                  <a:srgbClr val="569CD6"/>
                </a:solidFill>
              </a:rPr>
              <a:t>PR 作成 → CI → マージ → CD の一気通貫フロー</a:t>
            </a:r>
          </a:p>
        </p:txBody>
      </p:sp>
      <p:sp>
        <p:nvSpPr>
          <p:cNvPr id="5" name="Rectangle 4"/>
          <p:cNvSpPr/>
          <p:nvPr/>
        </p:nvSpPr>
        <p:spPr>
          <a:xfrm>
            <a:off x="0" y="6656832"/>
            <a:ext cx="12188952" cy="201168"/>
          </a:xfrm>
          <a:prstGeom prst="rect">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280160"/>
            <a:ext cx="1920240" cy="594360"/>
          </a:xfrm>
          <a:prstGeom prst="rect">
            <a:avLst/>
          </a:prstGeom>
          <a:solidFill>
            <a:srgbClr val="2D2D48"/>
          </a:solidFill>
          <a:ln w="25400">
            <a:solidFill>
              <a:srgbClr val="569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1280160"/>
            <a:ext cx="1920240" cy="594360"/>
          </a:xfrm>
          <a:prstGeom prst="rect">
            <a:avLst/>
          </a:prstGeom>
          <a:noFill/>
        </p:spPr>
        <p:txBody>
          <a:bodyPr wrap="square">
            <a:spAutoFit/>
          </a:bodyPr>
          <a:lstStyle/>
          <a:p>
            <a:pPr algn="ctr"/>
            <a:r>
              <a:rPr sz="1200" b="1">
                <a:solidFill>
                  <a:srgbClr val="569CD6"/>
                </a:solidFill>
              </a:rPr>
              <a:t>Feature Branch</a:t>
            </a:r>
          </a:p>
        </p:txBody>
      </p:sp>
      <p:sp>
        <p:nvSpPr>
          <p:cNvPr id="8" name="TextBox 7"/>
          <p:cNvSpPr txBox="1"/>
          <p:nvPr/>
        </p:nvSpPr>
        <p:spPr>
          <a:xfrm>
            <a:off x="777240" y="1920240"/>
            <a:ext cx="914400" cy="365760"/>
          </a:xfrm>
          <a:prstGeom prst="rect">
            <a:avLst/>
          </a:prstGeom>
          <a:noFill/>
        </p:spPr>
        <p:txBody>
          <a:bodyPr wrap="square">
            <a:spAutoFit/>
          </a:bodyPr>
          <a:lstStyle/>
          <a:p>
            <a:pPr algn="ctr"/>
            <a:r>
              <a:rPr sz="2200" b="0">
                <a:solidFill>
                  <a:srgbClr val="CCCCCC"/>
                </a:solidFill>
              </a:rPr>
              <a:t>↓</a:t>
            </a:r>
          </a:p>
        </p:txBody>
      </p:sp>
      <p:sp>
        <p:nvSpPr>
          <p:cNvPr id="9" name="TextBox 8"/>
          <p:cNvSpPr txBox="1"/>
          <p:nvPr/>
        </p:nvSpPr>
        <p:spPr>
          <a:xfrm>
            <a:off x="777240" y="2194560"/>
            <a:ext cx="914400" cy="320040"/>
          </a:xfrm>
          <a:prstGeom prst="rect">
            <a:avLst/>
          </a:prstGeom>
          <a:noFill/>
        </p:spPr>
        <p:txBody>
          <a:bodyPr wrap="square">
            <a:spAutoFit/>
          </a:bodyPr>
          <a:lstStyle/>
          <a:p>
            <a:pPr algn="ctr"/>
            <a:r>
              <a:rPr sz="1000" b="0">
                <a:solidFill>
                  <a:srgbClr val="8888AA"/>
                </a:solidFill>
              </a:rPr>
              <a:t>PR作成</a:t>
            </a:r>
          </a:p>
        </p:txBody>
      </p:sp>
      <p:sp>
        <p:nvSpPr>
          <p:cNvPr id="10" name="Rounded Rectangle 9"/>
          <p:cNvSpPr/>
          <p:nvPr/>
        </p:nvSpPr>
        <p:spPr>
          <a:xfrm>
            <a:off x="182880" y="2560320"/>
            <a:ext cx="4389120" cy="3291840"/>
          </a:xfrm>
          <a:prstGeom prst="roundRect">
            <a:avLst/>
          </a:prstGeom>
          <a:solidFill>
            <a:srgbClr val="2D2D48"/>
          </a:solidFill>
          <a:ln w="25400">
            <a:solidFill>
              <a:srgbClr val="569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 y="2633472"/>
            <a:ext cx="4389120" cy="365760"/>
          </a:xfrm>
          <a:prstGeom prst="rect">
            <a:avLst/>
          </a:prstGeom>
          <a:noFill/>
        </p:spPr>
        <p:txBody>
          <a:bodyPr wrap="square">
            <a:spAutoFit/>
          </a:bodyPr>
          <a:lstStyle/>
          <a:p>
            <a:pPr algn="l"/>
            <a:r>
              <a:rPr sz="1300" b="1">
                <a:solidFill>
                  <a:srgbClr val="569CD6"/>
                </a:solidFill>
              </a:rPr>
              <a:t>CI Pipeline</a:t>
            </a:r>
          </a:p>
        </p:txBody>
      </p:sp>
      <p:sp>
        <p:nvSpPr>
          <p:cNvPr id="12" name="Rounded Rectangle 11"/>
          <p:cNvSpPr/>
          <p:nvPr/>
        </p:nvSpPr>
        <p:spPr>
          <a:xfrm>
            <a:off x="292608" y="3063240"/>
            <a:ext cx="4169664" cy="475488"/>
          </a:xfrm>
          <a:prstGeom prst="roundRect">
            <a:avLst/>
          </a:prstGeom>
          <a:solidFill>
            <a:srgbClr val="1A1A2E"/>
          </a:solidFill>
          <a:ln w="19050">
            <a:solidFill>
              <a:srgbClr val="569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47472" y="3154680"/>
            <a:ext cx="292608" cy="292608"/>
          </a:xfrm>
          <a:prstGeom prst="ellipse">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136392"/>
            <a:ext cx="1737360" cy="320040"/>
          </a:xfrm>
          <a:prstGeom prst="rect">
            <a:avLst/>
          </a:prstGeom>
          <a:noFill/>
        </p:spPr>
        <p:txBody>
          <a:bodyPr wrap="square">
            <a:spAutoFit/>
          </a:bodyPr>
          <a:lstStyle/>
          <a:p>
            <a:pPr algn="l"/>
            <a:r>
              <a:rPr sz="1100" b="1">
                <a:solidFill>
                  <a:srgbClr val="FFFFFF"/>
                </a:solidFill>
              </a:rPr>
              <a:t>python-quality</a:t>
            </a:r>
          </a:p>
        </p:txBody>
      </p:sp>
      <p:sp>
        <p:nvSpPr>
          <p:cNvPr id="15" name="TextBox 14"/>
          <p:cNvSpPr txBox="1"/>
          <p:nvPr/>
        </p:nvSpPr>
        <p:spPr>
          <a:xfrm>
            <a:off x="2468880" y="3154680"/>
            <a:ext cx="1828800" cy="292608"/>
          </a:xfrm>
          <a:prstGeom prst="rect">
            <a:avLst/>
          </a:prstGeom>
          <a:noFill/>
        </p:spPr>
        <p:txBody>
          <a:bodyPr wrap="square">
            <a:spAutoFit/>
          </a:bodyPr>
          <a:lstStyle/>
          <a:p>
            <a:pPr algn="l"/>
            <a:r>
              <a:rPr sz="1000" b="0">
                <a:solidFill>
                  <a:srgbClr val="8888AA"/>
                </a:solidFill>
              </a:rPr>
              <a:t>ruff / mypy</a:t>
            </a:r>
          </a:p>
        </p:txBody>
      </p:sp>
      <p:sp>
        <p:nvSpPr>
          <p:cNvPr id="16" name="Rounded Rectangle 15"/>
          <p:cNvSpPr/>
          <p:nvPr/>
        </p:nvSpPr>
        <p:spPr>
          <a:xfrm>
            <a:off x="292608" y="3566160"/>
            <a:ext cx="4169664" cy="475488"/>
          </a:xfrm>
          <a:prstGeom prst="roundRect">
            <a:avLst/>
          </a:prstGeom>
          <a:solidFill>
            <a:srgbClr val="1A1A2E"/>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347472" y="3657600"/>
            <a:ext cx="292608" cy="292608"/>
          </a:xfrm>
          <a:prstGeom prst="ellipse">
            <a:avLst/>
          </a:prstGeom>
          <a:solidFill>
            <a:srgbClr val="4EC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3639312"/>
            <a:ext cx="1737360" cy="320040"/>
          </a:xfrm>
          <a:prstGeom prst="rect">
            <a:avLst/>
          </a:prstGeom>
          <a:noFill/>
        </p:spPr>
        <p:txBody>
          <a:bodyPr wrap="square">
            <a:spAutoFit/>
          </a:bodyPr>
          <a:lstStyle/>
          <a:p>
            <a:pPr algn="l"/>
            <a:r>
              <a:rPr sz="1100" b="1">
                <a:solidFill>
                  <a:srgbClr val="FFFFFF"/>
                </a:solidFill>
              </a:rPr>
              <a:t>python-test</a:t>
            </a:r>
          </a:p>
        </p:txBody>
      </p:sp>
      <p:sp>
        <p:nvSpPr>
          <p:cNvPr id="19" name="TextBox 18"/>
          <p:cNvSpPr txBox="1"/>
          <p:nvPr/>
        </p:nvSpPr>
        <p:spPr>
          <a:xfrm>
            <a:off x="2468880" y="3657600"/>
            <a:ext cx="1828800" cy="292608"/>
          </a:xfrm>
          <a:prstGeom prst="rect">
            <a:avLst/>
          </a:prstGeom>
          <a:noFill/>
        </p:spPr>
        <p:txBody>
          <a:bodyPr wrap="square">
            <a:spAutoFit/>
          </a:bodyPr>
          <a:lstStyle/>
          <a:p>
            <a:pPr algn="l"/>
            <a:r>
              <a:rPr sz="1000" b="0">
                <a:solidFill>
                  <a:srgbClr val="8888AA"/>
                </a:solidFill>
              </a:rPr>
              <a:t>pytest / coverage</a:t>
            </a:r>
          </a:p>
        </p:txBody>
      </p:sp>
      <p:sp>
        <p:nvSpPr>
          <p:cNvPr id="20" name="Rounded Rectangle 19"/>
          <p:cNvSpPr/>
          <p:nvPr/>
        </p:nvSpPr>
        <p:spPr>
          <a:xfrm>
            <a:off x="292608" y="4069080"/>
            <a:ext cx="4169664" cy="475488"/>
          </a:xfrm>
          <a:prstGeom prst="roundRect">
            <a:avLst/>
          </a:prstGeom>
          <a:solidFill>
            <a:srgbClr val="1A1A2E"/>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347472" y="4160520"/>
            <a:ext cx="292608" cy="292608"/>
          </a:xfrm>
          <a:prstGeom prst="ellipse">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4142232"/>
            <a:ext cx="1737360" cy="320040"/>
          </a:xfrm>
          <a:prstGeom prst="rect">
            <a:avLst/>
          </a:prstGeom>
          <a:noFill/>
        </p:spPr>
        <p:txBody>
          <a:bodyPr wrap="square">
            <a:spAutoFit/>
          </a:bodyPr>
          <a:lstStyle/>
          <a:p>
            <a:pPr algn="l"/>
            <a:r>
              <a:rPr sz="1100" b="1">
                <a:solidFill>
                  <a:srgbClr val="FFFFFF"/>
                </a:solidFill>
              </a:rPr>
              <a:t>security-scan</a:t>
            </a:r>
          </a:p>
        </p:txBody>
      </p:sp>
      <p:sp>
        <p:nvSpPr>
          <p:cNvPr id="23" name="TextBox 22"/>
          <p:cNvSpPr txBox="1"/>
          <p:nvPr/>
        </p:nvSpPr>
        <p:spPr>
          <a:xfrm>
            <a:off x="2468880" y="4160520"/>
            <a:ext cx="1828800" cy="292608"/>
          </a:xfrm>
          <a:prstGeom prst="rect">
            <a:avLst/>
          </a:prstGeom>
          <a:noFill/>
        </p:spPr>
        <p:txBody>
          <a:bodyPr wrap="square">
            <a:spAutoFit/>
          </a:bodyPr>
          <a:lstStyle/>
          <a:p>
            <a:pPr algn="l"/>
            <a:r>
              <a:rPr sz="1000" b="0">
                <a:solidFill>
                  <a:srgbClr val="8888AA"/>
                </a:solidFill>
              </a:rPr>
              <a:t>pip-audit / gitleaks</a:t>
            </a:r>
          </a:p>
        </p:txBody>
      </p:sp>
      <p:sp>
        <p:nvSpPr>
          <p:cNvPr id="24" name="Rounded Rectangle 23"/>
          <p:cNvSpPr/>
          <p:nvPr/>
        </p:nvSpPr>
        <p:spPr>
          <a:xfrm>
            <a:off x="292608" y="4572000"/>
            <a:ext cx="4169664" cy="475488"/>
          </a:xfrm>
          <a:prstGeom prst="roundRect">
            <a:avLst/>
          </a:prstGeom>
          <a:solidFill>
            <a:srgbClr val="1A1A2E"/>
          </a:solidFill>
          <a:ln w="1905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347472" y="4663440"/>
            <a:ext cx="292608" cy="292608"/>
          </a:xfrm>
          <a:prstGeom prst="ellipse">
            <a:avLst/>
          </a:prstGeom>
          <a:solidFill>
            <a:srgbClr val="FF5F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1520" y="4645152"/>
            <a:ext cx="1737360" cy="320040"/>
          </a:xfrm>
          <a:prstGeom prst="rect">
            <a:avLst/>
          </a:prstGeom>
          <a:noFill/>
        </p:spPr>
        <p:txBody>
          <a:bodyPr wrap="square">
            <a:spAutoFit/>
          </a:bodyPr>
          <a:lstStyle/>
          <a:p>
            <a:pPr algn="l"/>
            <a:r>
              <a:rPr sz="1100" b="1">
                <a:solidFill>
                  <a:srgbClr val="FFFFFF"/>
                </a:solidFill>
              </a:rPr>
              <a:t>terraform-check</a:t>
            </a:r>
          </a:p>
        </p:txBody>
      </p:sp>
      <p:sp>
        <p:nvSpPr>
          <p:cNvPr id="27" name="TextBox 26"/>
          <p:cNvSpPr txBox="1"/>
          <p:nvPr/>
        </p:nvSpPr>
        <p:spPr>
          <a:xfrm>
            <a:off x="2468880" y="4663440"/>
            <a:ext cx="1828800" cy="292608"/>
          </a:xfrm>
          <a:prstGeom prst="rect">
            <a:avLst/>
          </a:prstGeom>
          <a:noFill/>
        </p:spPr>
        <p:txBody>
          <a:bodyPr wrap="square">
            <a:spAutoFit/>
          </a:bodyPr>
          <a:lstStyle/>
          <a:p>
            <a:pPr algn="l"/>
            <a:r>
              <a:rPr sz="1000" b="0">
                <a:solidFill>
                  <a:srgbClr val="8888AA"/>
                </a:solidFill>
              </a:rPr>
              <a:t>fmt / validate / plan</a:t>
            </a:r>
          </a:p>
        </p:txBody>
      </p:sp>
      <p:sp>
        <p:nvSpPr>
          <p:cNvPr id="28" name="Rounded Rectangle 27"/>
          <p:cNvSpPr/>
          <p:nvPr/>
        </p:nvSpPr>
        <p:spPr>
          <a:xfrm>
            <a:off x="292608" y="5074920"/>
            <a:ext cx="4169664" cy="475488"/>
          </a:xfrm>
          <a:prstGeom prst="roundRect">
            <a:avLst/>
          </a:prstGeom>
          <a:solidFill>
            <a:srgbClr val="1A1A2E"/>
          </a:solidFill>
          <a:ln w="1905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347472" y="5166360"/>
            <a:ext cx="292608" cy="292608"/>
          </a:xfrm>
          <a:prstGeom prst="ellipse">
            <a:avLst/>
          </a:prstGeom>
          <a:solidFill>
            <a:srgbClr val="BD9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5148072"/>
            <a:ext cx="1737360" cy="320040"/>
          </a:xfrm>
          <a:prstGeom prst="rect">
            <a:avLst/>
          </a:prstGeom>
          <a:noFill/>
        </p:spPr>
        <p:txBody>
          <a:bodyPr wrap="square">
            <a:spAutoFit/>
          </a:bodyPr>
          <a:lstStyle/>
          <a:p>
            <a:pPr algn="l"/>
            <a:r>
              <a:rPr sz="1100" b="1">
                <a:solidFill>
                  <a:srgbClr val="FFFFFF"/>
                </a:solidFill>
              </a:rPr>
              <a:t>image-ci</a:t>
            </a:r>
          </a:p>
        </p:txBody>
      </p:sp>
      <p:sp>
        <p:nvSpPr>
          <p:cNvPr id="31" name="TextBox 30"/>
          <p:cNvSpPr txBox="1"/>
          <p:nvPr/>
        </p:nvSpPr>
        <p:spPr>
          <a:xfrm>
            <a:off x="2468880" y="5166360"/>
            <a:ext cx="1828800" cy="292608"/>
          </a:xfrm>
          <a:prstGeom prst="rect">
            <a:avLst/>
          </a:prstGeom>
          <a:noFill/>
        </p:spPr>
        <p:txBody>
          <a:bodyPr wrap="square">
            <a:spAutoFit/>
          </a:bodyPr>
          <a:lstStyle/>
          <a:p>
            <a:pPr algn="l"/>
            <a:r>
              <a:rPr sz="1000" b="0">
                <a:solidFill>
                  <a:srgbClr val="8888AA"/>
                </a:solidFill>
              </a:rPr>
              <a:t>Trivy / CodeQL</a:t>
            </a:r>
          </a:p>
        </p:txBody>
      </p:sp>
      <p:sp>
        <p:nvSpPr>
          <p:cNvPr id="32" name="TextBox 31"/>
          <p:cNvSpPr txBox="1"/>
          <p:nvPr/>
        </p:nvSpPr>
        <p:spPr>
          <a:xfrm>
            <a:off x="4709160" y="3200400"/>
            <a:ext cx="1188720" cy="320040"/>
          </a:xfrm>
          <a:prstGeom prst="rect">
            <a:avLst/>
          </a:prstGeom>
          <a:noFill/>
        </p:spPr>
        <p:txBody>
          <a:bodyPr wrap="square">
            <a:spAutoFit/>
          </a:bodyPr>
          <a:lstStyle/>
          <a:p>
            <a:pPr algn="ctr"/>
            <a:r>
              <a:rPr sz="1000" b="0">
                <a:solidFill>
                  <a:srgbClr val="4EC97E"/>
                </a:solidFill>
              </a:rPr>
              <a:t>全 job 通過</a:t>
            </a:r>
          </a:p>
        </p:txBody>
      </p:sp>
      <p:sp>
        <p:nvSpPr>
          <p:cNvPr id="33" name="TextBox 32"/>
          <p:cNvSpPr txBox="1"/>
          <p:nvPr/>
        </p:nvSpPr>
        <p:spPr>
          <a:xfrm>
            <a:off x="4754880" y="3474720"/>
            <a:ext cx="1005840" cy="457200"/>
          </a:xfrm>
          <a:prstGeom prst="rect">
            <a:avLst/>
          </a:prstGeom>
          <a:noFill/>
        </p:spPr>
        <p:txBody>
          <a:bodyPr wrap="square">
            <a:spAutoFit/>
          </a:bodyPr>
          <a:lstStyle/>
          <a:p>
            <a:pPr algn="ctr"/>
            <a:r>
              <a:rPr sz="2800" b="0">
                <a:solidFill>
                  <a:srgbClr val="4EC97E"/>
                </a:solidFill>
              </a:rPr>
              <a:t>→</a:t>
            </a:r>
          </a:p>
        </p:txBody>
      </p:sp>
      <p:sp>
        <p:nvSpPr>
          <p:cNvPr id="34" name="TextBox 33"/>
          <p:cNvSpPr txBox="1"/>
          <p:nvPr/>
        </p:nvSpPr>
        <p:spPr>
          <a:xfrm>
            <a:off x="4709160" y="3886200"/>
            <a:ext cx="1188720" cy="548640"/>
          </a:xfrm>
          <a:prstGeom prst="rect">
            <a:avLst/>
          </a:prstGeom>
          <a:noFill/>
        </p:spPr>
        <p:txBody>
          <a:bodyPr wrap="square">
            <a:spAutoFit/>
          </a:bodyPr>
          <a:lstStyle/>
          <a:p>
            <a:pPr algn="ctr"/>
            <a:r>
              <a:rPr sz="1000" b="0">
                <a:solidFill>
                  <a:srgbClr val="4EC97E"/>
                </a:solidFill>
              </a:rPr>
              <a:t>Merge
to main</a:t>
            </a:r>
          </a:p>
        </p:txBody>
      </p:sp>
      <p:sp>
        <p:nvSpPr>
          <p:cNvPr id="35" name="Rectangle 34"/>
          <p:cNvSpPr/>
          <p:nvPr/>
        </p:nvSpPr>
        <p:spPr>
          <a:xfrm>
            <a:off x="6035040" y="3383280"/>
            <a:ext cx="1371600" cy="685800"/>
          </a:xfrm>
          <a:prstGeom prst="rect">
            <a:avLst/>
          </a:prstGeom>
          <a:solidFill>
            <a:srgbClr val="4EC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035040" y="3383280"/>
            <a:ext cx="1371600" cy="685800"/>
          </a:xfrm>
          <a:prstGeom prst="rect">
            <a:avLst/>
          </a:prstGeom>
          <a:noFill/>
        </p:spPr>
        <p:txBody>
          <a:bodyPr wrap="square">
            <a:spAutoFit/>
          </a:bodyPr>
          <a:lstStyle/>
          <a:p>
            <a:pPr algn="ctr"/>
            <a:r>
              <a:rPr sz="1400" b="1">
                <a:solidFill>
                  <a:srgbClr val="FFFFFF"/>
                </a:solidFill>
              </a:rPr>
              <a:t>main</a:t>
            </a:r>
          </a:p>
        </p:txBody>
      </p:sp>
      <p:sp>
        <p:nvSpPr>
          <p:cNvPr id="37" name="Rounded Rectangle 36"/>
          <p:cNvSpPr/>
          <p:nvPr/>
        </p:nvSpPr>
        <p:spPr>
          <a:xfrm>
            <a:off x="7635240" y="1143000"/>
            <a:ext cx="2103120" cy="3063240"/>
          </a:xfrm>
          <a:prstGeom prst="roundRect">
            <a:avLst/>
          </a:prstGeom>
          <a:solidFill>
            <a:srgbClr val="2D2D48"/>
          </a:solidFill>
          <a:ln w="2540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708392" y="1216152"/>
            <a:ext cx="2103120" cy="347472"/>
          </a:xfrm>
          <a:prstGeom prst="rect">
            <a:avLst/>
          </a:prstGeom>
          <a:noFill/>
        </p:spPr>
        <p:txBody>
          <a:bodyPr wrap="square">
            <a:spAutoFit/>
          </a:bodyPr>
          <a:lstStyle/>
          <a:p>
            <a:pPr algn="l"/>
            <a:r>
              <a:rPr sz="1200" b="1">
                <a:solidFill>
                  <a:srgbClr val="4EC97E"/>
                </a:solidFill>
              </a:rPr>
              <a:t>Terraform CD</a:t>
            </a:r>
          </a:p>
        </p:txBody>
      </p:sp>
      <p:sp>
        <p:nvSpPr>
          <p:cNvPr id="39" name="Rounded Rectangle 38"/>
          <p:cNvSpPr/>
          <p:nvPr/>
        </p:nvSpPr>
        <p:spPr>
          <a:xfrm>
            <a:off x="7726680" y="1645920"/>
            <a:ext cx="1920240" cy="658368"/>
          </a:xfrm>
          <a:prstGeom prst="roundRect">
            <a:avLst/>
          </a:prstGeom>
          <a:solidFill>
            <a:srgbClr val="1A1A2E"/>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799832" y="1691640"/>
            <a:ext cx="914400" cy="320040"/>
          </a:xfrm>
          <a:prstGeom prst="rect">
            <a:avLst/>
          </a:prstGeom>
          <a:noFill/>
        </p:spPr>
        <p:txBody>
          <a:bodyPr wrap="square">
            <a:spAutoFit/>
          </a:bodyPr>
          <a:lstStyle/>
          <a:p>
            <a:pPr algn="l"/>
            <a:r>
              <a:rPr sz="1300" b="1">
                <a:solidFill>
                  <a:srgbClr val="4EC97E"/>
                </a:solidFill>
              </a:rPr>
              <a:t>dev</a:t>
            </a:r>
          </a:p>
        </p:txBody>
      </p:sp>
      <p:sp>
        <p:nvSpPr>
          <p:cNvPr id="41" name="TextBox 40"/>
          <p:cNvSpPr txBox="1"/>
          <p:nvPr/>
        </p:nvSpPr>
        <p:spPr>
          <a:xfrm>
            <a:off x="7799832" y="1993392"/>
            <a:ext cx="1645920" cy="274320"/>
          </a:xfrm>
          <a:prstGeom prst="rect">
            <a:avLst/>
          </a:prstGeom>
          <a:noFill/>
        </p:spPr>
        <p:txBody>
          <a:bodyPr wrap="square">
            <a:spAutoFit/>
          </a:bodyPr>
          <a:lstStyle/>
          <a:p>
            <a:pPr algn="l"/>
            <a:r>
              <a:rPr sz="1000" b="0">
                <a:solidFill>
                  <a:srgbClr val="8888AA"/>
                </a:solidFill>
              </a:rPr>
              <a:t>自動</a:t>
            </a:r>
          </a:p>
        </p:txBody>
      </p:sp>
      <p:sp>
        <p:nvSpPr>
          <p:cNvPr id="42" name="TextBox 41"/>
          <p:cNvSpPr txBox="1"/>
          <p:nvPr/>
        </p:nvSpPr>
        <p:spPr>
          <a:xfrm>
            <a:off x="8686800" y="1828800"/>
            <a:ext cx="914400" cy="320040"/>
          </a:xfrm>
          <a:prstGeom prst="rect">
            <a:avLst/>
          </a:prstGeom>
          <a:noFill/>
        </p:spPr>
        <p:txBody>
          <a:bodyPr wrap="square">
            <a:spAutoFit/>
          </a:bodyPr>
          <a:lstStyle/>
          <a:p>
            <a:pPr algn="l"/>
            <a:r>
              <a:rPr sz="900" b="0">
                <a:solidFill>
                  <a:srgbClr val="4EC97E"/>
                </a:solidFill>
              </a:rPr>
              <a:t>✓ health check</a:t>
            </a:r>
          </a:p>
        </p:txBody>
      </p:sp>
      <p:sp>
        <p:nvSpPr>
          <p:cNvPr id="43" name="TextBox 42"/>
          <p:cNvSpPr txBox="1"/>
          <p:nvPr/>
        </p:nvSpPr>
        <p:spPr>
          <a:xfrm>
            <a:off x="8503920" y="2322576"/>
            <a:ext cx="457200" cy="182880"/>
          </a:xfrm>
          <a:prstGeom prst="rect">
            <a:avLst/>
          </a:prstGeom>
          <a:noFill/>
        </p:spPr>
        <p:txBody>
          <a:bodyPr wrap="square">
            <a:spAutoFit/>
          </a:bodyPr>
          <a:lstStyle/>
          <a:p>
            <a:pPr algn="ctr"/>
            <a:r>
              <a:rPr sz="1200" b="0">
                <a:solidFill>
                  <a:srgbClr val="CCCCCC"/>
                </a:solidFill>
              </a:rPr>
              <a:t>↓</a:t>
            </a:r>
          </a:p>
        </p:txBody>
      </p:sp>
      <p:sp>
        <p:nvSpPr>
          <p:cNvPr id="44" name="Rounded Rectangle 43"/>
          <p:cNvSpPr/>
          <p:nvPr/>
        </p:nvSpPr>
        <p:spPr>
          <a:xfrm>
            <a:off x="7726680" y="2423160"/>
            <a:ext cx="1920240" cy="658368"/>
          </a:xfrm>
          <a:prstGeom prst="roundRect">
            <a:avLst/>
          </a:prstGeom>
          <a:solidFill>
            <a:srgbClr val="1A1A2E"/>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799832" y="2468880"/>
            <a:ext cx="914400" cy="320040"/>
          </a:xfrm>
          <a:prstGeom prst="rect">
            <a:avLst/>
          </a:prstGeom>
          <a:noFill/>
        </p:spPr>
        <p:txBody>
          <a:bodyPr wrap="square">
            <a:spAutoFit/>
          </a:bodyPr>
          <a:lstStyle/>
          <a:p>
            <a:pPr algn="l"/>
            <a:r>
              <a:rPr sz="1300" b="1">
                <a:solidFill>
                  <a:srgbClr val="FF9900"/>
                </a:solidFill>
              </a:rPr>
              <a:t>stg</a:t>
            </a:r>
          </a:p>
        </p:txBody>
      </p:sp>
      <p:sp>
        <p:nvSpPr>
          <p:cNvPr id="46" name="TextBox 45"/>
          <p:cNvSpPr txBox="1"/>
          <p:nvPr/>
        </p:nvSpPr>
        <p:spPr>
          <a:xfrm>
            <a:off x="7799832" y="2770632"/>
            <a:ext cx="1645920" cy="274320"/>
          </a:xfrm>
          <a:prstGeom prst="rect">
            <a:avLst/>
          </a:prstGeom>
          <a:noFill/>
        </p:spPr>
        <p:txBody>
          <a:bodyPr wrap="square">
            <a:spAutoFit/>
          </a:bodyPr>
          <a:lstStyle/>
          <a:p>
            <a:pPr algn="l"/>
            <a:r>
              <a:rPr sz="1000" b="0">
                <a:solidFill>
                  <a:srgbClr val="8888AA"/>
                </a:solidFill>
              </a:rPr>
              <a:t>手動承認</a:t>
            </a:r>
          </a:p>
        </p:txBody>
      </p:sp>
      <p:sp>
        <p:nvSpPr>
          <p:cNvPr id="47" name="TextBox 46"/>
          <p:cNvSpPr txBox="1"/>
          <p:nvPr/>
        </p:nvSpPr>
        <p:spPr>
          <a:xfrm>
            <a:off x="8686800" y="2606040"/>
            <a:ext cx="914400" cy="320040"/>
          </a:xfrm>
          <a:prstGeom prst="rect">
            <a:avLst/>
          </a:prstGeom>
          <a:noFill/>
        </p:spPr>
        <p:txBody>
          <a:bodyPr wrap="square">
            <a:spAutoFit/>
          </a:bodyPr>
          <a:lstStyle/>
          <a:p>
            <a:pPr algn="l"/>
            <a:r>
              <a:rPr sz="900" b="0">
                <a:solidFill>
                  <a:srgbClr val="4EC97E"/>
                </a:solidFill>
              </a:rPr>
              <a:t>✓ health check</a:t>
            </a:r>
          </a:p>
        </p:txBody>
      </p:sp>
      <p:sp>
        <p:nvSpPr>
          <p:cNvPr id="48" name="TextBox 47"/>
          <p:cNvSpPr txBox="1"/>
          <p:nvPr/>
        </p:nvSpPr>
        <p:spPr>
          <a:xfrm>
            <a:off x="8503920" y="3099816"/>
            <a:ext cx="457200" cy="182880"/>
          </a:xfrm>
          <a:prstGeom prst="rect">
            <a:avLst/>
          </a:prstGeom>
          <a:noFill/>
        </p:spPr>
        <p:txBody>
          <a:bodyPr wrap="square">
            <a:spAutoFit/>
          </a:bodyPr>
          <a:lstStyle/>
          <a:p>
            <a:pPr algn="ctr"/>
            <a:r>
              <a:rPr sz="1200" b="0">
                <a:solidFill>
                  <a:srgbClr val="CCCCCC"/>
                </a:solidFill>
              </a:rPr>
              <a:t>↓</a:t>
            </a:r>
          </a:p>
        </p:txBody>
      </p:sp>
      <p:sp>
        <p:nvSpPr>
          <p:cNvPr id="49" name="Rounded Rectangle 48"/>
          <p:cNvSpPr/>
          <p:nvPr/>
        </p:nvSpPr>
        <p:spPr>
          <a:xfrm>
            <a:off x="7726680" y="3200400"/>
            <a:ext cx="1920240" cy="658368"/>
          </a:xfrm>
          <a:prstGeom prst="roundRect">
            <a:avLst/>
          </a:prstGeom>
          <a:solidFill>
            <a:srgbClr val="1A1A2E"/>
          </a:solidFill>
          <a:ln w="1905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799832" y="3246120"/>
            <a:ext cx="914400" cy="320040"/>
          </a:xfrm>
          <a:prstGeom prst="rect">
            <a:avLst/>
          </a:prstGeom>
          <a:noFill/>
        </p:spPr>
        <p:txBody>
          <a:bodyPr wrap="square">
            <a:spAutoFit/>
          </a:bodyPr>
          <a:lstStyle/>
          <a:p>
            <a:pPr algn="l"/>
            <a:r>
              <a:rPr sz="1300" b="1">
                <a:solidFill>
                  <a:srgbClr val="FF5F57"/>
                </a:solidFill>
              </a:rPr>
              <a:t>prod</a:t>
            </a:r>
          </a:p>
        </p:txBody>
      </p:sp>
      <p:sp>
        <p:nvSpPr>
          <p:cNvPr id="51" name="TextBox 50"/>
          <p:cNvSpPr txBox="1"/>
          <p:nvPr/>
        </p:nvSpPr>
        <p:spPr>
          <a:xfrm>
            <a:off x="7799832" y="3547872"/>
            <a:ext cx="1645920" cy="274320"/>
          </a:xfrm>
          <a:prstGeom prst="rect">
            <a:avLst/>
          </a:prstGeom>
          <a:noFill/>
        </p:spPr>
        <p:txBody>
          <a:bodyPr wrap="square">
            <a:spAutoFit/>
          </a:bodyPr>
          <a:lstStyle/>
          <a:p>
            <a:pPr algn="l"/>
            <a:r>
              <a:rPr sz="1000" b="0">
                <a:solidFill>
                  <a:srgbClr val="8888AA"/>
                </a:solidFill>
              </a:rPr>
              <a:t>手動承認</a:t>
            </a:r>
          </a:p>
        </p:txBody>
      </p:sp>
      <p:sp>
        <p:nvSpPr>
          <p:cNvPr id="52" name="TextBox 51"/>
          <p:cNvSpPr txBox="1"/>
          <p:nvPr/>
        </p:nvSpPr>
        <p:spPr>
          <a:xfrm>
            <a:off x="8686800" y="3383280"/>
            <a:ext cx="914400" cy="320040"/>
          </a:xfrm>
          <a:prstGeom prst="rect">
            <a:avLst/>
          </a:prstGeom>
          <a:noFill/>
        </p:spPr>
        <p:txBody>
          <a:bodyPr wrap="square">
            <a:spAutoFit/>
          </a:bodyPr>
          <a:lstStyle/>
          <a:p>
            <a:pPr algn="l"/>
            <a:r>
              <a:rPr sz="900" b="0">
                <a:solidFill>
                  <a:srgbClr val="4EC97E"/>
                </a:solidFill>
              </a:rPr>
              <a:t>✓ health check</a:t>
            </a:r>
          </a:p>
        </p:txBody>
      </p:sp>
      <p:sp>
        <p:nvSpPr>
          <p:cNvPr id="53" name="Rounded Rectangle 52"/>
          <p:cNvSpPr/>
          <p:nvPr/>
        </p:nvSpPr>
        <p:spPr>
          <a:xfrm>
            <a:off x="9921240" y="1143000"/>
            <a:ext cx="2057400" cy="3063240"/>
          </a:xfrm>
          <a:prstGeom prst="roundRect">
            <a:avLst/>
          </a:prstGeom>
          <a:solidFill>
            <a:srgbClr val="2D2D48"/>
          </a:solidFill>
          <a:ln w="2540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994392" y="1216152"/>
            <a:ext cx="2057400" cy="347472"/>
          </a:xfrm>
          <a:prstGeom prst="rect">
            <a:avLst/>
          </a:prstGeom>
          <a:noFill/>
        </p:spPr>
        <p:txBody>
          <a:bodyPr wrap="square">
            <a:spAutoFit/>
          </a:bodyPr>
          <a:lstStyle/>
          <a:p>
            <a:pPr algn="l"/>
            <a:r>
              <a:rPr sz="1200" b="1">
                <a:solidFill>
                  <a:srgbClr val="FF9900"/>
                </a:solidFill>
              </a:rPr>
              <a:t>Image CD</a:t>
            </a:r>
          </a:p>
        </p:txBody>
      </p:sp>
      <p:sp>
        <p:nvSpPr>
          <p:cNvPr id="55" name="Rounded Rectangle 54"/>
          <p:cNvSpPr/>
          <p:nvPr/>
        </p:nvSpPr>
        <p:spPr>
          <a:xfrm>
            <a:off x="10012680" y="1618488"/>
            <a:ext cx="1874520" cy="594360"/>
          </a:xfrm>
          <a:prstGeom prst="roundRect">
            <a:avLst/>
          </a:prstGeom>
          <a:solidFill>
            <a:srgbClr val="1A1A2E"/>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085832" y="1664208"/>
            <a:ext cx="1005840" cy="292608"/>
          </a:xfrm>
          <a:prstGeom prst="rect">
            <a:avLst/>
          </a:prstGeom>
          <a:noFill/>
        </p:spPr>
        <p:txBody>
          <a:bodyPr wrap="square">
            <a:spAutoFit/>
          </a:bodyPr>
          <a:lstStyle/>
          <a:p>
            <a:pPr algn="l"/>
            <a:r>
              <a:rPr sz="1100" b="1">
                <a:solidFill>
                  <a:srgbClr val="FF9900"/>
                </a:solidFill>
              </a:rPr>
              <a:t>build</a:t>
            </a:r>
          </a:p>
        </p:txBody>
      </p:sp>
      <p:sp>
        <p:nvSpPr>
          <p:cNvPr id="57" name="TextBox 56"/>
          <p:cNvSpPr txBox="1"/>
          <p:nvPr/>
        </p:nvSpPr>
        <p:spPr>
          <a:xfrm>
            <a:off x="10085832" y="1956816"/>
            <a:ext cx="1554480" cy="228600"/>
          </a:xfrm>
          <a:prstGeom prst="rect">
            <a:avLst/>
          </a:prstGeom>
          <a:noFill/>
        </p:spPr>
        <p:txBody>
          <a:bodyPr wrap="square">
            <a:spAutoFit/>
          </a:bodyPr>
          <a:lstStyle/>
          <a:p>
            <a:pPr algn="l"/>
            <a:r>
              <a:rPr sz="900" b="0">
                <a:solidFill>
                  <a:srgbClr val="8888AA"/>
                </a:solidFill>
              </a:rPr>
              <a:t>docker build</a:t>
            </a:r>
          </a:p>
        </p:txBody>
      </p:sp>
      <p:sp>
        <p:nvSpPr>
          <p:cNvPr id="58" name="Rounded Rectangle 57"/>
          <p:cNvSpPr/>
          <p:nvPr/>
        </p:nvSpPr>
        <p:spPr>
          <a:xfrm>
            <a:off x="10012680" y="2258568"/>
            <a:ext cx="1874520" cy="594360"/>
          </a:xfrm>
          <a:prstGeom prst="roundRect">
            <a:avLst/>
          </a:prstGeom>
          <a:solidFill>
            <a:srgbClr val="1A1A2E"/>
          </a:solidFill>
          <a:ln w="1905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085832" y="2304288"/>
            <a:ext cx="1005840" cy="292608"/>
          </a:xfrm>
          <a:prstGeom prst="rect">
            <a:avLst/>
          </a:prstGeom>
          <a:noFill/>
        </p:spPr>
        <p:txBody>
          <a:bodyPr wrap="square">
            <a:spAutoFit/>
          </a:bodyPr>
          <a:lstStyle/>
          <a:p>
            <a:pPr algn="l"/>
            <a:r>
              <a:rPr sz="1100" b="1">
                <a:solidFill>
                  <a:srgbClr val="FF5F57"/>
                </a:solidFill>
              </a:rPr>
              <a:t>scan</a:t>
            </a:r>
          </a:p>
        </p:txBody>
      </p:sp>
      <p:sp>
        <p:nvSpPr>
          <p:cNvPr id="60" name="TextBox 59"/>
          <p:cNvSpPr txBox="1"/>
          <p:nvPr/>
        </p:nvSpPr>
        <p:spPr>
          <a:xfrm>
            <a:off x="10085832" y="2596896"/>
            <a:ext cx="1554480" cy="228600"/>
          </a:xfrm>
          <a:prstGeom prst="rect">
            <a:avLst/>
          </a:prstGeom>
          <a:noFill/>
        </p:spPr>
        <p:txBody>
          <a:bodyPr wrap="square">
            <a:spAutoFit/>
          </a:bodyPr>
          <a:lstStyle/>
          <a:p>
            <a:pPr algn="l"/>
            <a:r>
              <a:rPr sz="900" b="0">
                <a:solidFill>
                  <a:srgbClr val="8888AA"/>
                </a:solidFill>
              </a:rPr>
              <a:t>Trivy image</a:t>
            </a:r>
          </a:p>
        </p:txBody>
      </p:sp>
      <p:sp>
        <p:nvSpPr>
          <p:cNvPr id="61" name="Rounded Rectangle 60"/>
          <p:cNvSpPr/>
          <p:nvPr/>
        </p:nvSpPr>
        <p:spPr>
          <a:xfrm>
            <a:off x="10012680" y="2898648"/>
            <a:ext cx="1874520" cy="594360"/>
          </a:xfrm>
          <a:prstGeom prst="roundRect">
            <a:avLst/>
          </a:prstGeom>
          <a:solidFill>
            <a:srgbClr val="1A1A2E"/>
          </a:solidFill>
          <a:ln w="1905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0085832" y="2944368"/>
            <a:ext cx="1005840" cy="292608"/>
          </a:xfrm>
          <a:prstGeom prst="rect">
            <a:avLst/>
          </a:prstGeom>
          <a:noFill/>
        </p:spPr>
        <p:txBody>
          <a:bodyPr wrap="square">
            <a:spAutoFit/>
          </a:bodyPr>
          <a:lstStyle/>
          <a:p>
            <a:pPr algn="l"/>
            <a:r>
              <a:rPr sz="1100" b="1">
                <a:solidFill>
                  <a:srgbClr val="BD93F9"/>
                </a:solidFill>
              </a:rPr>
              <a:t>push ECR</a:t>
            </a:r>
          </a:p>
        </p:txBody>
      </p:sp>
      <p:sp>
        <p:nvSpPr>
          <p:cNvPr id="63" name="TextBox 62"/>
          <p:cNvSpPr txBox="1"/>
          <p:nvPr/>
        </p:nvSpPr>
        <p:spPr>
          <a:xfrm>
            <a:off x="10085832" y="3236976"/>
            <a:ext cx="1554480" cy="228600"/>
          </a:xfrm>
          <a:prstGeom prst="rect">
            <a:avLst/>
          </a:prstGeom>
          <a:noFill/>
        </p:spPr>
        <p:txBody>
          <a:bodyPr wrap="square">
            <a:spAutoFit/>
          </a:bodyPr>
          <a:lstStyle/>
          <a:p>
            <a:pPr algn="l"/>
            <a:r>
              <a:rPr sz="900" b="0">
                <a:solidFill>
                  <a:srgbClr val="8888AA"/>
                </a:solidFill>
              </a:rPr>
              <a:t>github.sha tag</a:t>
            </a:r>
          </a:p>
        </p:txBody>
      </p:sp>
      <p:sp>
        <p:nvSpPr>
          <p:cNvPr id="64" name="Rounded Rectangle 63"/>
          <p:cNvSpPr/>
          <p:nvPr/>
        </p:nvSpPr>
        <p:spPr>
          <a:xfrm>
            <a:off x="10012680" y="3538728"/>
            <a:ext cx="1874520" cy="594360"/>
          </a:xfrm>
          <a:prstGeom prst="roundRect">
            <a:avLst/>
          </a:prstGeom>
          <a:solidFill>
            <a:srgbClr val="1A1A2E"/>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10085832" y="3584448"/>
            <a:ext cx="1005840" cy="292608"/>
          </a:xfrm>
          <a:prstGeom prst="rect">
            <a:avLst/>
          </a:prstGeom>
          <a:noFill/>
        </p:spPr>
        <p:txBody>
          <a:bodyPr wrap="square">
            <a:spAutoFit/>
          </a:bodyPr>
          <a:lstStyle/>
          <a:p>
            <a:pPr algn="l"/>
            <a:r>
              <a:rPr sz="1100" b="1">
                <a:solidFill>
                  <a:srgbClr val="4EC97E"/>
                </a:solidFill>
              </a:rPr>
              <a:t>ECS dev</a:t>
            </a:r>
          </a:p>
        </p:txBody>
      </p:sp>
      <p:sp>
        <p:nvSpPr>
          <p:cNvPr id="66" name="TextBox 65"/>
          <p:cNvSpPr txBox="1"/>
          <p:nvPr/>
        </p:nvSpPr>
        <p:spPr>
          <a:xfrm>
            <a:off x="10085832" y="3877056"/>
            <a:ext cx="1554480" cy="228600"/>
          </a:xfrm>
          <a:prstGeom prst="rect">
            <a:avLst/>
          </a:prstGeom>
          <a:noFill/>
        </p:spPr>
        <p:txBody>
          <a:bodyPr wrap="square">
            <a:spAutoFit/>
          </a:bodyPr>
          <a:lstStyle/>
          <a:p>
            <a:pPr algn="l"/>
            <a:r>
              <a:rPr sz="900" b="0">
                <a:solidFill>
                  <a:srgbClr val="8888AA"/>
                </a:solidFill>
              </a:rPr>
              <a:t>Fargate更新</a:t>
            </a:r>
          </a:p>
        </p:txBody>
      </p:sp>
      <p:sp>
        <p:nvSpPr>
          <p:cNvPr id="67" name="TextBox 66"/>
          <p:cNvSpPr txBox="1"/>
          <p:nvPr/>
        </p:nvSpPr>
        <p:spPr>
          <a:xfrm>
            <a:off x="7452360" y="3520440"/>
            <a:ext cx="457200" cy="365760"/>
          </a:xfrm>
          <a:prstGeom prst="rect">
            <a:avLst/>
          </a:prstGeom>
          <a:noFill/>
        </p:spPr>
        <p:txBody>
          <a:bodyPr wrap="square">
            <a:spAutoFit/>
          </a:bodyPr>
          <a:lstStyle/>
          <a:p>
            <a:pPr algn="ctr"/>
            <a:r>
              <a:rPr sz="2200" b="0">
                <a:solidFill>
                  <a:srgbClr val="4EC97E"/>
                </a:solidFill>
              </a:rPr>
              <a:t>→</a:t>
            </a:r>
          </a:p>
        </p:txBody>
      </p:sp>
      <p:sp>
        <p:nvSpPr>
          <p:cNvPr id="68" name="TextBox 67"/>
          <p:cNvSpPr txBox="1"/>
          <p:nvPr/>
        </p:nvSpPr>
        <p:spPr>
          <a:xfrm>
            <a:off x="9692640" y="3520440"/>
            <a:ext cx="457200" cy="365760"/>
          </a:xfrm>
          <a:prstGeom prst="rect">
            <a:avLst/>
          </a:prstGeom>
          <a:noFill/>
        </p:spPr>
        <p:txBody>
          <a:bodyPr wrap="square">
            <a:spAutoFit/>
          </a:bodyPr>
          <a:lstStyle/>
          <a:p>
            <a:pPr algn="ctr"/>
            <a:r>
              <a:rPr sz="2200" b="0">
                <a:solidFill>
                  <a:srgbClr val="FF9900"/>
                </a:solidFill>
              </a:rPr>
              <a:t>→</a:t>
            </a:r>
          </a:p>
        </p:txBody>
      </p:sp>
      <p:sp>
        <p:nvSpPr>
          <p:cNvPr id="69" name="Rounded Rectangle 68"/>
          <p:cNvSpPr/>
          <p:nvPr/>
        </p:nvSpPr>
        <p:spPr>
          <a:xfrm>
            <a:off x="182880" y="5989320"/>
            <a:ext cx="11795760" cy="594360"/>
          </a:xfrm>
          <a:prstGeom prst="roundRect">
            <a:avLst/>
          </a:prstGeom>
          <a:solidFill>
            <a:srgbClr val="252540"/>
          </a:solidFill>
          <a:ln w="12700">
            <a:solidFill>
              <a:srgbClr val="888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365760" y="6035040"/>
            <a:ext cx="11430000" cy="502920"/>
          </a:xfrm>
          <a:prstGeom prst="rect">
            <a:avLst/>
          </a:prstGeom>
          <a:noFill/>
        </p:spPr>
        <p:txBody>
          <a:bodyPr wrap="square">
            <a:spAutoFit/>
          </a:bodyPr>
          <a:lstStyle/>
          <a:p>
            <a:pPr algn="l"/>
            <a:r>
              <a:rPr sz="1200" b="0">
                <a:solidFill>
                  <a:srgbClr val="CCCCCC"/>
                </a:solidFill>
              </a:rPr>
              <a:t>■ ブランチ保護: Required Status Checks — 全 CI job 通過しないとマージ不可</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621792"/>
          </a:xfrm>
          <a:prstGeom prst="rect">
            <a:avLst/>
          </a:prstGeom>
          <a:noFill/>
        </p:spPr>
        <p:txBody>
          <a:bodyPr wrap="square">
            <a:spAutoFit/>
          </a:bodyPr>
          <a:lstStyle/>
          <a:p>
            <a:pPr algn="l"/>
            <a:r>
              <a:rPr sz="2800" b="1">
                <a:solidFill>
                  <a:srgbClr val="FFFFFF"/>
                </a:solidFill>
              </a:rPr>
              <a:t>CI パイプライン — 5 Jobs フロー</a:t>
            </a:r>
          </a:p>
        </p:txBody>
      </p:sp>
      <p:sp>
        <p:nvSpPr>
          <p:cNvPr id="4" name="TextBox 3"/>
          <p:cNvSpPr txBox="1"/>
          <p:nvPr/>
        </p:nvSpPr>
        <p:spPr>
          <a:xfrm>
            <a:off x="457200" y="694944"/>
            <a:ext cx="10972800" cy="365760"/>
          </a:xfrm>
          <a:prstGeom prst="rect">
            <a:avLst/>
          </a:prstGeom>
          <a:noFill/>
        </p:spPr>
        <p:txBody>
          <a:bodyPr wrap="square">
            <a:spAutoFit/>
          </a:bodyPr>
          <a:lstStyle/>
          <a:p>
            <a:pPr algn="l"/>
            <a:r>
              <a:rPr sz="1400" b="0">
                <a:solidFill>
                  <a:srgbClr val="569CD6"/>
                </a:solidFill>
              </a:rPr>
              <a:t>PR作成をトリガーに全ジョブが自動実行</a:t>
            </a:r>
          </a:p>
        </p:txBody>
      </p:sp>
      <p:sp>
        <p:nvSpPr>
          <p:cNvPr id="5" name="Rectangle 4"/>
          <p:cNvSpPr/>
          <p:nvPr/>
        </p:nvSpPr>
        <p:spPr>
          <a:xfrm>
            <a:off x="0" y="6656832"/>
            <a:ext cx="12188952" cy="201168"/>
          </a:xfrm>
          <a:prstGeom prst="rect">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9486" y="1920240"/>
            <a:ext cx="2057400" cy="1645920"/>
          </a:xfrm>
          <a:prstGeom prst="pentagon">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5206" y="2084832"/>
            <a:ext cx="1965960" cy="822960"/>
          </a:xfrm>
          <a:prstGeom prst="rect">
            <a:avLst/>
          </a:prstGeom>
          <a:noFill/>
        </p:spPr>
        <p:txBody>
          <a:bodyPr wrap="square">
            <a:spAutoFit/>
          </a:bodyPr>
          <a:lstStyle/>
          <a:p>
            <a:pPr algn="ctr"/>
            <a:r>
              <a:rPr sz="1200" b="1">
                <a:solidFill>
                  <a:srgbClr val="FFFFFF"/>
                </a:solidFill>
              </a:rPr>
              <a:t>python
quality</a:t>
            </a:r>
          </a:p>
        </p:txBody>
      </p:sp>
      <p:sp>
        <p:nvSpPr>
          <p:cNvPr id="8" name="TextBox 7"/>
          <p:cNvSpPr txBox="1"/>
          <p:nvPr/>
        </p:nvSpPr>
        <p:spPr>
          <a:xfrm>
            <a:off x="505206" y="2874873"/>
            <a:ext cx="1965960" cy="625449"/>
          </a:xfrm>
          <a:prstGeom prst="rect">
            <a:avLst/>
          </a:prstGeom>
          <a:noFill/>
        </p:spPr>
        <p:txBody>
          <a:bodyPr wrap="square">
            <a:spAutoFit/>
          </a:bodyPr>
          <a:lstStyle/>
          <a:p>
            <a:pPr algn="ctr"/>
            <a:r>
              <a:rPr sz="1000" b="0">
                <a:solidFill>
                  <a:srgbClr val="CCCCCC"/>
                </a:solidFill>
              </a:rPr>
              <a:t>ruff
mypy</a:t>
            </a:r>
          </a:p>
        </p:txBody>
      </p:sp>
      <p:sp>
        <p:nvSpPr>
          <p:cNvPr id="9" name="Rectangle 8"/>
          <p:cNvSpPr/>
          <p:nvPr/>
        </p:nvSpPr>
        <p:spPr>
          <a:xfrm>
            <a:off x="2562606" y="1920240"/>
            <a:ext cx="2057400" cy="1645920"/>
          </a:xfrm>
          <a:prstGeom prst="chevron">
            <a:avLst/>
          </a:prstGeom>
          <a:solidFill>
            <a:srgbClr val="4EC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99766" y="2084832"/>
            <a:ext cx="1874520" cy="822960"/>
          </a:xfrm>
          <a:prstGeom prst="rect">
            <a:avLst/>
          </a:prstGeom>
          <a:noFill/>
        </p:spPr>
        <p:txBody>
          <a:bodyPr wrap="square">
            <a:spAutoFit/>
          </a:bodyPr>
          <a:lstStyle/>
          <a:p>
            <a:pPr algn="ctr"/>
            <a:r>
              <a:rPr sz="1200" b="1">
                <a:solidFill>
                  <a:srgbClr val="FFFFFF"/>
                </a:solidFill>
              </a:rPr>
              <a:t>python
test</a:t>
            </a:r>
          </a:p>
        </p:txBody>
      </p:sp>
      <p:sp>
        <p:nvSpPr>
          <p:cNvPr id="11" name="TextBox 10"/>
          <p:cNvSpPr txBox="1"/>
          <p:nvPr/>
        </p:nvSpPr>
        <p:spPr>
          <a:xfrm>
            <a:off x="2699766" y="2874873"/>
            <a:ext cx="1874520" cy="625449"/>
          </a:xfrm>
          <a:prstGeom prst="rect">
            <a:avLst/>
          </a:prstGeom>
          <a:noFill/>
        </p:spPr>
        <p:txBody>
          <a:bodyPr wrap="square">
            <a:spAutoFit/>
          </a:bodyPr>
          <a:lstStyle/>
          <a:p>
            <a:pPr algn="ctr"/>
            <a:r>
              <a:rPr sz="1000" b="0">
                <a:solidFill>
                  <a:srgbClr val="CCCCCC"/>
                </a:solidFill>
              </a:rPr>
              <a:t>pytest
92% cov</a:t>
            </a:r>
          </a:p>
        </p:txBody>
      </p:sp>
      <p:sp>
        <p:nvSpPr>
          <p:cNvPr id="12" name="Rectangle 11"/>
          <p:cNvSpPr/>
          <p:nvPr/>
        </p:nvSpPr>
        <p:spPr>
          <a:xfrm>
            <a:off x="4665726" y="1920240"/>
            <a:ext cx="2057400" cy="1645920"/>
          </a:xfrm>
          <a:prstGeom prst="chevron">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02886" y="2084832"/>
            <a:ext cx="1874520" cy="822960"/>
          </a:xfrm>
          <a:prstGeom prst="rect">
            <a:avLst/>
          </a:prstGeom>
          <a:noFill/>
        </p:spPr>
        <p:txBody>
          <a:bodyPr wrap="square">
            <a:spAutoFit/>
          </a:bodyPr>
          <a:lstStyle/>
          <a:p>
            <a:pPr algn="ctr"/>
            <a:r>
              <a:rPr sz="1200" b="1">
                <a:solidFill>
                  <a:srgbClr val="FFFFFF"/>
                </a:solidFill>
              </a:rPr>
              <a:t>security
scan</a:t>
            </a:r>
          </a:p>
        </p:txBody>
      </p:sp>
      <p:sp>
        <p:nvSpPr>
          <p:cNvPr id="14" name="TextBox 13"/>
          <p:cNvSpPr txBox="1"/>
          <p:nvPr/>
        </p:nvSpPr>
        <p:spPr>
          <a:xfrm>
            <a:off x="4802886" y="2874873"/>
            <a:ext cx="1874520" cy="625449"/>
          </a:xfrm>
          <a:prstGeom prst="rect">
            <a:avLst/>
          </a:prstGeom>
          <a:noFill/>
        </p:spPr>
        <p:txBody>
          <a:bodyPr wrap="square">
            <a:spAutoFit/>
          </a:bodyPr>
          <a:lstStyle/>
          <a:p>
            <a:pPr algn="ctr"/>
            <a:r>
              <a:rPr sz="1000" b="0">
                <a:solidFill>
                  <a:srgbClr val="CCCCCC"/>
                </a:solidFill>
              </a:rPr>
              <a:t>pip-audit
gitleaks</a:t>
            </a:r>
          </a:p>
        </p:txBody>
      </p:sp>
      <p:sp>
        <p:nvSpPr>
          <p:cNvPr id="15" name="Rectangle 14"/>
          <p:cNvSpPr/>
          <p:nvPr/>
        </p:nvSpPr>
        <p:spPr>
          <a:xfrm>
            <a:off x="6768846" y="1920240"/>
            <a:ext cx="2057400" cy="1645920"/>
          </a:xfrm>
          <a:prstGeom prst="chevron">
            <a:avLst/>
          </a:prstGeom>
          <a:solidFill>
            <a:srgbClr val="FF5F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06006" y="2084832"/>
            <a:ext cx="1874520" cy="822960"/>
          </a:xfrm>
          <a:prstGeom prst="rect">
            <a:avLst/>
          </a:prstGeom>
          <a:noFill/>
        </p:spPr>
        <p:txBody>
          <a:bodyPr wrap="square">
            <a:spAutoFit/>
          </a:bodyPr>
          <a:lstStyle/>
          <a:p>
            <a:pPr algn="ctr"/>
            <a:r>
              <a:rPr sz="1200" b="1">
                <a:solidFill>
                  <a:srgbClr val="FFFFFF"/>
                </a:solidFill>
              </a:rPr>
              <a:t>terraform
check</a:t>
            </a:r>
          </a:p>
        </p:txBody>
      </p:sp>
      <p:sp>
        <p:nvSpPr>
          <p:cNvPr id="17" name="TextBox 16"/>
          <p:cNvSpPr txBox="1"/>
          <p:nvPr/>
        </p:nvSpPr>
        <p:spPr>
          <a:xfrm>
            <a:off x="6906006" y="2874873"/>
            <a:ext cx="1874520" cy="625449"/>
          </a:xfrm>
          <a:prstGeom prst="rect">
            <a:avLst/>
          </a:prstGeom>
          <a:noFill/>
        </p:spPr>
        <p:txBody>
          <a:bodyPr wrap="square">
            <a:spAutoFit/>
          </a:bodyPr>
          <a:lstStyle/>
          <a:p>
            <a:pPr algn="ctr"/>
            <a:r>
              <a:rPr sz="1000" b="0">
                <a:solidFill>
                  <a:srgbClr val="CCCCCC"/>
                </a:solidFill>
              </a:rPr>
              <a:t>fmt/validate
plan</a:t>
            </a:r>
          </a:p>
        </p:txBody>
      </p:sp>
      <p:sp>
        <p:nvSpPr>
          <p:cNvPr id="18" name="Rectangle 17"/>
          <p:cNvSpPr/>
          <p:nvPr/>
        </p:nvSpPr>
        <p:spPr>
          <a:xfrm>
            <a:off x="8871966" y="1920240"/>
            <a:ext cx="2057400" cy="1645920"/>
          </a:xfrm>
          <a:prstGeom prst="chevron">
            <a:avLst/>
          </a:prstGeom>
          <a:solidFill>
            <a:srgbClr val="BD9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09126" y="2084832"/>
            <a:ext cx="1874520" cy="822960"/>
          </a:xfrm>
          <a:prstGeom prst="rect">
            <a:avLst/>
          </a:prstGeom>
          <a:noFill/>
        </p:spPr>
        <p:txBody>
          <a:bodyPr wrap="square">
            <a:spAutoFit/>
          </a:bodyPr>
          <a:lstStyle/>
          <a:p>
            <a:pPr algn="ctr"/>
            <a:r>
              <a:rPr sz="1200" b="1">
                <a:solidFill>
                  <a:srgbClr val="FFFFFF"/>
                </a:solidFill>
              </a:rPr>
              <a:t>image
ci</a:t>
            </a:r>
          </a:p>
        </p:txBody>
      </p:sp>
      <p:sp>
        <p:nvSpPr>
          <p:cNvPr id="20" name="TextBox 19"/>
          <p:cNvSpPr txBox="1"/>
          <p:nvPr/>
        </p:nvSpPr>
        <p:spPr>
          <a:xfrm>
            <a:off x="9009126" y="2874873"/>
            <a:ext cx="1874520" cy="625449"/>
          </a:xfrm>
          <a:prstGeom prst="rect">
            <a:avLst/>
          </a:prstGeom>
          <a:noFill/>
        </p:spPr>
        <p:txBody>
          <a:bodyPr wrap="square">
            <a:spAutoFit/>
          </a:bodyPr>
          <a:lstStyle/>
          <a:p>
            <a:pPr algn="ctr"/>
            <a:r>
              <a:rPr sz="1000" b="0">
                <a:solidFill>
                  <a:srgbClr val="CCCCCC"/>
                </a:solidFill>
              </a:rPr>
              <a:t>Trivy
CodeQL</a:t>
            </a:r>
          </a:p>
        </p:txBody>
      </p:sp>
      <p:sp>
        <p:nvSpPr>
          <p:cNvPr id="21" name="TextBox 20"/>
          <p:cNvSpPr txBox="1"/>
          <p:nvPr/>
        </p:nvSpPr>
        <p:spPr>
          <a:xfrm>
            <a:off x="-125730" y="2414016"/>
            <a:ext cx="731520" cy="658368"/>
          </a:xfrm>
          <a:prstGeom prst="rect">
            <a:avLst/>
          </a:prstGeom>
          <a:noFill/>
        </p:spPr>
        <p:txBody>
          <a:bodyPr wrap="square">
            <a:spAutoFit/>
          </a:bodyPr>
          <a:lstStyle/>
          <a:p>
            <a:pPr algn="ctr"/>
            <a:r>
              <a:rPr sz="1400" b="1">
                <a:solidFill>
                  <a:srgbClr val="569CD6"/>
                </a:solidFill>
              </a:rPr>
              <a:t>PR</a:t>
            </a:r>
          </a:p>
        </p:txBody>
      </p:sp>
      <p:sp>
        <p:nvSpPr>
          <p:cNvPr id="22" name="TextBox 21"/>
          <p:cNvSpPr txBox="1"/>
          <p:nvPr/>
        </p:nvSpPr>
        <p:spPr>
          <a:xfrm>
            <a:off x="-66294" y="2583942"/>
            <a:ext cx="548640" cy="658368"/>
          </a:xfrm>
          <a:prstGeom prst="rect">
            <a:avLst/>
          </a:prstGeom>
          <a:noFill/>
        </p:spPr>
        <p:txBody>
          <a:bodyPr wrap="square">
            <a:spAutoFit/>
          </a:bodyPr>
          <a:lstStyle/>
          <a:p>
            <a:pPr algn="ctr"/>
            <a:r>
              <a:rPr sz="2200" b="0" dirty="0">
                <a:solidFill>
                  <a:srgbClr val="CCCCCC"/>
                </a:solidFill>
              </a:rPr>
              <a:t>→</a:t>
            </a:r>
          </a:p>
        </p:txBody>
      </p:sp>
      <p:sp>
        <p:nvSpPr>
          <p:cNvPr id="23" name="TextBox 22"/>
          <p:cNvSpPr txBox="1"/>
          <p:nvPr/>
        </p:nvSpPr>
        <p:spPr>
          <a:xfrm>
            <a:off x="10975086" y="2414016"/>
            <a:ext cx="548640" cy="658368"/>
          </a:xfrm>
          <a:prstGeom prst="rect">
            <a:avLst/>
          </a:prstGeom>
          <a:noFill/>
        </p:spPr>
        <p:txBody>
          <a:bodyPr wrap="square">
            <a:spAutoFit/>
          </a:bodyPr>
          <a:lstStyle/>
          <a:p>
            <a:pPr algn="ctr"/>
            <a:r>
              <a:rPr sz="2200" b="0">
                <a:solidFill>
                  <a:srgbClr val="4EC97E"/>
                </a:solidFill>
              </a:rPr>
              <a:t>→</a:t>
            </a:r>
          </a:p>
        </p:txBody>
      </p:sp>
      <p:sp>
        <p:nvSpPr>
          <p:cNvPr id="24" name="TextBox 23"/>
          <p:cNvSpPr txBox="1"/>
          <p:nvPr/>
        </p:nvSpPr>
        <p:spPr>
          <a:xfrm>
            <a:off x="11249406" y="2408301"/>
            <a:ext cx="1097280" cy="987552"/>
          </a:xfrm>
          <a:prstGeom prst="rect">
            <a:avLst/>
          </a:prstGeom>
          <a:noFill/>
        </p:spPr>
        <p:txBody>
          <a:bodyPr wrap="square">
            <a:spAutoFit/>
          </a:bodyPr>
          <a:lstStyle/>
          <a:p>
            <a:pPr algn="ctr"/>
            <a:r>
              <a:rPr sz="1400" b="1" dirty="0">
                <a:solidFill>
                  <a:srgbClr val="4EC97E"/>
                </a:solidFill>
              </a:rPr>
              <a:t>merge
OK</a:t>
            </a:r>
          </a:p>
        </p:txBody>
      </p:sp>
      <p:sp>
        <p:nvSpPr>
          <p:cNvPr id="25" name="Rounded Rectangle 24"/>
          <p:cNvSpPr/>
          <p:nvPr/>
        </p:nvSpPr>
        <p:spPr>
          <a:xfrm>
            <a:off x="459486" y="3840480"/>
            <a:ext cx="2057400" cy="2103120"/>
          </a:xfrm>
          <a:prstGeom prst="roundRect">
            <a:avLst/>
          </a:prstGeom>
          <a:solidFill>
            <a:srgbClr val="252540"/>
          </a:solidFill>
          <a:ln w="12700">
            <a:solidFill>
              <a:srgbClr val="569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9214" y="3931920"/>
            <a:ext cx="1874520" cy="548640"/>
          </a:xfrm>
          <a:prstGeom prst="rect">
            <a:avLst/>
          </a:prstGeom>
          <a:noFill/>
        </p:spPr>
        <p:txBody>
          <a:bodyPr wrap="square">
            <a:spAutoFit/>
          </a:bodyPr>
          <a:lstStyle/>
          <a:p>
            <a:pPr algn="l"/>
            <a:r>
              <a:rPr sz="1100" b="0">
                <a:solidFill>
                  <a:srgbClr val="CCCCCC"/>
                </a:solidFill>
              </a:rPr>
              <a:t>▸ lint + format</a:t>
            </a:r>
          </a:p>
        </p:txBody>
      </p:sp>
      <p:sp>
        <p:nvSpPr>
          <p:cNvPr id="27" name="TextBox 26"/>
          <p:cNvSpPr txBox="1"/>
          <p:nvPr/>
        </p:nvSpPr>
        <p:spPr>
          <a:xfrm>
            <a:off x="569214" y="4544568"/>
            <a:ext cx="1874520" cy="548640"/>
          </a:xfrm>
          <a:prstGeom prst="rect">
            <a:avLst/>
          </a:prstGeom>
          <a:noFill/>
        </p:spPr>
        <p:txBody>
          <a:bodyPr wrap="square">
            <a:spAutoFit/>
          </a:bodyPr>
          <a:lstStyle/>
          <a:p>
            <a:pPr algn="l"/>
            <a:r>
              <a:rPr sz="1100" b="0">
                <a:solidFill>
                  <a:srgbClr val="CCCCCC"/>
                </a:solidFill>
              </a:rPr>
              <a:t>▸ 未使用import検出</a:t>
            </a:r>
          </a:p>
        </p:txBody>
      </p:sp>
      <p:sp>
        <p:nvSpPr>
          <p:cNvPr id="28" name="TextBox 27"/>
          <p:cNvSpPr txBox="1"/>
          <p:nvPr/>
        </p:nvSpPr>
        <p:spPr>
          <a:xfrm>
            <a:off x="569214" y="5157216"/>
            <a:ext cx="1874520" cy="548640"/>
          </a:xfrm>
          <a:prstGeom prst="rect">
            <a:avLst/>
          </a:prstGeom>
          <a:noFill/>
        </p:spPr>
        <p:txBody>
          <a:bodyPr wrap="square">
            <a:spAutoFit/>
          </a:bodyPr>
          <a:lstStyle/>
          <a:p>
            <a:pPr algn="l"/>
            <a:r>
              <a:rPr sz="1100" b="0">
                <a:solidFill>
                  <a:srgbClr val="CCCCCC"/>
                </a:solidFill>
              </a:rPr>
              <a:t>▸ import順チェック</a:t>
            </a:r>
          </a:p>
        </p:txBody>
      </p:sp>
      <p:sp>
        <p:nvSpPr>
          <p:cNvPr id="29" name="Rounded Rectangle 28"/>
          <p:cNvSpPr/>
          <p:nvPr/>
        </p:nvSpPr>
        <p:spPr>
          <a:xfrm>
            <a:off x="2562606" y="3840480"/>
            <a:ext cx="2057400" cy="2103120"/>
          </a:xfrm>
          <a:prstGeom prst="roundRect">
            <a:avLst/>
          </a:prstGeom>
          <a:solidFill>
            <a:srgbClr val="252540"/>
          </a:solidFill>
          <a:ln w="1270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672334" y="3931920"/>
            <a:ext cx="1874520" cy="548640"/>
          </a:xfrm>
          <a:prstGeom prst="rect">
            <a:avLst/>
          </a:prstGeom>
          <a:noFill/>
        </p:spPr>
        <p:txBody>
          <a:bodyPr wrap="square">
            <a:spAutoFit/>
          </a:bodyPr>
          <a:lstStyle/>
          <a:p>
            <a:pPr algn="l"/>
            <a:r>
              <a:rPr sz="1100" b="0">
                <a:solidFill>
                  <a:srgbClr val="CCCCCC"/>
                </a:solidFill>
              </a:rPr>
              <a:t>▸ ユニットテスト</a:t>
            </a:r>
          </a:p>
        </p:txBody>
      </p:sp>
      <p:sp>
        <p:nvSpPr>
          <p:cNvPr id="31" name="TextBox 30"/>
          <p:cNvSpPr txBox="1"/>
          <p:nvPr/>
        </p:nvSpPr>
        <p:spPr>
          <a:xfrm>
            <a:off x="2672334" y="4544568"/>
            <a:ext cx="1874520" cy="548640"/>
          </a:xfrm>
          <a:prstGeom prst="rect">
            <a:avLst/>
          </a:prstGeom>
          <a:noFill/>
        </p:spPr>
        <p:txBody>
          <a:bodyPr wrap="square">
            <a:spAutoFit/>
          </a:bodyPr>
          <a:lstStyle/>
          <a:p>
            <a:pPr algn="l"/>
            <a:r>
              <a:rPr sz="1100" b="0">
                <a:solidFill>
                  <a:srgbClr val="CCCCCC"/>
                </a:solidFill>
              </a:rPr>
              <a:t>▸ カバレッジ 80%閾値</a:t>
            </a:r>
          </a:p>
        </p:txBody>
      </p:sp>
      <p:sp>
        <p:nvSpPr>
          <p:cNvPr id="32" name="TextBox 31"/>
          <p:cNvSpPr txBox="1"/>
          <p:nvPr/>
        </p:nvSpPr>
        <p:spPr>
          <a:xfrm>
            <a:off x="2672334" y="5157216"/>
            <a:ext cx="1874520" cy="548640"/>
          </a:xfrm>
          <a:prstGeom prst="rect">
            <a:avLst/>
          </a:prstGeom>
          <a:noFill/>
        </p:spPr>
        <p:txBody>
          <a:bodyPr wrap="square">
            <a:spAutoFit/>
          </a:bodyPr>
          <a:lstStyle/>
          <a:p>
            <a:pPr algn="l"/>
            <a:r>
              <a:rPr sz="1100" b="0">
                <a:solidFill>
                  <a:srgbClr val="CCCCCC"/>
                </a:solidFill>
              </a:rPr>
              <a:t>▸ 回帰テスト</a:t>
            </a:r>
          </a:p>
        </p:txBody>
      </p:sp>
      <p:sp>
        <p:nvSpPr>
          <p:cNvPr id="33" name="Rounded Rectangle 32"/>
          <p:cNvSpPr/>
          <p:nvPr/>
        </p:nvSpPr>
        <p:spPr>
          <a:xfrm>
            <a:off x="4665726" y="3840480"/>
            <a:ext cx="2057400" cy="2103120"/>
          </a:xfrm>
          <a:prstGeom prst="roundRect">
            <a:avLst/>
          </a:prstGeom>
          <a:solidFill>
            <a:srgbClr val="252540"/>
          </a:solidFill>
          <a:ln w="1270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775454" y="3931920"/>
            <a:ext cx="1874520" cy="548640"/>
          </a:xfrm>
          <a:prstGeom prst="rect">
            <a:avLst/>
          </a:prstGeom>
          <a:noFill/>
        </p:spPr>
        <p:txBody>
          <a:bodyPr wrap="square">
            <a:spAutoFit/>
          </a:bodyPr>
          <a:lstStyle/>
          <a:p>
            <a:pPr algn="l"/>
            <a:r>
              <a:rPr sz="1100" b="0">
                <a:solidFill>
                  <a:srgbClr val="CCCCCC"/>
                </a:solidFill>
              </a:rPr>
              <a:t>▸ 既知脆弱性検出</a:t>
            </a:r>
          </a:p>
        </p:txBody>
      </p:sp>
      <p:sp>
        <p:nvSpPr>
          <p:cNvPr id="35" name="TextBox 34"/>
          <p:cNvSpPr txBox="1"/>
          <p:nvPr/>
        </p:nvSpPr>
        <p:spPr>
          <a:xfrm>
            <a:off x="4775454" y="4544568"/>
            <a:ext cx="1874520" cy="548640"/>
          </a:xfrm>
          <a:prstGeom prst="rect">
            <a:avLst/>
          </a:prstGeom>
          <a:noFill/>
        </p:spPr>
        <p:txBody>
          <a:bodyPr wrap="square">
            <a:spAutoFit/>
          </a:bodyPr>
          <a:lstStyle/>
          <a:p>
            <a:pPr algn="l"/>
            <a:r>
              <a:rPr sz="1100" b="0">
                <a:solidFill>
                  <a:srgbClr val="CCCCCC"/>
                </a:solidFill>
              </a:rPr>
              <a:t>▸ シークレット漏えい</a:t>
            </a:r>
          </a:p>
        </p:txBody>
      </p:sp>
      <p:sp>
        <p:nvSpPr>
          <p:cNvPr id="36" name="TextBox 35"/>
          <p:cNvSpPr txBox="1"/>
          <p:nvPr/>
        </p:nvSpPr>
        <p:spPr>
          <a:xfrm>
            <a:off x="4775454" y="5157216"/>
            <a:ext cx="1874520" cy="548640"/>
          </a:xfrm>
          <a:prstGeom prst="rect">
            <a:avLst/>
          </a:prstGeom>
          <a:noFill/>
        </p:spPr>
        <p:txBody>
          <a:bodyPr wrap="square">
            <a:spAutoFit/>
          </a:bodyPr>
          <a:lstStyle/>
          <a:p>
            <a:pPr algn="l"/>
            <a:r>
              <a:rPr sz="1100" b="0">
                <a:solidFill>
                  <a:srgbClr val="CCCCCC"/>
                </a:solidFill>
              </a:rPr>
              <a:t>▸ IaC設定不備</a:t>
            </a:r>
          </a:p>
        </p:txBody>
      </p:sp>
      <p:sp>
        <p:nvSpPr>
          <p:cNvPr id="37" name="Rounded Rectangle 36"/>
          <p:cNvSpPr/>
          <p:nvPr/>
        </p:nvSpPr>
        <p:spPr>
          <a:xfrm>
            <a:off x="6768846" y="3840480"/>
            <a:ext cx="2057400" cy="2103120"/>
          </a:xfrm>
          <a:prstGeom prst="roundRect">
            <a:avLst/>
          </a:prstGeom>
          <a:solidFill>
            <a:srgbClr val="252540"/>
          </a:solidFill>
          <a:ln w="1270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878574" y="3931920"/>
            <a:ext cx="1874520" cy="548640"/>
          </a:xfrm>
          <a:prstGeom prst="rect">
            <a:avLst/>
          </a:prstGeom>
          <a:noFill/>
        </p:spPr>
        <p:txBody>
          <a:bodyPr wrap="square">
            <a:spAutoFit/>
          </a:bodyPr>
          <a:lstStyle/>
          <a:p>
            <a:pPr algn="l"/>
            <a:r>
              <a:rPr sz="1100" b="0">
                <a:solidFill>
                  <a:srgbClr val="CCCCCC"/>
                </a:solidFill>
              </a:rPr>
              <a:t>▸ 構文チェック</a:t>
            </a:r>
          </a:p>
        </p:txBody>
      </p:sp>
      <p:sp>
        <p:nvSpPr>
          <p:cNvPr id="39" name="TextBox 38"/>
          <p:cNvSpPr txBox="1"/>
          <p:nvPr/>
        </p:nvSpPr>
        <p:spPr>
          <a:xfrm>
            <a:off x="6878574" y="4544568"/>
            <a:ext cx="1874520" cy="548640"/>
          </a:xfrm>
          <a:prstGeom prst="rect">
            <a:avLst/>
          </a:prstGeom>
          <a:noFill/>
        </p:spPr>
        <p:txBody>
          <a:bodyPr wrap="square">
            <a:spAutoFit/>
          </a:bodyPr>
          <a:lstStyle/>
          <a:p>
            <a:pPr algn="l"/>
            <a:r>
              <a:rPr sz="1100" b="0">
                <a:solidFill>
                  <a:srgbClr val="CCCCCC"/>
                </a:solidFill>
              </a:rPr>
              <a:t>▸ 差分確認</a:t>
            </a:r>
          </a:p>
        </p:txBody>
      </p:sp>
      <p:sp>
        <p:nvSpPr>
          <p:cNvPr id="40" name="TextBox 39"/>
          <p:cNvSpPr txBox="1"/>
          <p:nvPr/>
        </p:nvSpPr>
        <p:spPr>
          <a:xfrm>
            <a:off x="6878574" y="5157216"/>
            <a:ext cx="1874520" cy="548640"/>
          </a:xfrm>
          <a:prstGeom prst="rect">
            <a:avLst/>
          </a:prstGeom>
          <a:noFill/>
        </p:spPr>
        <p:txBody>
          <a:bodyPr wrap="square">
            <a:spAutoFit/>
          </a:bodyPr>
          <a:lstStyle/>
          <a:p>
            <a:pPr algn="l"/>
            <a:r>
              <a:rPr sz="1100" b="0">
                <a:solidFill>
                  <a:srgbClr val="CCCCCC"/>
                </a:solidFill>
              </a:rPr>
              <a:t>▸ セキュリティ設定</a:t>
            </a:r>
          </a:p>
        </p:txBody>
      </p:sp>
      <p:sp>
        <p:nvSpPr>
          <p:cNvPr id="41" name="Rounded Rectangle 40"/>
          <p:cNvSpPr/>
          <p:nvPr/>
        </p:nvSpPr>
        <p:spPr>
          <a:xfrm>
            <a:off x="8871966" y="3840480"/>
            <a:ext cx="2057400" cy="2103120"/>
          </a:xfrm>
          <a:prstGeom prst="roundRect">
            <a:avLst/>
          </a:prstGeom>
          <a:solidFill>
            <a:srgbClr val="252540"/>
          </a:solidFill>
          <a:ln w="127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981694" y="3931920"/>
            <a:ext cx="1874520" cy="548640"/>
          </a:xfrm>
          <a:prstGeom prst="rect">
            <a:avLst/>
          </a:prstGeom>
          <a:noFill/>
        </p:spPr>
        <p:txBody>
          <a:bodyPr wrap="square">
            <a:spAutoFit/>
          </a:bodyPr>
          <a:lstStyle/>
          <a:p>
            <a:pPr algn="l"/>
            <a:r>
              <a:rPr sz="1100" b="0">
                <a:solidFill>
                  <a:srgbClr val="CCCCCC"/>
                </a:solidFill>
              </a:rPr>
              <a:t>▸ FSスキャン</a:t>
            </a:r>
          </a:p>
        </p:txBody>
      </p:sp>
      <p:sp>
        <p:nvSpPr>
          <p:cNvPr id="43" name="TextBox 42"/>
          <p:cNvSpPr txBox="1"/>
          <p:nvPr/>
        </p:nvSpPr>
        <p:spPr>
          <a:xfrm>
            <a:off x="8981694" y="4544568"/>
            <a:ext cx="1874520" cy="548640"/>
          </a:xfrm>
          <a:prstGeom prst="rect">
            <a:avLst/>
          </a:prstGeom>
          <a:noFill/>
        </p:spPr>
        <p:txBody>
          <a:bodyPr wrap="square">
            <a:spAutoFit/>
          </a:bodyPr>
          <a:lstStyle/>
          <a:p>
            <a:pPr algn="l"/>
            <a:r>
              <a:rPr sz="1100" b="0">
                <a:solidFill>
                  <a:srgbClr val="CCCCCC"/>
                </a:solidFill>
              </a:rPr>
              <a:t>▸ imageスキャン</a:t>
            </a:r>
          </a:p>
        </p:txBody>
      </p:sp>
      <p:sp>
        <p:nvSpPr>
          <p:cNvPr id="44" name="TextBox 43"/>
          <p:cNvSpPr txBox="1"/>
          <p:nvPr/>
        </p:nvSpPr>
        <p:spPr>
          <a:xfrm>
            <a:off x="8981694" y="5157216"/>
            <a:ext cx="1874520" cy="548640"/>
          </a:xfrm>
          <a:prstGeom prst="rect">
            <a:avLst/>
          </a:prstGeom>
          <a:noFill/>
        </p:spPr>
        <p:txBody>
          <a:bodyPr wrap="square">
            <a:spAutoFit/>
          </a:bodyPr>
          <a:lstStyle/>
          <a:p>
            <a:pPr algn="l"/>
            <a:r>
              <a:rPr sz="1100" b="0">
                <a:solidFill>
                  <a:srgbClr val="CCCCCC"/>
                </a:solidFill>
              </a:rPr>
              <a:t>▸ コード静的解析</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a:extLst>
            <a:ext uri="{FF2B5EF4-FFF2-40B4-BE49-F238E27FC236}">
              <a16:creationId xmlns:a16="http://schemas.microsoft.com/office/drawing/2014/main" id="{143F4CF4-BB9B-07C8-CC98-AE5A476066D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EFE658B-29D4-31F9-F92C-72E59FACC061}"/>
              </a:ext>
            </a:extLst>
          </p:cNvPr>
          <p:cNvSpPr/>
          <p:nvPr/>
        </p:nvSpPr>
        <p:spPr>
          <a:xfrm>
            <a:off x="0" y="0"/>
            <a:ext cx="12188952" cy="73152"/>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2B272F7A-0C5F-DBB0-DF0D-8B5BCB19518E}"/>
              </a:ext>
            </a:extLst>
          </p:cNvPr>
          <p:cNvSpPr txBox="1"/>
          <p:nvPr/>
        </p:nvSpPr>
        <p:spPr>
          <a:xfrm>
            <a:off x="457200" y="137160"/>
            <a:ext cx="10972800" cy="640080"/>
          </a:xfrm>
          <a:prstGeom prst="rect">
            <a:avLst/>
          </a:prstGeom>
          <a:noFill/>
        </p:spPr>
        <p:txBody>
          <a:bodyPr wrap="square">
            <a:spAutoFit/>
          </a:bodyPr>
          <a:lstStyle/>
          <a:p>
            <a:pPr algn="l"/>
            <a:r>
              <a:rPr sz="2800" b="1" dirty="0">
                <a:solidFill>
                  <a:srgbClr val="FFFFFF"/>
                </a:solidFill>
              </a:rPr>
              <a:t>Docker &amp; </a:t>
            </a:r>
            <a:r>
              <a:rPr sz="2800" b="1" dirty="0" err="1">
                <a:solidFill>
                  <a:srgbClr val="FFFFFF"/>
                </a:solidFill>
              </a:rPr>
              <a:t>コンテナセキュリティ</a:t>
            </a:r>
            <a:endParaRPr sz="2800" b="1" dirty="0">
              <a:solidFill>
                <a:srgbClr val="FFFFFF"/>
              </a:solidFill>
            </a:endParaRPr>
          </a:p>
        </p:txBody>
      </p:sp>
      <p:sp>
        <p:nvSpPr>
          <p:cNvPr id="4" name="TextBox 3">
            <a:extLst>
              <a:ext uri="{FF2B5EF4-FFF2-40B4-BE49-F238E27FC236}">
                <a16:creationId xmlns:a16="http://schemas.microsoft.com/office/drawing/2014/main" id="{E3066D3A-2D7C-DFED-0923-CAD4D1B3A755}"/>
              </a:ext>
            </a:extLst>
          </p:cNvPr>
          <p:cNvSpPr txBox="1"/>
          <p:nvPr/>
        </p:nvSpPr>
        <p:spPr>
          <a:xfrm>
            <a:off x="457200" y="731520"/>
            <a:ext cx="10972800" cy="365760"/>
          </a:xfrm>
          <a:prstGeom prst="rect">
            <a:avLst/>
          </a:prstGeom>
          <a:noFill/>
        </p:spPr>
        <p:txBody>
          <a:bodyPr wrap="square">
            <a:spAutoFit/>
          </a:bodyPr>
          <a:lstStyle/>
          <a:p>
            <a:pPr algn="l"/>
            <a:r>
              <a:rPr sz="1400" b="0">
                <a:solidFill>
                  <a:srgbClr val="589DE8"/>
                </a:solidFill>
              </a:rPr>
              <a:t>マルチステージビルド + セキュリティベストプラクティス</a:t>
            </a:r>
          </a:p>
        </p:txBody>
      </p:sp>
      <p:sp>
        <p:nvSpPr>
          <p:cNvPr id="5" name="Rectangle 4">
            <a:extLst>
              <a:ext uri="{FF2B5EF4-FFF2-40B4-BE49-F238E27FC236}">
                <a16:creationId xmlns:a16="http://schemas.microsoft.com/office/drawing/2014/main" id="{97C2C184-7B63-760F-A551-8E50D0B71A6F}"/>
              </a:ext>
            </a:extLst>
          </p:cNvPr>
          <p:cNvSpPr/>
          <p:nvPr/>
        </p:nvSpPr>
        <p:spPr>
          <a:xfrm>
            <a:off x="0" y="6675120"/>
            <a:ext cx="12188952" cy="18288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B3A10980-67CB-AA9E-BED1-7122775D39CE}"/>
              </a:ext>
            </a:extLst>
          </p:cNvPr>
          <p:cNvSpPr/>
          <p:nvPr/>
        </p:nvSpPr>
        <p:spPr>
          <a:xfrm>
            <a:off x="274320" y="1234440"/>
            <a:ext cx="5669280" cy="5303520"/>
          </a:xfrm>
          <a:prstGeom prst="rect">
            <a:avLst/>
          </a:prstGeom>
          <a:solidFill>
            <a:srgbClr val="1A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A7D6F1A7-DDF3-0541-AE4A-1490F45060D2}"/>
              </a:ext>
            </a:extLst>
          </p:cNvPr>
          <p:cNvSpPr txBox="1"/>
          <p:nvPr/>
        </p:nvSpPr>
        <p:spPr>
          <a:xfrm>
            <a:off x="411480" y="1325880"/>
            <a:ext cx="5394960" cy="5120640"/>
          </a:xfrm>
          <a:prstGeom prst="rect">
            <a:avLst/>
          </a:prstGeom>
          <a:noFill/>
        </p:spPr>
        <p:txBody>
          <a:bodyPr wrap="square">
            <a:spAutoFit/>
          </a:bodyPr>
          <a:lstStyle/>
          <a:p>
            <a:pPr algn="l"/>
            <a:r>
              <a:rPr sz="1100" b="0">
                <a:solidFill>
                  <a:srgbClr val="4EC97E"/>
                </a:solidFill>
              </a:rPr>
              <a:t># Stage 1: ビルド
FROM python:3.14-slim AS builder
COPY requirements.txt .
RUN pip install --no-cache-dir \
    -r requirements.txt
# Stage 2: 本番イメージ
FROM python:3.14-slim AS runtime
# 非rootユーザー作成
RUN groupadd -g 1001 appgroup &amp;&amp; \
    useradd -u 1001 -g appgroup appuser
COPY --from=builder /app /app
USER appuser
# ヘルスチェック
HEALTHCHECK --interval=30s \
  --timeout=10s \
  CMD curl -f http://localhost:5000/health</a:t>
            </a:r>
          </a:p>
        </p:txBody>
      </p:sp>
      <p:sp>
        <p:nvSpPr>
          <p:cNvPr id="8" name="Rectangle 7">
            <a:extLst>
              <a:ext uri="{FF2B5EF4-FFF2-40B4-BE49-F238E27FC236}">
                <a16:creationId xmlns:a16="http://schemas.microsoft.com/office/drawing/2014/main" id="{6BE50D73-07A5-E130-DFA9-F3C027DB99E6}"/>
              </a:ext>
            </a:extLst>
          </p:cNvPr>
          <p:cNvSpPr/>
          <p:nvPr/>
        </p:nvSpPr>
        <p:spPr>
          <a:xfrm>
            <a:off x="6217920" y="1234440"/>
            <a:ext cx="5486400" cy="1188720"/>
          </a:xfrm>
          <a:prstGeom prst="rect">
            <a:avLst/>
          </a:prstGeom>
          <a:solidFill>
            <a:srgbClr val="2D2D44"/>
          </a:solidFill>
          <a:ln w="19050">
            <a:solidFill>
              <a:srgbClr val="589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117CCBEF-36F0-748A-0F34-F57E6F66FCB1}"/>
              </a:ext>
            </a:extLst>
          </p:cNvPr>
          <p:cNvSpPr txBox="1"/>
          <p:nvPr/>
        </p:nvSpPr>
        <p:spPr>
          <a:xfrm>
            <a:off x="6355080" y="1280160"/>
            <a:ext cx="5212080" cy="365760"/>
          </a:xfrm>
          <a:prstGeom prst="rect">
            <a:avLst/>
          </a:prstGeom>
          <a:noFill/>
        </p:spPr>
        <p:txBody>
          <a:bodyPr wrap="square">
            <a:spAutoFit/>
          </a:bodyPr>
          <a:lstStyle/>
          <a:p>
            <a:pPr algn="l"/>
            <a:r>
              <a:rPr sz="1300" b="1">
                <a:solidFill>
                  <a:srgbClr val="589DE8"/>
                </a:solidFill>
              </a:rPr>
              <a:t>マルチステージビルド</a:t>
            </a:r>
          </a:p>
        </p:txBody>
      </p:sp>
      <p:sp>
        <p:nvSpPr>
          <p:cNvPr id="10" name="TextBox 9">
            <a:extLst>
              <a:ext uri="{FF2B5EF4-FFF2-40B4-BE49-F238E27FC236}">
                <a16:creationId xmlns:a16="http://schemas.microsoft.com/office/drawing/2014/main" id="{CEABBC4E-2B82-405C-5A63-2EC3231D01BD}"/>
              </a:ext>
            </a:extLst>
          </p:cNvPr>
          <p:cNvSpPr txBox="1"/>
          <p:nvPr/>
        </p:nvSpPr>
        <p:spPr>
          <a:xfrm>
            <a:off x="6355080" y="1645920"/>
            <a:ext cx="5212080" cy="731520"/>
          </a:xfrm>
          <a:prstGeom prst="rect">
            <a:avLst/>
          </a:prstGeom>
          <a:noFill/>
        </p:spPr>
        <p:txBody>
          <a:bodyPr wrap="square">
            <a:spAutoFit/>
          </a:bodyPr>
          <a:lstStyle/>
          <a:p>
            <a:pPr algn="l"/>
            <a:r>
              <a:rPr sz="1200" b="0">
                <a:solidFill>
                  <a:srgbClr val="CCCCCC"/>
                </a:solidFill>
              </a:rPr>
              <a:t>ビルド時の依存関係を
本番イメージに含めない
→ イメージサイズ削減</a:t>
            </a:r>
          </a:p>
        </p:txBody>
      </p:sp>
      <p:sp>
        <p:nvSpPr>
          <p:cNvPr id="11" name="Rectangle 10">
            <a:extLst>
              <a:ext uri="{FF2B5EF4-FFF2-40B4-BE49-F238E27FC236}">
                <a16:creationId xmlns:a16="http://schemas.microsoft.com/office/drawing/2014/main" id="{05891981-1859-BFAC-B78E-295948773824}"/>
              </a:ext>
            </a:extLst>
          </p:cNvPr>
          <p:cNvSpPr/>
          <p:nvPr/>
        </p:nvSpPr>
        <p:spPr>
          <a:xfrm>
            <a:off x="6217920" y="2514600"/>
            <a:ext cx="5486400" cy="1188720"/>
          </a:xfrm>
          <a:prstGeom prst="rect">
            <a:avLst/>
          </a:prstGeom>
          <a:solidFill>
            <a:srgbClr val="2D2D44"/>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BAA0B1D4-A0DA-A0CF-3EC6-631CE125B928}"/>
              </a:ext>
            </a:extLst>
          </p:cNvPr>
          <p:cNvSpPr txBox="1"/>
          <p:nvPr/>
        </p:nvSpPr>
        <p:spPr>
          <a:xfrm>
            <a:off x="6355080" y="2560320"/>
            <a:ext cx="5212080" cy="365760"/>
          </a:xfrm>
          <a:prstGeom prst="rect">
            <a:avLst/>
          </a:prstGeom>
          <a:noFill/>
        </p:spPr>
        <p:txBody>
          <a:bodyPr wrap="square">
            <a:spAutoFit/>
          </a:bodyPr>
          <a:lstStyle/>
          <a:p>
            <a:pPr algn="l"/>
            <a:r>
              <a:rPr sz="1300" b="1">
                <a:solidFill>
                  <a:srgbClr val="FF9900"/>
                </a:solidFill>
              </a:rPr>
              <a:t>python:3.14-slim 採用</a:t>
            </a:r>
          </a:p>
        </p:txBody>
      </p:sp>
      <p:sp>
        <p:nvSpPr>
          <p:cNvPr id="13" name="TextBox 12">
            <a:extLst>
              <a:ext uri="{FF2B5EF4-FFF2-40B4-BE49-F238E27FC236}">
                <a16:creationId xmlns:a16="http://schemas.microsoft.com/office/drawing/2014/main" id="{978E770C-7E44-A7D2-96AF-13A902D4DF76}"/>
              </a:ext>
            </a:extLst>
          </p:cNvPr>
          <p:cNvSpPr txBox="1"/>
          <p:nvPr/>
        </p:nvSpPr>
        <p:spPr>
          <a:xfrm>
            <a:off x="6355080" y="2926080"/>
            <a:ext cx="5212080" cy="731520"/>
          </a:xfrm>
          <a:prstGeom prst="rect">
            <a:avLst/>
          </a:prstGeom>
          <a:noFill/>
        </p:spPr>
        <p:txBody>
          <a:bodyPr wrap="square">
            <a:spAutoFit/>
          </a:bodyPr>
          <a:lstStyle/>
          <a:p>
            <a:pPr algn="l"/>
            <a:r>
              <a:rPr sz="1200" b="0">
                <a:solidFill>
                  <a:srgbClr val="CCCCCC"/>
                </a:solidFill>
              </a:rPr>
              <a:t>3.12より長いサポート期間
Debianパッケージの
セキュリティ修正が充実</a:t>
            </a:r>
          </a:p>
        </p:txBody>
      </p:sp>
      <p:sp>
        <p:nvSpPr>
          <p:cNvPr id="14" name="Rectangle 13">
            <a:extLst>
              <a:ext uri="{FF2B5EF4-FFF2-40B4-BE49-F238E27FC236}">
                <a16:creationId xmlns:a16="http://schemas.microsoft.com/office/drawing/2014/main" id="{799E7E41-475B-6199-014D-FAA5F6A17067}"/>
              </a:ext>
            </a:extLst>
          </p:cNvPr>
          <p:cNvSpPr/>
          <p:nvPr/>
        </p:nvSpPr>
        <p:spPr>
          <a:xfrm>
            <a:off x="6217920" y="3794760"/>
            <a:ext cx="5486400" cy="1188720"/>
          </a:xfrm>
          <a:prstGeom prst="rect">
            <a:avLst/>
          </a:prstGeom>
          <a:solidFill>
            <a:srgbClr val="2D2D44"/>
          </a:solidFill>
          <a:ln w="1905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30CF6EA0-0AE5-1799-D55A-AB4C6A3BAF81}"/>
              </a:ext>
            </a:extLst>
          </p:cNvPr>
          <p:cNvSpPr txBox="1"/>
          <p:nvPr/>
        </p:nvSpPr>
        <p:spPr>
          <a:xfrm>
            <a:off x="6355080" y="3840480"/>
            <a:ext cx="5212080" cy="365760"/>
          </a:xfrm>
          <a:prstGeom prst="rect">
            <a:avLst/>
          </a:prstGeom>
          <a:noFill/>
        </p:spPr>
        <p:txBody>
          <a:bodyPr wrap="square">
            <a:spAutoFit/>
          </a:bodyPr>
          <a:lstStyle/>
          <a:p>
            <a:pPr algn="l"/>
            <a:r>
              <a:rPr sz="1300" b="1">
                <a:solidFill>
                  <a:srgbClr val="FF5F57"/>
                </a:solidFill>
              </a:rPr>
              <a:t>非rootユーザー実行</a:t>
            </a:r>
          </a:p>
        </p:txBody>
      </p:sp>
      <p:sp>
        <p:nvSpPr>
          <p:cNvPr id="16" name="TextBox 15">
            <a:extLst>
              <a:ext uri="{FF2B5EF4-FFF2-40B4-BE49-F238E27FC236}">
                <a16:creationId xmlns:a16="http://schemas.microsoft.com/office/drawing/2014/main" id="{5488FC23-6930-9597-1CD5-B33958ED5EBA}"/>
              </a:ext>
            </a:extLst>
          </p:cNvPr>
          <p:cNvSpPr txBox="1"/>
          <p:nvPr/>
        </p:nvSpPr>
        <p:spPr>
          <a:xfrm>
            <a:off x="6355080" y="4206240"/>
            <a:ext cx="5212080" cy="731520"/>
          </a:xfrm>
          <a:prstGeom prst="rect">
            <a:avLst/>
          </a:prstGeom>
          <a:noFill/>
        </p:spPr>
        <p:txBody>
          <a:bodyPr wrap="square">
            <a:spAutoFit/>
          </a:bodyPr>
          <a:lstStyle/>
          <a:p>
            <a:pPr algn="l"/>
            <a:r>
              <a:rPr sz="1200" b="0">
                <a:solidFill>
                  <a:srgbClr val="CCCCCC"/>
                </a:solidFill>
              </a:rPr>
              <a:t>UID/GIDを明示 (1001)
権限昇格攻撃の
リスクを低減</a:t>
            </a:r>
          </a:p>
        </p:txBody>
      </p:sp>
      <p:sp>
        <p:nvSpPr>
          <p:cNvPr id="17" name="Rectangle 16">
            <a:extLst>
              <a:ext uri="{FF2B5EF4-FFF2-40B4-BE49-F238E27FC236}">
                <a16:creationId xmlns:a16="http://schemas.microsoft.com/office/drawing/2014/main" id="{9E527C14-EA88-340D-0CE7-FF9C8E199D55}"/>
              </a:ext>
            </a:extLst>
          </p:cNvPr>
          <p:cNvSpPr/>
          <p:nvPr/>
        </p:nvSpPr>
        <p:spPr>
          <a:xfrm>
            <a:off x="6217920" y="5074920"/>
            <a:ext cx="5486400" cy="1188720"/>
          </a:xfrm>
          <a:prstGeom prst="rect">
            <a:avLst/>
          </a:prstGeom>
          <a:solidFill>
            <a:srgbClr val="2D2D44"/>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99D2AE61-6A13-2800-F37A-6AB9AA223E28}"/>
              </a:ext>
            </a:extLst>
          </p:cNvPr>
          <p:cNvSpPr txBox="1"/>
          <p:nvPr/>
        </p:nvSpPr>
        <p:spPr>
          <a:xfrm>
            <a:off x="6355080" y="5120640"/>
            <a:ext cx="5212080" cy="365760"/>
          </a:xfrm>
          <a:prstGeom prst="rect">
            <a:avLst/>
          </a:prstGeom>
          <a:noFill/>
        </p:spPr>
        <p:txBody>
          <a:bodyPr wrap="square">
            <a:spAutoFit/>
          </a:bodyPr>
          <a:lstStyle/>
          <a:p>
            <a:pPr algn="l"/>
            <a:r>
              <a:rPr sz="1300" b="1">
                <a:solidFill>
                  <a:srgbClr val="4EC97E"/>
                </a:solidFill>
              </a:rPr>
              <a:t>ヘルスチェック実装</a:t>
            </a:r>
          </a:p>
        </p:txBody>
      </p:sp>
      <p:sp>
        <p:nvSpPr>
          <p:cNvPr id="19" name="TextBox 18">
            <a:extLst>
              <a:ext uri="{FF2B5EF4-FFF2-40B4-BE49-F238E27FC236}">
                <a16:creationId xmlns:a16="http://schemas.microsoft.com/office/drawing/2014/main" id="{9C2891CF-BC73-1327-CDEE-0D77E2EA8FB9}"/>
              </a:ext>
            </a:extLst>
          </p:cNvPr>
          <p:cNvSpPr txBox="1"/>
          <p:nvPr/>
        </p:nvSpPr>
        <p:spPr>
          <a:xfrm>
            <a:off x="6355080" y="5486400"/>
            <a:ext cx="5212080" cy="731520"/>
          </a:xfrm>
          <a:prstGeom prst="rect">
            <a:avLst/>
          </a:prstGeom>
          <a:noFill/>
        </p:spPr>
        <p:txBody>
          <a:bodyPr wrap="square">
            <a:spAutoFit/>
          </a:bodyPr>
          <a:lstStyle/>
          <a:p>
            <a:pPr algn="l"/>
            <a:r>
              <a:rPr sz="1200" b="0">
                <a:solidFill>
                  <a:srgbClr val="CCCCCC"/>
                </a:solidFill>
              </a:rPr>
              <a:t>ECSがコンテナの
正常性を自動判断
異常時は自動再起動</a:t>
            </a:r>
          </a:p>
        </p:txBody>
      </p:sp>
    </p:spTree>
    <p:extLst>
      <p:ext uri="{BB962C8B-B14F-4D97-AF65-F5344CB8AC3E}">
        <p14:creationId xmlns:p14="http://schemas.microsoft.com/office/powerpoint/2010/main" val="951858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r>
              <a:rPr sz="2800" b="1">
                <a:solidFill>
                  <a:srgbClr val="FFFFFF"/>
                </a:solidFill>
              </a:rPr>
              <a:t>Docker &amp; コンテナセキュリティ</a:t>
            </a:r>
          </a:p>
        </p:txBody>
      </p:sp>
      <p:sp>
        <p:nvSpPr>
          <p:cNvPr id="4" name="TextBox 3"/>
          <p:cNvSpPr txBox="1"/>
          <p:nvPr/>
        </p:nvSpPr>
        <p:spPr>
          <a:xfrm>
            <a:off x="457200" y="731520"/>
            <a:ext cx="10972800" cy="365760"/>
          </a:xfrm>
          <a:prstGeom prst="rect">
            <a:avLst/>
          </a:prstGeom>
          <a:noFill/>
        </p:spPr>
        <p:txBody>
          <a:bodyPr wrap="square">
            <a:spAutoFit/>
          </a:bodyPr>
          <a:lstStyle/>
          <a:p>
            <a:pPr algn="l"/>
            <a:r>
              <a:rPr sz="1400" b="0">
                <a:solidFill>
                  <a:srgbClr val="589DE8"/>
                </a:solidFill>
              </a:rPr>
              <a:t>マルチステージビルド + セキュリティベストプラクティス</a:t>
            </a:r>
          </a:p>
        </p:txBody>
      </p:sp>
      <p:sp>
        <p:nvSpPr>
          <p:cNvPr id="5" name="Rectangle 4"/>
          <p:cNvSpPr/>
          <p:nvPr/>
        </p:nvSpPr>
        <p:spPr>
          <a:xfrm>
            <a:off x="0" y="6675120"/>
            <a:ext cx="12188952" cy="18288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234440"/>
            <a:ext cx="5669280" cy="5303520"/>
          </a:xfrm>
          <a:prstGeom prst="rect">
            <a:avLst/>
          </a:prstGeom>
          <a:solidFill>
            <a:srgbClr val="1A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1325880"/>
            <a:ext cx="5394960" cy="5120640"/>
          </a:xfrm>
          <a:prstGeom prst="rect">
            <a:avLst/>
          </a:prstGeom>
          <a:noFill/>
        </p:spPr>
        <p:txBody>
          <a:bodyPr wrap="square">
            <a:spAutoFit/>
          </a:bodyPr>
          <a:lstStyle/>
          <a:p>
            <a:pPr algn="l"/>
            <a:r>
              <a:rPr sz="1100" b="0">
                <a:solidFill>
                  <a:srgbClr val="4EC97E"/>
                </a:solidFill>
              </a:rPr>
              <a:t># Stage 1: ビルド
FROM python:3.14-slim AS builder
COPY requirements.txt .
RUN pip install --no-cache-dir \
    -r requirements.txt
# Stage 2: 本番イメージ
FROM python:3.14-slim AS runtime
# 非rootユーザー作成
RUN groupadd -g 1001 appgroup &amp;&amp; \
    useradd -u 1001 -g appgroup appuser
COPY --from=builder /app /app
USER appuser
# ヘルスチェック
HEALTHCHECK --interval=30s \
  --timeout=10s \
  CMD curl -f http://localhost:5000/health</a:t>
            </a:r>
          </a:p>
        </p:txBody>
      </p:sp>
      <p:sp>
        <p:nvSpPr>
          <p:cNvPr id="8" name="Rectangle 7"/>
          <p:cNvSpPr/>
          <p:nvPr/>
        </p:nvSpPr>
        <p:spPr>
          <a:xfrm>
            <a:off x="6217920" y="1234440"/>
            <a:ext cx="5486400" cy="1188720"/>
          </a:xfrm>
          <a:prstGeom prst="rect">
            <a:avLst/>
          </a:prstGeom>
          <a:solidFill>
            <a:srgbClr val="2D2D44"/>
          </a:solidFill>
          <a:ln w="19050">
            <a:solidFill>
              <a:srgbClr val="589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55080" y="1280160"/>
            <a:ext cx="5212080" cy="365760"/>
          </a:xfrm>
          <a:prstGeom prst="rect">
            <a:avLst/>
          </a:prstGeom>
          <a:noFill/>
        </p:spPr>
        <p:txBody>
          <a:bodyPr wrap="square">
            <a:spAutoFit/>
          </a:bodyPr>
          <a:lstStyle/>
          <a:p>
            <a:pPr algn="l"/>
            <a:r>
              <a:rPr sz="1300" b="1">
                <a:solidFill>
                  <a:srgbClr val="589DE8"/>
                </a:solidFill>
              </a:rPr>
              <a:t>マルチステージビルド</a:t>
            </a:r>
          </a:p>
        </p:txBody>
      </p:sp>
      <p:sp>
        <p:nvSpPr>
          <p:cNvPr id="10" name="TextBox 9"/>
          <p:cNvSpPr txBox="1"/>
          <p:nvPr/>
        </p:nvSpPr>
        <p:spPr>
          <a:xfrm>
            <a:off x="6355080" y="1645920"/>
            <a:ext cx="5212080" cy="731520"/>
          </a:xfrm>
          <a:prstGeom prst="rect">
            <a:avLst/>
          </a:prstGeom>
          <a:noFill/>
        </p:spPr>
        <p:txBody>
          <a:bodyPr wrap="square">
            <a:spAutoFit/>
          </a:bodyPr>
          <a:lstStyle/>
          <a:p>
            <a:pPr algn="l"/>
            <a:r>
              <a:rPr sz="1200" b="0">
                <a:solidFill>
                  <a:srgbClr val="CCCCCC"/>
                </a:solidFill>
              </a:rPr>
              <a:t>ビルド時の依存関係を
本番イメージに含めない
→ イメージサイズ削減</a:t>
            </a:r>
          </a:p>
        </p:txBody>
      </p:sp>
      <p:sp>
        <p:nvSpPr>
          <p:cNvPr id="11" name="Rectangle 10"/>
          <p:cNvSpPr/>
          <p:nvPr/>
        </p:nvSpPr>
        <p:spPr>
          <a:xfrm>
            <a:off x="6217920" y="2514600"/>
            <a:ext cx="5486400" cy="1188720"/>
          </a:xfrm>
          <a:prstGeom prst="rect">
            <a:avLst/>
          </a:prstGeom>
          <a:solidFill>
            <a:srgbClr val="2D2D44"/>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55080" y="2560320"/>
            <a:ext cx="5212080" cy="365760"/>
          </a:xfrm>
          <a:prstGeom prst="rect">
            <a:avLst/>
          </a:prstGeom>
          <a:noFill/>
        </p:spPr>
        <p:txBody>
          <a:bodyPr wrap="square">
            <a:spAutoFit/>
          </a:bodyPr>
          <a:lstStyle/>
          <a:p>
            <a:pPr algn="l"/>
            <a:r>
              <a:rPr sz="1300" b="1">
                <a:solidFill>
                  <a:srgbClr val="FF9900"/>
                </a:solidFill>
              </a:rPr>
              <a:t>python:3.14-slim 採用</a:t>
            </a:r>
          </a:p>
        </p:txBody>
      </p:sp>
      <p:sp>
        <p:nvSpPr>
          <p:cNvPr id="13" name="TextBox 12"/>
          <p:cNvSpPr txBox="1"/>
          <p:nvPr/>
        </p:nvSpPr>
        <p:spPr>
          <a:xfrm>
            <a:off x="6355080" y="2926080"/>
            <a:ext cx="5212080" cy="731520"/>
          </a:xfrm>
          <a:prstGeom prst="rect">
            <a:avLst/>
          </a:prstGeom>
          <a:noFill/>
        </p:spPr>
        <p:txBody>
          <a:bodyPr wrap="square">
            <a:spAutoFit/>
          </a:bodyPr>
          <a:lstStyle/>
          <a:p>
            <a:pPr algn="l"/>
            <a:r>
              <a:rPr sz="1200" b="0">
                <a:solidFill>
                  <a:srgbClr val="CCCCCC"/>
                </a:solidFill>
              </a:rPr>
              <a:t>3.12より長いサポート期間
Debianパッケージの
セキュリティ修正が充実</a:t>
            </a:r>
          </a:p>
        </p:txBody>
      </p:sp>
      <p:sp>
        <p:nvSpPr>
          <p:cNvPr id="14" name="Rectangle 13"/>
          <p:cNvSpPr/>
          <p:nvPr/>
        </p:nvSpPr>
        <p:spPr>
          <a:xfrm>
            <a:off x="6217920" y="3794760"/>
            <a:ext cx="5486400" cy="1188720"/>
          </a:xfrm>
          <a:prstGeom prst="rect">
            <a:avLst/>
          </a:prstGeom>
          <a:solidFill>
            <a:srgbClr val="2D2D44"/>
          </a:solidFill>
          <a:ln w="1905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55080" y="3840480"/>
            <a:ext cx="5212080" cy="365760"/>
          </a:xfrm>
          <a:prstGeom prst="rect">
            <a:avLst/>
          </a:prstGeom>
          <a:noFill/>
        </p:spPr>
        <p:txBody>
          <a:bodyPr wrap="square">
            <a:spAutoFit/>
          </a:bodyPr>
          <a:lstStyle/>
          <a:p>
            <a:pPr algn="l"/>
            <a:r>
              <a:rPr sz="1300" b="1">
                <a:solidFill>
                  <a:srgbClr val="FF5F57"/>
                </a:solidFill>
              </a:rPr>
              <a:t>非rootユーザー実行</a:t>
            </a:r>
          </a:p>
        </p:txBody>
      </p:sp>
      <p:sp>
        <p:nvSpPr>
          <p:cNvPr id="16" name="TextBox 15"/>
          <p:cNvSpPr txBox="1"/>
          <p:nvPr/>
        </p:nvSpPr>
        <p:spPr>
          <a:xfrm>
            <a:off x="6355080" y="4206240"/>
            <a:ext cx="5212080" cy="731520"/>
          </a:xfrm>
          <a:prstGeom prst="rect">
            <a:avLst/>
          </a:prstGeom>
          <a:noFill/>
        </p:spPr>
        <p:txBody>
          <a:bodyPr wrap="square">
            <a:spAutoFit/>
          </a:bodyPr>
          <a:lstStyle/>
          <a:p>
            <a:pPr algn="l"/>
            <a:r>
              <a:rPr sz="1200" b="0">
                <a:solidFill>
                  <a:srgbClr val="CCCCCC"/>
                </a:solidFill>
              </a:rPr>
              <a:t>UID/GIDを明示 (1001)
権限昇格攻撃の
リスクを低減</a:t>
            </a:r>
          </a:p>
        </p:txBody>
      </p:sp>
      <p:sp>
        <p:nvSpPr>
          <p:cNvPr id="17" name="Rectangle 16"/>
          <p:cNvSpPr/>
          <p:nvPr/>
        </p:nvSpPr>
        <p:spPr>
          <a:xfrm>
            <a:off x="6217920" y="5074920"/>
            <a:ext cx="5486400" cy="1188720"/>
          </a:xfrm>
          <a:prstGeom prst="rect">
            <a:avLst/>
          </a:prstGeom>
          <a:solidFill>
            <a:srgbClr val="2D2D44"/>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55080" y="5120640"/>
            <a:ext cx="5212080" cy="365760"/>
          </a:xfrm>
          <a:prstGeom prst="rect">
            <a:avLst/>
          </a:prstGeom>
          <a:noFill/>
        </p:spPr>
        <p:txBody>
          <a:bodyPr wrap="square">
            <a:spAutoFit/>
          </a:bodyPr>
          <a:lstStyle/>
          <a:p>
            <a:pPr algn="l"/>
            <a:r>
              <a:rPr sz="1300" b="1">
                <a:solidFill>
                  <a:srgbClr val="4EC97E"/>
                </a:solidFill>
              </a:rPr>
              <a:t>ヘルスチェック実装</a:t>
            </a:r>
          </a:p>
        </p:txBody>
      </p:sp>
      <p:sp>
        <p:nvSpPr>
          <p:cNvPr id="19" name="TextBox 18"/>
          <p:cNvSpPr txBox="1"/>
          <p:nvPr/>
        </p:nvSpPr>
        <p:spPr>
          <a:xfrm>
            <a:off x="6355080" y="5486400"/>
            <a:ext cx="5212080" cy="731520"/>
          </a:xfrm>
          <a:prstGeom prst="rect">
            <a:avLst/>
          </a:prstGeom>
          <a:noFill/>
        </p:spPr>
        <p:txBody>
          <a:bodyPr wrap="square">
            <a:spAutoFit/>
          </a:bodyPr>
          <a:lstStyle/>
          <a:p>
            <a:pPr algn="l"/>
            <a:r>
              <a:rPr sz="1200" b="0">
                <a:solidFill>
                  <a:srgbClr val="CCCCCC"/>
                </a:solidFill>
              </a:rPr>
              <a:t>ECSがコンテナの
正常性を自動判断
異常時は自動再起動</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621792"/>
          </a:xfrm>
          <a:prstGeom prst="rect">
            <a:avLst/>
          </a:prstGeom>
          <a:noFill/>
        </p:spPr>
        <p:txBody>
          <a:bodyPr wrap="square">
            <a:spAutoFit/>
          </a:bodyPr>
          <a:lstStyle/>
          <a:p>
            <a:pPr algn="l"/>
            <a:r>
              <a:rPr sz="2800" b="1">
                <a:solidFill>
                  <a:srgbClr val="FFFFFF"/>
                </a:solidFill>
              </a:rPr>
              <a:t>Image CI/CD パイプライン</a:t>
            </a:r>
          </a:p>
        </p:txBody>
      </p:sp>
      <p:sp>
        <p:nvSpPr>
          <p:cNvPr id="4" name="TextBox 3"/>
          <p:cNvSpPr txBox="1"/>
          <p:nvPr/>
        </p:nvSpPr>
        <p:spPr>
          <a:xfrm>
            <a:off x="457200" y="694944"/>
            <a:ext cx="10972800" cy="365760"/>
          </a:xfrm>
          <a:prstGeom prst="rect">
            <a:avLst/>
          </a:prstGeom>
          <a:noFill/>
        </p:spPr>
        <p:txBody>
          <a:bodyPr wrap="square">
            <a:spAutoFit/>
          </a:bodyPr>
          <a:lstStyle/>
          <a:p>
            <a:pPr algn="l"/>
            <a:r>
              <a:rPr sz="1400" b="0">
                <a:solidFill>
                  <a:srgbClr val="569CD6"/>
                </a:solidFill>
              </a:rPr>
              <a:t>ビルド → スキャン → プッシュ → デプロイ</a:t>
            </a:r>
          </a:p>
        </p:txBody>
      </p:sp>
      <p:sp>
        <p:nvSpPr>
          <p:cNvPr id="5" name="Rectangle 4"/>
          <p:cNvSpPr/>
          <p:nvPr/>
        </p:nvSpPr>
        <p:spPr>
          <a:xfrm>
            <a:off x="0" y="6656832"/>
            <a:ext cx="12188952" cy="201168"/>
          </a:xfrm>
          <a:prstGeom prst="rect">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82879" y="1234440"/>
            <a:ext cx="4074795" cy="3166872"/>
          </a:xfrm>
          <a:prstGeom prst="roundRect">
            <a:avLst/>
          </a:prstGeom>
          <a:solidFill>
            <a:srgbClr val="2D2D48"/>
          </a:solidFill>
          <a:ln w="12700">
            <a:solidFill>
              <a:srgbClr val="888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18488" y="1367028"/>
            <a:ext cx="3291840" cy="347472"/>
          </a:xfrm>
          <a:prstGeom prst="rect">
            <a:avLst/>
          </a:prstGeom>
          <a:noFill/>
        </p:spPr>
        <p:txBody>
          <a:bodyPr wrap="square">
            <a:spAutoFit/>
          </a:bodyPr>
          <a:lstStyle/>
          <a:p>
            <a:pPr algn="l"/>
            <a:r>
              <a:rPr sz="1100" b="1" dirty="0">
                <a:solidFill>
                  <a:srgbClr val="8888AA"/>
                </a:solidFill>
              </a:rPr>
              <a:t>CI (</a:t>
            </a:r>
            <a:r>
              <a:rPr sz="1100" b="1" dirty="0" err="1">
                <a:solidFill>
                  <a:srgbClr val="8888AA"/>
                </a:solidFill>
              </a:rPr>
              <a:t>PR時</a:t>
            </a:r>
            <a:r>
              <a:rPr sz="1100" b="1" dirty="0">
                <a:solidFill>
                  <a:srgbClr val="8888AA"/>
                </a:solidFill>
              </a:rPr>
              <a:t>)</a:t>
            </a:r>
          </a:p>
        </p:txBody>
      </p:sp>
      <p:sp>
        <p:nvSpPr>
          <p:cNvPr id="8" name="Rounded Rectangle 7"/>
          <p:cNvSpPr/>
          <p:nvPr/>
        </p:nvSpPr>
        <p:spPr>
          <a:xfrm>
            <a:off x="5648325" y="1115568"/>
            <a:ext cx="5617083" cy="3151632"/>
          </a:xfrm>
          <a:prstGeom prst="roundRect">
            <a:avLst/>
          </a:prstGeom>
          <a:solidFill>
            <a:srgbClr val="2D2D48"/>
          </a:solidFill>
          <a:ln w="12700">
            <a:solidFill>
              <a:srgbClr val="888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37144" y="1257940"/>
            <a:ext cx="1684021" cy="261610"/>
          </a:xfrm>
          <a:prstGeom prst="rect">
            <a:avLst/>
          </a:prstGeom>
          <a:noFill/>
        </p:spPr>
        <p:txBody>
          <a:bodyPr wrap="square">
            <a:spAutoFit/>
          </a:bodyPr>
          <a:lstStyle/>
          <a:p>
            <a:pPr algn="l"/>
            <a:r>
              <a:rPr sz="1100" b="1" dirty="0">
                <a:solidFill>
                  <a:srgbClr val="8888AA"/>
                </a:solidFill>
              </a:rPr>
              <a:t>CD (</a:t>
            </a:r>
            <a:r>
              <a:rPr sz="1100" b="1" dirty="0" err="1">
                <a:solidFill>
                  <a:srgbClr val="8888AA"/>
                </a:solidFill>
              </a:rPr>
              <a:t>mainマージ時</a:t>
            </a:r>
            <a:r>
              <a:rPr sz="1100" b="1" dirty="0">
                <a:solidFill>
                  <a:srgbClr val="8888AA"/>
                </a:solidFill>
              </a:rPr>
              <a:t>)</a:t>
            </a:r>
          </a:p>
        </p:txBody>
      </p:sp>
      <p:sp>
        <p:nvSpPr>
          <p:cNvPr id="10" name="Rounded Rectangle 9"/>
          <p:cNvSpPr/>
          <p:nvPr/>
        </p:nvSpPr>
        <p:spPr>
          <a:xfrm>
            <a:off x="320040" y="2011680"/>
            <a:ext cx="841248" cy="1828800"/>
          </a:xfrm>
          <a:prstGeom prst="roundRect">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2103120"/>
            <a:ext cx="841248" cy="777240"/>
          </a:xfrm>
          <a:prstGeom prst="rect">
            <a:avLst/>
          </a:prstGeom>
          <a:noFill/>
        </p:spPr>
        <p:txBody>
          <a:bodyPr wrap="square">
            <a:spAutoFit/>
          </a:bodyPr>
          <a:lstStyle/>
          <a:p>
            <a:pPr algn="ctr"/>
            <a:r>
              <a:rPr sz="1300" b="1">
                <a:solidFill>
                  <a:srgbClr val="FFFFFF"/>
                </a:solidFill>
              </a:rPr>
              <a:t>docker
build</a:t>
            </a:r>
          </a:p>
        </p:txBody>
      </p:sp>
      <p:sp>
        <p:nvSpPr>
          <p:cNvPr id="12" name="TextBox 11"/>
          <p:cNvSpPr txBox="1"/>
          <p:nvPr/>
        </p:nvSpPr>
        <p:spPr>
          <a:xfrm>
            <a:off x="320040" y="2880360"/>
            <a:ext cx="841248" cy="868680"/>
          </a:xfrm>
          <a:prstGeom prst="rect">
            <a:avLst/>
          </a:prstGeom>
          <a:noFill/>
        </p:spPr>
        <p:txBody>
          <a:bodyPr wrap="square">
            <a:spAutoFit/>
          </a:bodyPr>
          <a:lstStyle/>
          <a:p>
            <a:pPr algn="ctr"/>
            <a:r>
              <a:rPr sz="1000" b="0">
                <a:solidFill>
                  <a:srgbClr val="CCCCCC"/>
                </a:solidFill>
              </a:rPr>
              <a:t>マルチステージ
ビルド実行</a:t>
            </a:r>
          </a:p>
        </p:txBody>
      </p:sp>
      <p:sp>
        <p:nvSpPr>
          <p:cNvPr id="13" name="TextBox 12"/>
          <p:cNvSpPr txBox="1"/>
          <p:nvPr/>
        </p:nvSpPr>
        <p:spPr>
          <a:xfrm>
            <a:off x="1161288" y="2743200"/>
            <a:ext cx="457200" cy="502920"/>
          </a:xfrm>
          <a:prstGeom prst="rect">
            <a:avLst/>
          </a:prstGeom>
          <a:noFill/>
        </p:spPr>
        <p:txBody>
          <a:bodyPr wrap="square">
            <a:spAutoFit/>
          </a:bodyPr>
          <a:lstStyle/>
          <a:p>
            <a:pPr algn="ctr"/>
            <a:r>
              <a:rPr sz="1800" b="0">
                <a:solidFill>
                  <a:srgbClr val="CCCCCC"/>
                </a:solidFill>
              </a:rPr>
              <a:t>→</a:t>
            </a:r>
          </a:p>
        </p:txBody>
      </p:sp>
      <p:sp>
        <p:nvSpPr>
          <p:cNvPr id="14" name="Rounded Rectangle 13"/>
          <p:cNvSpPr/>
          <p:nvPr/>
        </p:nvSpPr>
        <p:spPr>
          <a:xfrm>
            <a:off x="1280160" y="2011680"/>
            <a:ext cx="841248" cy="1828800"/>
          </a:xfrm>
          <a:prstGeom prst="roundRect">
            <a:avLst/>
          </a:prstGeom>
          <a:solidFill>
            <a:srgbClr val="FF5F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80160" y="2103120"/>
            <a:ext cx="841248" cy="777240"/>
          </a:xfrm>
          <a:prstGeom prst="rect">
            <a:avLst/>
          </a:prstGeom>
          <a:noFill/>
        </p:spPr>
        <p:txBody>
          <a:bodyPr wrap="square">
            <a:spAutoFit/>
          </a:bodyPr>
          <a:lstStyle/>
          <a:p>
            <a:pPr algn="ctr"/>
            <a:r>
              <a:rPr sz="1300" b="1">
                <a:solidFill>
                  <a:srgbClr val="FFFFFF"/>
                </a:solidFill>
              </a:rPr>
              <a:t>Trivy FS
scan</a:t>
            </a:r>
          </a:p>
        </p:txBody>
      </p:sp>
      <p:sp>
        <p:nvSpPr>
          <p:cNvPr id="16" name="TextBox 15"/>
          <p:cNvSpPr txBox="1"/>
          <p:nvPr/>
        </p:nvSpPr>
        <p:spPr>
          <a:xfrm>
            <a:off x="1280160" y="2880360"/>
            <a:ext cx="841248" cy="868680"/>
          </a:xfrm>
          <a:prstGeom prst="rect">
            <a:avLst/>
          </a:prstGeom>
          <a:noFill/>
        </p:spPr>
        <p:txBody>
          <a:bodyPr wrap="square">
            <a:spAutoFit/>
          </a:bodyPr>
          <a:lstStyle/>
          <a:p>
            <a:pPr algn="ctr"/>
            <a:r>
              <a:rPr sz="1000" b="0">
                <a:solidFill>
                  <a:srgbClr val="CCCCCC"/>
                </a:solidFill>
              </a:rPr>
              <a:t>requirements.txt
依存関係チェック</a:t>
            </a:r>
          </a:p>
        </p:txBody>
      </p:sp>
      <p:sp>
        <p:nvSpPr>
          <p:cNvPr id="17" name="Rounded Rectangle 16"/>
          <p:cNvSpPr/>
          <p:nvPr/>
        </p:nvSpPr>
        <p:spPr>
          <a:xfrm>
            <a:off x="1371600" y="3566160"/>
            <a:ext cx="658368" cy="22860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71600" y="3547872"/>
            <a:ext cx="658368" cy="256032"/>
          </a:xfrm>
          <a:prstGeom prst="rect">
            <a:avLst/>
          </a:prstGeom>
          <a:noFill/>
        </p:spPr>
        <p:txBody>
          <a:bodyPr wrap="square">
            <a:spAutoFit/>
          </a:bodyPr>
          <a:lstStyle/>
          <a:p>
            <a:pPr algn="ctr"/>
            <a:r>
              <a:rPr sz="800" b="1">
                <a:solidFill>
                  <a:srgbClr val="FF5F57"/>
                </a:solidFill>
              </a:rPr>
              <a:t>Layer 2</a:t>
            </a:r>
          </a:p>
        </p:txBody>
      </p:sp>
      <p:sp>
        <p:nvSpPr>
          <p:cNvPr id="19" name="TextBox 18"/>
          <p:cNvSpPr txBox="1"/>
          <p:nvPr/>
        </p:nvSpPr>
        <p:spPr>
          <a:xfrm>
            <a:off x="2121408" y="2743200"/>
            <a:ext cx="457200" cy="502920"/>
          </a:xfrm>
          <a:prstGeom prst="rect">
            <a:avLst/>
          </a:prstGeom>
          <a:noFill/>
        </p:spPr>
        <p:txBody>
          <a:bodyPr wrap="square">
            <a:spAutoFit/>
          </a:bodyPr>
          <a:lstStyle/>
          <a:p>
            <a:pPr algn="ctr"/>
            <a:r>
              <a:rPr sz="1800" b="0">
                <a:solidFill>
                  <a:srgbClr val="CCCCCC"/>
                </a:solidFill>
              </a:rPr>
              <a:t>→</a:t>
            </a:r>
          </a:p>
        </p:txBody>
      </p:sp>
      <p:sp>
        <p:nvSpPr>
          <p:cNvPr id="20" name="Rounded Rectangle 19"/>
          <p:cNvSpPr/>
          <p:nvPr/>
        </p:nvSpPr>
        <p:spPr>
          <a:xfrm>
            <a:off x="2240280" y="2011680"/>
            <a:ext cx="841248" cy="1828800"/>
          </a:xfrm>
          <a:prstGeom prst="roundRect">
            <a:avLst/>
          </a:prstGeom>
          <a:solidFill>
            <a:srgbClr val="FF5F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40280" y="2103120"/>
            <a:ext cx="841248" cy="777240"/>
          </a:xfrm>
          <a:prstGeom prst="rect">
            <a:avLst/>
          </a:prstGeom>
          <a:noFill/>
        </p:spPr>
        <p:txBody>
          <a:bodyPr wrap="square">
            <a:spAutoFit/>
          </a:bodyPr>
          <a:lstStyle/>
          <a:p>
            <a:pPr algn="ctr"/>
            <a:r>
              <a:rPr sz="1300" b="1">
                <a:solidFill>
                  <a:srgbClr val="FFFFFF"/>
                </a:solidFill>
              </a:rPr>
              <a:t>Trivy
image scan</a:t>
            </a:r>
          </a:p>
        </p:txBody>
      </p:sp>
      <p:sp>
        <p:nvSpPr>
          <p:cNvPr id="22" name="TextBox 21"/>
          <p:cNvSpPr txBox="1"/>
          <p:nvPr/>
        </p:nvSpPr>
        <p:spPr>
          <a:xfrm>
            <a:off x="2240280" y="2880360"/>
            <a:ext cx="841248" cy="868680"/>
          </a:xfrm>
          <a:prstGeom prst="rect">
            <a:avLst/>
          </a:prstGeom>
          <a:noFill/>
        </p:spPr>
        <p:txBody>
          <a:bodyPr wrap="square">
            <a:spAutoFit/>
          </a:bodyPr>
          <a:lstStyle/>
          <a:p>
            <a:pPr algn="ctr"/>
            <a:r>
              <a:rPr sz="1000" b="0">
                <a:solidFill>
                  <a:srgbClr val="CCCCCC"/>
                </a:solidFill>
              </a:rPr>
              <a:t>OSパッケージ
脆弱性検出</a:t>
            </a:r>
          </a:p>
        </p:txBody>
      </p:sp>
      <p:sp>
        <p:nvSpPr>
          <p:cNvPr id="23" name="Rounded Rectangle 22"/>
          <p:cNvSpPr/>
          <p:nvPr/>
        </p:nvSpPr>
        <p:spPr>
          <a:xfrm>
            <a:off x="2331720" y="3566160"/>
            <a:ext cx="658368" cy="22860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331720" y="3547872"/>
            <a:ext cx="658368" cy="256032"/>
          </a:xfrm>
          <a:prstGeom prst="rect">
            <a:avLst/>
          </a:prstGeom>
          <a:noFill/>
        </p:spPr>
        <p:txBody>
          <a:bodyPr wrap="square">
            <a:spAutoFit/>
          </a:bodyPr>
          <a:lstStyle/>
          <a:p>
            <a:pPr algn="ctr"/>
            <a:r>
              <a:rPr sz="800" b="1">
                <a:solidFill>
                  <a:srgbClr val="FF5F57"/>
                </a:solidFill>
              </a:rPr>
              <a:t>Layer 3</a:t>
            </a:r>
          </a:p>
        </p:txBody>
      </p:sp>
      <p:sp>
        <p:nvSpPr>
          <p:cNvPr id="25" name="TextBox 24"/>
          <p:cNvSpPr txBox="1"/>
          <p:nvPr/>
        </p:nvSpPr>
        <p:spPr>
          <a:xfrm>
            <a:off x="3081528" y="2743200"/>
            <a:ext cx="457200" cy="502920"/>
          </a:xfrm>
          <a:prstGeom prst="rect">
            <a:avLst/>
          </a:prstGeom>
          <a:noFill/>
        </p:spPr>
        <p:txBody>
          <a:bodyPr wrap="square">
            <a:spAutoFit/>
          </a:bodyPr>
          <a:lstStyle/>
          <a:p>
            <a:pPr algn="ctr"/>
            <a:r>
              <a:rPr sz="1800" b="0">
                <a:solidFill>
                  <a:srgbClr val="CCCCCC"/>
                </a:solidFill>
              </a:rPr>
              <a:t>→</a:t>
            </a:r>
          </a:p>
        </p:txBody>
      </p:sp>
      <p:sp>
        <p:nvSpPr>
          <p:cNvPr id="26" name="Rounded Rectangle 25"/>
          <p:cNvSpPr/>
          <p:nvPr/>
        </p:nvSpPr>
        <p:spPr>
          <a:xfrm>
            <a:off x="3200400" y="2011680"/>
            <a:ext cx="841248" cy="1828800"/>
          </a:xfrm>
          <a:prstGeom prst="roundRect">
            <a:avLst/>
          </a:prstGeom>
          <a:solidFill>
            <a:srgbClr val="BD9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00400" y="2103120"/>
            <a:ext cx="841248" cy="777240"/>
          </a:xfrm>
          <a:prstGeom prst="rect">
            <a:avLst/>
          </a:prstGeom>
          <a:noFill/>
        </p:spPr>
        <p:txBody>
          <a:bodyPr wrap="square">
            <a:spAutoFit/>
          </a:bodyPr>
          <a:lstStyle/>
          <a:p>
            <a:pPr algn="ctr"/>
            <a:r>
              <a:rPr sz="1300" b="1">
                <a:solidFill>
                  <a:srgbClr val="FFFFFF"/>
                </a:solidFill>
              </a:rPr>
              <a:t>CodeQL
SAST</a:t>
            </a:r>
          </a:p>
        </p:txBody>
      </p:sp>
      <p:sp>
        <p:nvSpPr>
          <p:cNvPr id="28" name="TextBox 27"/>
          <p:cNvSpPr txBox="1"/>
          <p:nvPr/>
        </p:nvSpPr>
        <p:spPr>
          <a:xfrm>
            <a:off x="3200400" y="2880360"/>
            <a:ext cx="841248" cy="868680"/>
          </a:xfrm>
          <a:prstGeom prst="rect">
            <a:avLst/>
          </a:prstGeom>
          <a:noFill/>
        </p:spPr>
        <p:txBody>
          <a:bodyPr wrap="square">
            <a:spAutoFit/>
          </a:bodyPr>
          <a:lstStyle/>
          <a:p>
            <a:pPr algn="ctr"/>
            <a:r>
              <a:rPr sz="1000" b="0">
                <a:solidFill>
                  <a:srgbClr val="CCCCCC"/>
                </a:solidFill>
              </a:rPr>
              <a:t>Pythonコード
静的解析</a:t>
            </a:r>
          </a:p>
        </p:txBody>
      </p:sp>
      <p:sp>
        <p:nvSpPr>
          <p:cNvPr id="29" name="Rounded Rectangle 28"/>
          <p:cNvSpPr/>
          <p:nvPr/>
        </p:nvSpPr>
        <p:spPr>
          <a:xfrm>
            <a:off x="3291840" y="3566160"/>
            <a:ext cx="658368" cy="22860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91840" y="3547872"/>
            <a:ext cx="658368" cy="256032"/>
          </a:xfrm>
          <a:prstGeom prst="rect">
            <a:avLst/>
          </a:prstGeom>
          <a:noFill/>
        </p:spPr>
        <p:txBody>
          <a:bodyPr wrap="square">
            <a:spAutoFit/>
          </a:bodyPr>
          <a:lstStyle/>
          <a:p>
            <a:pPr algn="ctr"/>
            <a:r>
              <a:rPr sz="800" b="1">
                <a:solidFill>
                  <a:srgbClr val="BD93F9"/>
                </a:solidFill>
              </a:rPr>
              <a:t>Layer 4</a:t>
            </a:r>
          </a:p>
        </p:txBody>
      </p:sp>
      <p:sp>
        <p:nvSpPr>
          <p:cNvPr id="32" name="Rounded Rectangle 31"/>
          <p:cNvSpPr/>
          <p:nvPr/>
        </p:nvSpPr>
        <p:spPr>
          <a:xfrm>
            <a:off x="7581900" y="2011680"/>
            <a:ext cx="841248" cy="182880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581900" y="2103120"/>
            <a:ext cx="841248" cy="777240"/>
          </a:xfrm>
          <a:prstGeom prst="rect">
            <a:avLst/>
          </a:prstGeom>
          <a:noFill/>
        </p:spPr>
        <p:txBody>
          <a:bodyPr wrap="square">
            <a:spAutoFit/>
          </a:bodyPr>
          <a:lstStyle/>
          <a:p>
            <a:pPr algn="ctr"/>
            <a:r>
              <a:rPr sz="1300" b="1">
                <a:solidFill>
                  <a:srgbClr val="FFFFFF"/>
                </a:solidFill>
              </a:rPr>
              <a:t>ECR
push</a:t>
            </a:r>
          </a:p>
        </p:txBody>
      </p:sp>
      <p:sp>
        <p:nvSpPr>
          <p:cNvPr id="34" name="TextBox 33"/>
          <p:cNvSpPr txBox="1"/>
          <p:nvPr/>
        </p:nvSpPr>
        <p:spPr>
          <a:xfrm>
            <a:off x="7581900" y="2880360"/>
            <a:ext cx="841248" cy="868680"/>
          </a:xfrm>
          <a:prstGeom prst="rect">
            <a:avLst/>
          </a:prstGeom>
          <a:noFill/>
        </p:spPr>
        <p:txBody>
          <a:bodyPr wrap="square">
            <a:spAutoFit/>
          </a:bodyPr>
          <a:lstStyle/>
          <a:p>
            <a:pPr algn="ctr"/>
            <a:r>
              <a:rPr sz="1000" b="0">
                <a:solidFill>
                  <a:srgbClr val="CCCCCC"/>
                </a:solidFill>
              </a:rPr>
              <a:t>github.sha
ユニークタグ</a:t>
            </a:r>
          </a:p>
        </p:txBody>
      </p:sp>
      <p:sp>
        <p:nvSpPr>
          <p:cNvPr id="35" name="TextBox 34"/>
          <p:cNvSpPr txBox="1"/>
          <p:nvPr/>
        </p:nvSpPr>
        <p:spPr>
          <a:xfrm>
            <a:off x="8423148" y="2743200"/>
            <a:ext cx="457200" cy="502920"/>
          </a:xfrm>
          <a:prstGeom prst="rect">
            <a:avLst/>
          </a:prstGeom>
          <a:noFill/>
        </p:spPr>
        <p:txBody>
          <a:bodyPr wrap="square">
            <a:spAutoFit/>
          </a:bodyPr>
          <a:lstStyle/>
          <a:p>
            <a:pPr algn="ctr"/>
            <a:r>
              <a:rPr sz="1800" b="0">
                <a:solidFill>
                  <a:srgbClr val="CCCCCC"/>
                </a:solidFill>
              </a:rPr>
              <a:t>→</a:t>
            </a:r>
          </a:p>
        </p:txBody>
      </p:sp>
      <p:sp>
        <p:nvSpPr>
          <p:cNvPr id="36" name="Rounded Rectangle 35"/>
          <p:cNvSpPr/>
          <p:nvPr/>
        </p:nvSpPr>
        <p:spPr>
          <a:xfrm>
            <a:off x="8542020" y="2011680"/>
            <a:ext cx="841248" cy="1828800"/>
          </a:xfrm>
          <a:prstGeom prst="roundRect">
            <a:avLst/>
          </a:prstGeom>
          <a:solidFill>
            <a:srgbClr val="4EC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542020" y="2103120"/>
            <a:ext cx="841248" cy="777240"/>
          </a:xfrm>
          <a:prstGeom prst="rect">
            <a:avLst/>
          </a:prstGeom>
          <a:noFill/>
        </p:spPr>
        <p:txBody>
          <a:bodyPr wrap="square">
            <a:spAutoFit/>
          </a:bodyPr>
          <a:lstStyle/>
          <a:p>
            <a:pPr algn="ctr"/>
            <a:r>
              <a:rPr sz="1300" b="1">
                <a:solidFill>
                  <a:srgbClr val="FFFFFF"/>
                </a:solidFill>
              </a:rPr>
              <a:t>ECS
deploy</a:t>
            </a:r>
          </a:p>
        </p:txBody>
      </p:sp>
      <p:sp>
        <p:nvSpPr>
          <p:cNvPr id="38" name="TextBox 37"/>
          <p:cNvSpPr txBox="1"/>
          <p:nvPr/>
        </p:nvSpPr>
        <p:spPr>
          <a:xfrm>
            <a:off x="8542020" y="2880360"/>
            <a:ext cx="841248" cy="868680"/>
          </a:xfrm>
          <a:prstGeom prst="rect">
            <a:avLst/>
          </a:prstGeom>
          <a:noFill/>
        </p:spPr>
        <p:txBody>
          <a:bodyPr wrap="square">
            <a:spAutoFit/>
          </a:bodyPr>
          <a:lstStyle/>
          <a:p>
            <a:pPr algn="ctr"/>
            <a:r>
              <a:rPr sz="1000" b="0">
                <a:solidFill>
                  <a:srgbClr val="CCCCCC"/>
                </a:solidFill>
              </a:rPr>
              <a:t>Fargate
サービス更新</a:t>
            </a:r>
          </a:p>
        </p:txBody>
      </p:sp>
      <p:sp>
        <p:nvSpPr>
          <p:cNvPr id="39" name="Rounded Rectangle 38"/>
          <p:cNvSpPr/>
          <p:nvPr/>
        </p:nvSpPr>
        <p:spPr>
          <a:xfrm>
            <a:off x="3454082" y="4456176"/>
            <a:ext cx="4491228" cy="2011680"/>
          </a:xfrm>
          <a:prstGeom prst="roundRect">
            <a:avLst/>
          </a:prstGeom>
          <a:solidFill>
            <a:srgbClr val="252540"/>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802380" y="4538472"/>
            <a:ext cx="5486400" cy="365760"/>
          </a:xfrm>
          <a:prstGeom prst="rect">
            <a:avLst/>
          </a:prstGeom>
          <a:noFill/>
        </p:spPr>
        <p:txBody>
          <a:bodyPr wrap="square">
            <a:spAutoFit/>
          </a:bodyPr>
          <a:lstStyle/>
          <a:p>
            <a:pPr algn="l"/>
            <a:r>
              <a:rPr sz="1300" b="1">
                <a:solidFill>
                  <a:srgbClr val="FF9900"/>
                </a:solidFill>
              </a:rPr>
              <a:t>ECR 設計のポイント</a:t>
            </a:r>
          </a:p>
        </p:txBody>
      </p:sp>
      <p:sp>
        <p:nvSpPr>
          <p:cNvPr id="41" name="TextBox 40"/>
          <p:cNvSpPr txBox="1"/>
          <p:nvPr/>
        </p:nvSpPr>
        <p:spPr>
          <a:xfrm>
            <a:off x="3802380" y="4940808"/>
            <a:ext cx="5760720" cy="347472"/>
          </a:xfrm>
          <a:prstGeom prst="rect">
            <a:avLst/>
          </a:prstGeom>
          <a:noFill/>
        </p:spPr>
        <p:txBody>
          <a:bodyPr wrap="square">
            <a:spAutoFit/>
          </a:bodyPr>
          <a:lstStyle/>
          <a:p>
            <a:pPr algn="l"/>
            <a:r>
              <a:rPr sz="1100" b="0">
                <a:solidFill>
                  <a:srgbClr val="CCCCCC"/>
                </a:solidFill>
              </a:rPr>
              <a:t>✓ イミュータブルタグ : 同じタグへの上書きを禁止</a:t>
            </a:r>
          </a:p>
        </p:txBody>
      </p:sp>
      <p:sp>
        <p:nvSpPr>
          <p:cNvPr id="42" name="TextBox 41"/>
          <p:cNvSpPr txBox="1"/>
          <p:nvPr/>
        </p:nvSpPr>
        <p:spPr>
          <a:xfrm>
            <a:off x="3802380" y="5306568"/>
            <a:ext cx="5760720" cy="347472"/>
          </a:xfrm>
          <a:prstGeom prst="rect">
            <a:avLst/>
          </a:prstGeom>
          <a:noFill/>
        </p:spPr>
        <p:txBody>
          <a:bodyPr wrap="square">
            <a:spAutoFit/>
          </a:bodyPr>
          <a:lstStyle/>
          <a:p>
            <a:pPr algn="l"/>
            <a:r>
              <a:rPr sz="1100" b="0">
                <a:solidFill>
                  <a:srgbClr val="CCCCCC"/>
                </a:solidFill>
              </a:rPr>
              <a:t>✓ github.sha タグ  : 各コミットのイメージを一意に識別・追跡</a:t>
            </a:r>
          </a:p>
        </p:txBody>
      </p:sp>
      <p:sp>
        <p:nvSpPr>
          <p:cNvPr id="43" name="TextBox 42"/>
          <p:cNvSpPr txBox="1"/>
          <p:nvPr/>
        </p:nvSpPr>
        <p:spPr>
          <a:xfrm>
            <a:off x="3802380" y="5672328"/>
            <a:ext cx="5760720" cy="347472"/>
          </a:xfrm>
          <a:prstGeom prst="rect">
            <a:avLst/>
          </a:prstGeom>
          <a:noFill/>
        </p:spPr>
        <p:txBody>
          <a:bodyPr wrap="square">
            <a:spAutoFit/>
          </a:bodyPr>
          <a:lstStyle/>
          <a:p>
            <a:pPr algn="l"/>
            <a:r>
              <a:rPr sz="1100" b="0">
                <a:solidFill>
                  <a:srgbClr val="CCCCCC"/>
                </a:solidFill>
              </a:rPr>
              <a:t>✓ プッシュ時スキャン : ECR自身でも脆弱性スキャンを実行</a:t>
            </a:r>
          </a:p>
        </p:txBody>
      </p:sp>
      <p:sp>
        <p:nvSpPr>
          <p:cNvPr id="44" name="TextBox 43"/>
          <p:cNvSpPr txBox="1"/>
          <p:nvPr/>
        </p:nvSpPr>
        <p:spPr>
          <a:xfrm>
            <a:off x="3802380" y="6038088"/>
            <a:ext cx="5760720" cy="347472"/>
          </a:xfrm>
          <a:prstGeom prst="rect">
            <a:avLst/>
          </a:prstGeom>
          <a:noFill/>
        </p:spPr>
        <p:txBody>
          <a:bodyPr wrap="square">
            <a:spAutoFit/>
          </a:bodyPr>
          <a:lstStyle/>
          <a:p>
            <a:pPr algn="l"/>
            <a:r>
              <a:rPr sz="1100" b="0">
                <a:solidFill>
                  <a:srgbClr val="CCCCCC"/>
                </a:solidFill>
              </a:rPr>
              <a:t>✓ ライフサイクル     : 古いイメージを自動削除</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r>
              <a:rPr sz="2800" b="1">
                <a:solidFill>
                  <a:srgbClr val="FFFFFF"/>
                </a:solidFill>
              </a:rPr>
              <a:t>AWS 認証設計: OIDC</a:t>
            </a:r>
          </a:p>
        </p:txBody>
      </p:sp>
      <p:sp>
        <p:nvSpPr>
          <p:cNvPr id="4" name="TextBox 3"/>
          <p:cNvSpPr txBox="1"/>
          <p:nvPr/>
        </p:nvSpPr>
        <p:spPr>
          <a:xfrm>
            <a:off x="457200" y="731520"/>
            <a:ext cx="10972800" cy="365760"/>
          </a:xfrm>
          <a:prstGeom prst="rect">
            <a:avLst/>
          </a:prstGeom>
          <a:solidFill>
            <a:schemeClr val="tx2">
              <a:lumMod val="50000"/>
            </a:schemeClr>
          </a:solidFill>
        </p:spPr>
        <p:txBody>
          <a:bodyPr wrap="square">
            <a:spAutoFit/>
          </a:bodyPr>
          <a:lstStyle/>
          <a:p>
            <a:pPr algn="l"/>
            <a:r>
              <a:rPr sz="1400" b="0">
                <a:solidFill>
                  <a:srgbClr val="589DE8"/>
                </a:solidFill>
              </a:rPr>
              <a:t>長期アクセスキーを使わない安全な認証</a:t>
            </a:r>
          </a:p>
        </p:txBody>
      </p:sp>
      <p:sp>
        <p:nvSpPr>
          <p:cNvPr id="5" name="Rectangle 4"/>
          <p:cNvSpPr/>
          <p:nvPr/>
        </p:nvSpPr>
        <p:spPr>
          <a:xfrm>
            <a:off x="0" y="6675120"/>
            <a:ext cx="12188952" cy="182880"/>
          </a:xfrm>
          <a:prstGeom prst="rect">
            <a:avLst/>
          </a:prstGeom>
          <a:solidFill>
            <a:srgbClr val="589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1371600"/>
            <a:ext cx="2011680" cy="1097280"/>
          </a:xfrm>
          <a:prstGeom prst="rect">
            <a:avLst/>
          </a:prstGeom>
          <a:solidFill>
            <a:srgbClr val="2D2D44"/>
          </a:solidFill>
          <a:ln w="19050">
            <a:solidFill>
              <a:srgbClr val="589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 y="1417320"/>
            <a:ext cx="2011680" cy="548640"/>
          </a:xfrm>
          <a:prstGeom prst="rect">
            <a:avLst/>
          </a:prstGeom>
          <a:noFill/>
        </p:spPr>
        <p:txBody>
          <a:bodyPr wrap="square">
            <a:spAutoFit/>
          </a:bodyPr>
          <a:lstStyle/>
          <a:p>
            <a:pPr algn="ctr"/>
            <a:r>
              <a:rPr sz="1400" b="1">
                <a:solidFill>
                  <a:srgbClr val="589DE8"/>
                </a:solidFill>
              </a:rPr>
              <a:t>GitHub
Actions</a:t>
            </a:r>
          </a:p>
        </p:txBody>
      </p:sp>
      <p:sp>
        <p:nvSpPr>
          <p:cNvPr id="8" name="TextBox 7"/>
          <p:cNvSpPr txBox="1"/>
          <p:nvPr/>
        </p:nvSpPr>
        <p:spPr>
          <a:xfrm>
            <a:off x="320040" y="1920240"/>
            <a:ext cx="2011680" cy="457200"/>
          </a:xfrm>
          <a:prstGeom prst="rect">
            <a:avLst/>
          </a:prstGeom>
          <a:noFill/>
        </p:spPr>
        <p:txBody>
          <a:bodyPr wrap="square">
            <a:spAutoFit/>
          </a:bodyPr>
          <a:lstStyle/>
          <a:p>
            <a:pPr algn="ctr"/>
            <a:r>
              <a:rPr sz="1100" b="0">
                <a:solidFill>
                  <a:srgbClr val="CCCCCC"/>
                </a:solidFill>
              </a:rPr>
              <a:t>ワークフロー起動</a:t>
            </a:r>
          </a:p>
        </p:txBody>
      </p:sp>
      <p:sp>
        <p:nvSpPr>
          <p:cNvPr id="9" name="TextBox 8"/>
          <p:cNvSpPr txBox="1"/>
          <p:nvPr/>
        </p:nvSpPr>
        <p:spPr>
          <a:xfrm>
            <a:off x="2331720" y="1600200"/>
            <a:ext cx="155448" cy="548640"/>
          </a:xfrm>
          <a:prstGeom prst="rect">
            <a:avLst/>
          </a:prstGeom>
          <a:noFill/>
        </p:spPr>
        <p:txBody>
          <a:bodyPr wrap="square">
            <a:spAutoFit/>
          </a:bodyPr>
          <a:lstStyle/>
          <a:p>
            <a:pPr algn="ctr"/>
            <a:r>
              <a:rPr sz="1800" b="0">
                <a:solidFill>
                  <a:srgbClr val="CCCCCC"/>
                </a:solidFill>
              </a:rPr>
              <a:t>→</a:t>
            </a:r>
          </a:p>
        </p:txBody>
      </p:sp>
      <p:sp>
        <p:nvSpPr>
          <p:cNvPr id="10" name="Rectangle 9"/>
          <p:cNvSpPr/>
          <p:nvPr/>
        </p:nvSpPr>
        <p:spPr>
          <a:xfrm>
            <a:off x="2468880" y="1371600"/>
            <a:ext cx="2011680" cy="1097280"/>
          </a:xfrm>
          <a:prstGeom prst="rect">
            <a:avLst/>
          </a:prstGeom>
          <a:solidFill>
            <a:srgbClr val="2D2D44"/>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468880" y="1417320"/>
            <a:ext cx="2011680" cy="548640"/>
          </a:xfrm>
          <a:prstGeom prst="rect">
            <a:avLst/>
          </a:prstGeom>
          <a:noFill/>
        </p:spPr>
        <p:txBody>
          <a:bodyPr wrap="square">
            <a:spAutoFit/>
          </a:bodyPr>
          <a:lstStyle/>
          <a:p>
            <a:pPr algn="ctr"/>
            <a:r>
              <a:rPr sz="1400" b="1">
                <a:solidFill>
                  <a:srgbClr val="CCCCCC"/>
                </a:solidFill>
              </a:rPr>
              <a:t>JWT Token
発行</a:t>
            </a:r>
          </a:p>
        </p:txBody>
      </p:sp>
      <p:sp>
        <p:nvSpPr>
          <p:cNvPr id="12" name="TextBox 11"/>
          <p:cNvSpPr txBox="1"/>
          <p:nvPr/>
        </p:nvSpPr>
        <p:spPr>
          <a:xfrm>
            <a:off x="2468880" y="1920240"/>
            <a:ext cx="2011680" cy="457200"/>
          </a:xfrm>
          <a:prstGeom prst="rect">
            <a:avLst/>
          </a:prstGeom>
          <a:noFill/>
        </p:spPr>
        <p:txBody>
          <a:bodyPr wrap="square">
            <a:spAutoFit/>
          </a:bodyPr>
          <a:lstStyle/>
          <a:p>
            <a:pPr algn="ctr"/>
            <a:r>
              <a:rPr sz="1100" b="0">
                <a:solidFill>
                  <a:srgbClr val="CCCCCC"/>
                </a:solidFill>
              </a:rPr>
              <a:t>OIDC プロバイダー</a:t>
            </a:r>
          </a:p>
        </p:txBody>
      </p:sp>
      <p:sp>
        <p:nvSpPr>
          <p:cNvPr id="13" name="TextBox 12"/>
          <p:cNvSpPr txBox="1"/>
          <p:nvPr/>
        </p:nvSpPr>
        <p:spPr>
          <a:xfrm>
            <a:off x="4480560" y="1600200"/>
            <a:ext cx="155448" cy="548640"/>
          </a:xfrm>
          <a:prstGeom prst="rect">
            <a:avLst/>
          </a:prstGeom>
          <a:noFill/>
        </p:spPr>
        <p:txBody>
          <a:bodyPr wrap="square">
            <a:spAutoFit/>
          </a:bodyPr>
          <a:lstStyle/>
          <a:p>
            <a:pPr algn="ctr"/>
            <a:r>
              <a:rPr sz="1800" b="0">
                <a:solidFill>
                  <a:srgbClr val="CCCCCC"/>
                </a:solidFill>
              </a:rPr>
              <a:t>→</a:t>
            </a:r>
          </a:p>
        </p:txBody>
      </p:sp>
      <p:sp>
        <p:nvSpPr>
          <p:cNvPr id="14" name="Rectangle 13"/>
          <p:cNvSpPr/>
          <p:nvPr/>
        </p:nvSpPr>
        <p:spPr>
          <a:xfrm>
            <a:off x="4617720" y="1371600"/>
            <a:ext cx="2011680" cy="1097280"/>
          </a:xfrm>
          <a:prstGeom prst="rect">
            <a:avLst/>
          </a:prstGeom>
          <a:solidFill>
            <a:srgbClr val="2D2D44"/>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17720" y="1417320"/>
            <a:ext cx="2011680" cy="548640"/>
          </a:xfrm>
          <a:prstGeom prst="rect">
            <a:avLst/>
          </a:prstGeom>
          <a:noFill/>
        </p:spPr>
        <p:txBody>
          <a:bodyPr wrap="square">
            <a:spAutoFit/>
          </a:bodyPr>
          <a:lstStyle/>
          <a:p>
            <a:pPr algn="ctr"/>
            <a:r>
              <a:rPr sz="1400" b="1">
                <a:solidFill>
                  <a:srgbClr val="FF9900"/>
                </a:solidFill>
              </a:rPr>
              <a:t>AWS STS</a:t>
            </a:r>
          </a:p>
        </p:txBody>
      </p:sp>
      <p:sp>
        <p:nvSpPr>
          <p:cNvPr id="16" name="TextBox 15"/>
          <p:cNvSpPr txBox="1"/>
          <p:nvPr/>
        </p:nvSpPr>
        <p:spPr>
          <a:xfrm>
            <a:off x="4617720" y="1920240"/>
            <a:ext cx="2011680" cy="457200"/>
          </a:xfrm>
          <a:prstGeom prst="rect">
            <a:avLst/>
          </a:prstGeom>
          <a:noFill/>
        </p:spPr>
        <p:txBody>
          <a:bodyPr wrap="square">
            <a:spAutoFit/>
          </a:bodyPr>
          <a:lstStyle/>
          <a:p>
            <a:pPr algn="ctr"/>
            <a:r>
              <a:rPr sz="1100" b="0">
                <a:solidFill>
                  <a:srgbClr val="CCCCCC"/>
                </a:solidFill>
              </a:rPr>
              <a:t>AssumeRoleWith
WebIdentity</a:t>
            </a:r>
          </a:p>
        </p:txBody>
      </p:sp>
      <p:sp>
        <p:nvSpPr>
          <p:cNvPr id="17" name="TextBox 16"/>
          <p:cNvSpPr txBox="1"/>
          <p:nvPr/>
        </p:nvSpPr>
        <p:spPr>
          <a:xfrm>
            <a:off x="6629400" y="1600200"/>
            <a:ext cx="155448" cy="548640"/>
          </a:xfrm>
          <a:prstGeom prst="rect">
            <a:avLst/>
          </a:prstGeom>
          <a:noFill/>
        </p:spPr>
        <p:txBody>
          <a:bodyPr wrap="square">
            <a:spAutoFit/>
          </a:bodyPr>
          <a:lstStyle/>
          <a:p>
            <a:pPr algn="ctr"/>
            <a:r>
              <a:rPr sz="1800" b="0">
                <a:solidFill>
                  <a:srgbClr val="CCCCCC"/>
                </a:solidFill>
              </a:rPr>
              <a:t>→</a:t>
            </a:r>
          </a:p>
        </p:txBody>
      </p:sp>
      <p:sp>
        <p:nvSpPr>
          <p:cNvPr id="18" name="Rectangle 17"/>
          <p:cNvSpPr/>
          <p:nvPr/>
        </p:nvSpPr>
        <p:spPr>
          <a:xfrm>
            <a:off x="6766560" y="1371600"/>
            <a:ext cx="2011680" cy="1097280"/>
          </a:xfrm>
          <a:prstGeom prst="rect">
            <a:avLst/>
          </a:prstGeom>
          <a:solidFill>
            <a:srgbClr val="2D2D44"/>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66560" y="1417320"/>
            <a:ext cx="2011680" cy="548640"/>
          </a:xfrm>
          <a:prstGeom prst="rect">
            <a:avLst/>
          </a:prstGeom>
          <a:noFill/>
        </p:spPr>
        <p:txBody>
          <a:bodyPr wrap="square">
            <a:spAutoFit/>
          </a:bodyPr>
          <a:lstStyle/>
          <a:p>
            <a:pPr algn="ctr"/>
            <a:r>
              <a:rPr sz="1400" b="1">
                <a:solidFill>
                  <a:srgbClr val="4EC97E"/>
                </a:solidFill>
              </a:rPr>
              <a:t>一時的な
認証情報</a:t>
            </a:r>
          </a:p>
        </p:txBody>
      </p:sp>
      <p:sp>
        <p:nvSpPr>
          <p:cNvPr id="20" name="TextBox 19"/>
          <p:cNvSpPr txBox="1"/>
          <p:nvPr/>
        </p:nvSpPr>
        <p:spPr>
          <a:xfrm>
            <a:off x="6766560" y="1920240"/>
            <a:ext cx="2011680" cy="457200"/>
          </a:xfrm>
          <a:prstGeom prst="rect">
            <a:avLst/>
          </a:prstGeom>
          <a:noFill/>
        </p:spPr>
        <p:txBody>
          <a:bodyPr wrap="square">
            <a:spAutoFit/>
          </a:bodyPr>
          <a:lstStyle/>
          <a:p>
            <a:pPr algn="ctr"/>
            <a:r>
              <a:rPr sz="1100" b="0">
                <a:solidFill>
                  <a:srgbClr val="CCCCCC"/>
                </a:solidFill>
              </a:rPr>
              <a:t>有効期限: 15分</a:t>
            </a:r>
          </a:p>
        </p:txBody>
      </p:sp>
      <p:sp>
        <p:nvSpPr>
          <p:cNvPr id="21" name="TextBox 20"/>
          <p:cNvSpPr txBox="1"/>
          <p:nvPr/>
        </p:nvSpPr>
        <p:spPr>
          <a:xfrm>
            <a:off x="8778240" y="1600200"/>
            <a:ext cx="155448" cy="548640"/>
          </a:xfrm>
          <a:prstGeom prst="rect">
            <a:avLst/>
          </a:prstGeom>
          <a:noFill/>
        </p:spPr>
        <p:txBody>
          <a:bodyPr wrap="square">
            <a:spAutoFit/>
          </a:bodyPr>
          <a:lstStyle/>
          <a:p>
            <a:pPr algn="ctr"/>
            <a:r>
              <a:rPr sz="1800" b="0">
                <a:solidFill>
                  <a:srgbClr val="CCCCCC"/>
                </a:solidFill>
              </a:rPr>
              <a:t>→</a:t>
            </a:r>
          </a:p>
        </p:txBody>
      </p:sp>
      <p:sp>
        <p:nvSpPr>
          <p:cNvPr id="22" name="Rectangle 21"/>
          <p:cNvSpPr/>
          <p:nvPr/>
        </p:nvSpPr>
        <p:spPr>
          <a:xfrm>
            <a:off x="8915400" y="1371600"/>
            <a:ext cx="2011680" cy="1097280"/>
          </a:xfrm>
          <a:prstGeom prst="rect">
            <a:avLst/>
          </a:prstGeom>
          <a:solidFill>
            <a:srgbClr val="2D2D44"/>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915400" y="1417320"/>
            <a:ext cx="2011680" cy="548640"/>
          </a:xfrm>
          <a:prstGeom prst="rect">
            <a:avLst/>
          </a:prstGeom>
          <a:noFill/>
        </p:spPr>
        <p:txBody>
          <a:bodyPr wrap="square">
            <a:spAutoFit/>
          </a:bodyPr>
          <a:lstStyle/>
          <a:p>
            <a:pPr algn="ctr"/>
            <a:r>
              <a:rPr sz="1400" b="1">
                <a:solidFill>
                  <a:srgbClr val="4EC97E"/>
                </a:solidFill>
              </a:rPr>
              <a:t>AWS操作</a:t>
            </a:r>
          </a:p>
        </p:txBody>
      </p:sp>
      <p:sp>
        <p:nvSpPr>
          <p:cNvPr id="24" name="TextBox 23"/>
          <p:cNvSpPr txBox="1"/>
          <p:nvPr/>
        </p:nvSpPr>
        <p:spPr>
          <a:xfrm>
            <a:off x="8915400" y="1920240"/>
            <a:ext cx="2011680" cy="457200"/>
          </a:xfrm>
          <a:prstGeom prst="rect">
            <a:avLst/>
          </a:prstGeom>
          <a:noFill/>
        </p:spPr>
        <p:txBody>
          <a:bodyPr wrap="square">
            <a:spAutoFit/>
          </a:bodyPr>
          <a:lstStyle/>
          <a:p>
            <a:pPr algn="ctr"/>
            <a:r>
              <a:rPr sz="1100" b="0">
                <a:solidFill>
                  <a:srgbClr val="CCCCCC"/>
                </a:solidFill>
              </a:rPr>
              <a:t>Terraform apply
ECR push / ECS</a:t>
            </a:r>
          </a:p>
        </p:txBody>
      </p:sp>
      <p:sp>
        <p:nvSpPr>
          <p:cNvPr id="25" name="Rectangle 24"/>
          <p:cNvSpPr/>
          <p:nvPr/>
        </p:nvSpPr>
        <p:spPr>
          <a:xfrm>
            <a:off x="320040" y="2834640"/>
            <a:ext cx="3657600" cy="3566160"/>
          </a:xfrm>
          <a:prstGeom prst="rect">
            <a:avLst/>
          </a:prstGeom>
          <a:solidFill>
            <a:srgbClr val="2D2D44"/>
          </a:solidFill>
          <a:ln w="1905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2926080"/>
            <a:ext cx="3383280" cy="411480"/>
          </a:xfrm>
          <a:prstGeom prst="rect">
            <a:avLst/>
          </a:prstGeom>
          <a:noFill/>
        </p:spPr>
        <p:txBody>
          <a:bodyPr wrap="square">
            <a:spAutoFit/>
          </a:bodyPr>
          <a:lstStyle/>
          <a:p>
            <a:pPr algn="l"/>
            <a:r>
              <a:rPr sz="1400" b="1">
                <a:solidFill>
                  <a:srgbClr val="4EC97E"/>
                </a:solidFill>
              </a:rPr>
              <a:t>長期アクセスキー不要</a:t>
            </a:r>
          </a:p>
        </p:txBody>
      </p:sp>
      <p:sp>
        <p:nvSpPr>
          <p:cNvPr id="27" name="TextBox 26"/>
          <p:cNvSpPr txBox="1"/>
          <p:nvPr/>
        </p:nvSpPr>
        <p:spPr>
          <a:xfrm>
            <a:off x="457200" y="3429000"/>
            <a:ext cx="3383280" cy="2743200"/>
          </a:xfrm>
          <a:prstGeom prst="rect">
            <a:avLst/>
          </a:prstGeom>
          <a:noFill/>
        </p:spPr>
        <p:txBody>
          <a:bodyPr wrap="square">
            <a:spAutoFit/>
          </a:bodyPr>
          <a:lstStyle/>
          <a:p>
            <a:pPr algn="l"/>
            <a:r>
              <a:rPr sz="1200" b="0">
                <a:solidFill>
                  <a:srgbClr val="CCCCCC"/>
                </a:solidFill>
              </a:rPr>
              <a:t>シークレットが漏えいしても期限切れで無効
GitHub Secretsに永続的なキーを保存しない</a:t>
            </a:r>
          </a:p>
        </p:txBody>
      </p:sp>
      <p:sp>
        <p:nvSpPr>
          <p:cNvPr id="28" name="Rectangle 27"/>
          <p:cNvSpPr/>
          <p:nvPr/>
        </p:nvSpPr>
        <p:spPr>
          <a:xfrm>
            <a:off x="4206240" y="2834640"/>
            <a:ext cx="3657600" cy="3566160"/>
          </a:xfrm>
          <a:prstGeom prst="rect">
            <a:avLst/>
          </a:prstGeom>
          <a:solidFill>
            <a:srgbClr val="2D2D44"/>
          </a:solidFill>
          <a:ln w="19050">
            <a:solidFill>
              <a:srgbClr val="589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343400" y="2926080"/>
            <a:ext cx="3383280" cy="411480"/>
          </a:xfrm>
          <a:prstGeom prst="rect">
            <a:avLst/>
          </a:prstGeom>
          <a:noFill/>
        </p:spPr>
        <p:txBody>
          <a:bodyPr wrap="square">
            <a:spAutoFit/>
          </a:bodyPr>
          <a:lstStyle/>
          <a:p>
            <a:pPr algn="l"/>
            <a:r>
              <a:rPr sz="1400" b="1">
                <a:solidFill>
                  <a:srgbClr val="589DE8"/>
                </a:solidFill>
              </a:rPr>
              <a:t>最小権限原則</a:t>
            </a:r>
          </a:p>
        </p:txBody>
      </p:sp>
      <p:sp>
        <p:nvSpPr>
          <p:cNvPr id="30" name="TextBox 29"/>
          <p:cNvSpPr txBox="1"/>
          <p:nvPr/>
        </p:nvSpPr>
        <p:spPr>
          <a:xfrm>
            <a:off x="4343400" y="3429000"/>
            <a:ext cx="3383280" cy="2743200"/>
          </a:xfrm>
          <a:prstGeom prst="rect">
            <a:avLst/>
          </a:prstGeom>
          <a:noFill/>
        </p:spPr>
        <p:txBody>
          <a:bodyPr wrap="square">
            <a:spAutoFit/>
          </a:bodyPr>
          <a:lstStyle/>
          <a:p>
            <a:pPr algn="l"/>
            <a:r>
              <a:rPr sz="1200" b="0">
                <a:solidFill>
                  <a:srgbClr val="CCCCCC"/>
                </a:solidFill>
              </a:rPr>
              <a:t>IAMロールに必要なAPI操作のみ許可
S3・ECR・ECS・Terraform Stateの操作に限定</a:t>
            </a:r>
          </a:p>
        </p:txBody>
      </p:sp>
      <p:sp>
        <p:nvSpPr>
          <p:cNvPr id="31" name="Rectangle 30"/>
          <p:cNvSpPr/>
          <p:nvPr/>
        </p:nvSpPr>
        <p:spPr>
          <a:xfrm>
            <a:off x="8092440" y="2834640"/>
            <a:ext cx="3657600" cy="3566160"/>
          </a:xfrm>
          <a:prstGeom prst="rect">
            <a:avLst/>
          </a:prstGeom>
          <a:solidFill>
            <a:srgbClr val="2D2D44"/>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29600" y="2926080"/>
            <a:ext cx="3383280" cy="411480"/>
          </a:xfrm>
          <a:prstGeom prst="rect">
            <a:avLst/>
          </a:prstGeom>
          <a:noFill/>
        </p:spPr>
        <p:txBody>
          <a:bodyPr wrap="square">
            <a:spAutoFit/>
          </a:bodyPr>
          <a:lstStyle/>
          <a:p>
            <a:pPr algn="l"/>
            <a:r>
              <a:rPr sz="1400" b="1">
                <a:solidFill>
                  <a:srgbClr val="FF9900"/>
                </a:solidFill>
              </a:rPr>
              <a:t>リポジトリスコープ</a:t>
            </a:r>
          </a:p>
        </p:txBody>
      </p:sp>
      <p:sp>
        <p:nvSpPr>
          <p:cNvPr id="33" name="TextBox 32"/>
          <p:cNvSpPr txBox="1"/>
          <p:nvPr/>
        </p:nvSpPr>
        <p:spPr>
          <a:xfrm>
            <a:off x="8229600" y="3429000"/>
            <a:ext cx="3383280" cy="2743200"/>
          </a:xfrm>
          <a:prstGeom prst="rect">
            <a:avLst/>
          </a:prstGeom>
          <a:noFill/>
        </p:spPr>
        <p:txBody>
          <a:bodyPr wrap="square">
            <a:spAutoFit/>
          </a:bodyPr>
          <a:lstStyle/>
          <a:p>
            <a:pPr algn="l"/>
            <a:r>
              <a:rPr sz="1200" b="0">
                <a:solidFill>
                  <a:srgbClr val="CCCCCC"/>
                </a:solidFill>
              </a:rPr>
              <a:t>特定のリポジトリ・ブランチからのみ
AssumeRoleを許可するポリシー設定</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6355080" cy="523220"/>
          </a:xfrm>
          <a:prstGeom prst="rect">
            <a:avLst/>
          </a:prstGeom>
          <a:noFill/>
        </p:spPr>
        <p:txBody>
          <a:bodyPr wrap="square">
            <a:spAutoFit/>
          </a:bodyPr>
          <a:lstStyle/>
          <a:p>
            <a:pPr algn="l"/>
            <a:r>
              <a:rPr sz="2800" b="1">
                <a:solidFill>
                  <a:srgbClr val="FFFFFF"/>
                </a:solidFill>
              </a:rPr>
              <a:t>実際に解決したトラブル — 代表4件</a:t>
            </a:r>
          </a:p>
        </p:txBody>
      </p:sp>
      <p:sp>
        <p:nvSpPr>
          <p:cNvPr id="4" name="TextBox 3"/>
          <p:cNvSpPr txBox="1"/>
          <p:nvPr/>
        </p:nvSpPr>
        <p:spPr>
          <a:xfrm>
            <a:off x="457200" y="694944"/>
            <a:ext cx="5219700" cy="307777"/>
          </a:xfrm>
          <a:prstGeom prst="rect">
            <a:avLst/>
          </a:prstGeom>
          <a:noFill/>
        </p:spPr>
        <p:txBody>
          <a:bodyPr wrap="square">
            <a:spAutoFit/>
          </a:bodyPr>
          <a:lstStyle/>
          <a:p>
            <a:pPr algn="l"/>
            <a:r>
              <a:rPr sz="1400" b="0">
                <a:solidFill>
                  <a:srgbClr val="569CD6"/>
                </a:solidFill>
              </a:rPr>
              <a:t>11件のエラーから根本原因を特定し再発防止策まで設計</a:t>
            </a:r>
          </a:p>
        </p:txBody>
      </p:sp>
      <p:sp>
        <p:nvSpPr>
          <p:cNvPr id="5" name="Rectangle 4"/>
          <p:cNvSpPr/>
          <p:nvPr/>
        </p:nvSpPr>
        <p:spPr>
          <a:xfrm>
            <a:off x="0" y="6656832"/>
            <a:ext cx="12188952" cy="201168"/>
          </a:xfrm>
          <a:prstGeom prst="rect">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92024" y="1234440"/>
            <a:ext cx="2834640" cy="5029200"/>
          </a:xfrm>
          <a:prstGeom prst="roundRect">
            <a:avLst/>
          </a:prstGeom>
          <a:solidFill>
            <a:srgbClr val="252540"/>
          </a:solidFill>
          <a:ln w="25400">
            <a:solidFill>
              <a:srgbClr val="569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92024" y="1234440"/>
            <a:ext cx="2834640" cy="548640"/>
          </a:xfrm>
          <a:prstGeom prst="roundRect">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3464" y="1307592"/>
            <a:ext cx="502920" cy="402336"/>
          </a:xfrm>
          <a:prstGeom prst="rect">
            <a:avLst/>
          </a:prstGeom>
          <a:noFill/>
        </p:spPr>
        <p:txBody>
          <a:bodyPr wrap="square">
            <a:spAutoFit/>
          </a:bodyPr>
          <a:lstStyle/>
          <a:p>
            <a:pPr algn="l"/>
            <a:r>
              <a:rPr sz="1600" b="1">
                <a:solidFill>
                  <a:srgbClr val="FFFFFF"/>
                </a:solidFill>
              </a:rPr>
              <a:t>#2</a:t>
            </a:r>
          </a:p>
        </p:txBody>
      </p:sp>
      <p:sp>
        <p:nvSpPr>
          <p:cNvPr id="9" name="TextBox 8"/>
          <p:cNvSpPr txBox="1"/>
          <p:nvPr/>
        </p:nvSpPr>
        <p:spPr>
          <a:xfrm>
            <a:off x="832104" y="1325880"/>
            <a:ext cx="2103120" cy="402336"/>
          </a:xfrm>
          <a:prstGeom prst="rect">
            <a:avLst/>
          </a:prstGeom>
          <a:noFill/>
        </p:spPr>
        <p:txBody>
          <a:bodyPr wrap="square">
            <a:spAutoFit/>
          </a:bodyPr>
          <a:lstStyle/>
          <a:p>
            <a:pPr algn="l"/>
            <a:r>
              <a:rPr sz="1200" b="1">
                <a:solidFill>
                  <a:srgbClr val="FFFFFF"/>
                </a:solidFill>
              </a:rPr>
              <a:t>OIDC 認証失敗</a:t>
            </a:r>
          </a:p>
        </p:txBody>
      </p:sp>
      <p:sp>
        <p:nvSpPr>
          <p:cNvPr id="10" name="Oval 9"/>
          <p:cNvSpPr/>
          <p:nvPr/>
        </p:nvSpPr>
        <p:spPr>
          <a:xfrm>
            <a:off x="1197864" y="1828800"/>
            <a:ext cx="822960" cy="822960"/>
          </a:xfrm>
          <a:prstGeom prst="ellipse">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97864" y="1856232"/>
            <a:ext cx="822960" cy="749808"/>
          </a:xfrm>
          <a:prstGeom prst="rect">
            <a:avLst/>
          </a:prstGeom>
          <a:noFill/>
        </p:spPr>
        <p:txBody>
          <a:bodyPr wrap="square">
            <a:spAutoFit/>
          </a:bodyPr>
          <a:lstStyle/>
          <a:p>
            <a:pPr algn="ctr"/>
            <a:r>
              <a:rPr sz="2800" b="0">
                <a:solidFill>
                  <a:srgbClr val="569CD6"/>
                </a:solidFill>
              </a:rPr>
              <a:t>🔒</a:t>
            </a:r>
          </a:p>
        </p:txBody>
      </p:sp>
      <p:sp>
        <p:nvSpPr>
          <p:cNvPr id="12" name="TextBox 11"/>
          <p:cNvSpPr txBox="1"/>
          <p:nvPr/>
        </p:nvSpPr>
        <p:spPr>
          <a:xfrm>
            <a:off x="301752" y="2770632"/>
            <a:ext cx="2615184" cy="3383280"/>
          </a:xfrm>
          <a:prstGeom prst="rect">
            <a:avLst/>
          </a:prstGeom>
          <a:noFill/>
        </p:spPr>
        <p:txBody>
          <a:bodyPr wrap="square">
            <a:spAutoFit/>
          </a:bodyPr>
          <a:lstStyle/>
          <a:p>
            <a:pPr algn="l"/>
            <a:r>
              <a:rPr sz="1000" b="0">
                <a:solidFill>
                  <a:srgbClr val="CCCCCC"/>
                </a:solidFill>
              </a:rPr>
              <a:t>問題: AssumeRoleWithWebIdentity が 403
原因: IAM 信頼ポリシーの sub 条件が
       "repo:owner/repo:ref:refs/heads/*" と
       完全一致（StringEquals）になっていた
対策: StringLike + リポジトリスコープに変更
学び: push/PR/workflow_dispatch の3系統で
       事前に疎通テストを実施する</a:t>
            </a:r>
          </a:p>
        </p:txBody>
      </p:sp>
      <p:sp>
        <p:nvSpPr>
          <p:cNvPr id="13" name="Rounded Rectangle 12"/>
          <p:cNvSpPr/>
          <p:nvPr/>
        </p:nvSpPr>
        <p:spPr>
          <a:xfrm>
            <a:off x="3182112" y="1234440"/>
            <a:ext cx="2834640" cy="5029200"/>
          </a:xfrm>
          <a:prstGeom prst="roundRect">
            <a:avLst/>
          </a:prstGeom>
          <a:solidFill>
            <a:srgbClr val="252540"/>
          </a:solidFill>
          <a:ln w="2540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182112" y="1234440"/>
            <a:ext cx="2834640" cy="548640"/>
          </a:xfrm>
          <a:prstGeom prst="roundRect">
            <a:avLst/>
          </a:prstGeom>
          <a:solidFill>
            <a:srgbClr val="FF5F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73552" y="1307592"/>
            <a:ext cx="502920" cy="402336"/>
          </a:xfrm>
          <a:prstGeom prst="rect">
            <a:avLst/>
          </a:prstGeom>
          <a:noFill/>
        </p:spPr>
        <p:txBody>
          <a:bodyPr wrap="square">
            <a:spAutoFit/>
          </a:bodyPr>
          <a:lstStyle/>
          <a:p>
            <a:pPr algn="l"/>
            <a:r>
              <a:rPr sz="1600" b="1">
                <a:solidFill>
                  <a:srgbClr val="FFFFFF"/>
                </a:solidFill>
              </a:rPr>
              <a:t>#10</a:t>
            </a:r>
          </a:p>
        </p:txBody>
      </p:sp>
      <p:sp>
        <p:nvSpPr>
          <p:cNvPr id="16" name="TextBox 15"/>
          <p:cNvSpPr txBox="1"/>
          <p:nvPr/>
        </p:nvSpPr>
        <p:spPr>
          <a:xfrm>
            <a:off x="3822192" y="1325880"/>
            <a:ext cx="2103120" cy="402336"/>
          </a:xfrm>
          <a:prstGeom prst="rect">
            <a:avLst/>
          </a:prstGeom>
          <a:noFill/>
        </p:spPr>
        <p:txBody>
          <a:bodyPr wrap="square">
            <a:spAutoFit/>
          </a:bodyPr>
          <a:lstStyle/>
          <a:p>
            <a:pPr algn="l"/>
            <a:r>
              <a:rPr sz="1200" b="1">
                <a:solidFill>
                  <a:srgbClr val="FFFFFF"/>
                </a:solidFill>
              </a:rPr>
              <a:t>ECR 409 タグ上書き失敗</a:t>
            </a:r>
          </a:p>
        </p:txBody>
      </p:sp>
      <p:sp>
        <p:nvSpPr>
          <p:cNvPr id="17" name="Oval 16"/>
          <p:cNvSpPr/>
          <p:nvPr/>
        </p:nvSpPr>
        <p:spPr>
          <a:xfrm>
            <a:off x="4187952" y="1828800"/>
            <a:ext cx="822960" cy="822960"/>
          </a:xfrm>
          <a:prstGeom prst="ellipse">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87952" y="1856232"/>
            <a:ext cx="822960" cy="749808"/>
          </a:xfrm>
          <a:prstGeom prst="rect">
            <a:avLst/>
          </a:prstGeom>
          <a:noFill/>
        </p:spPr>
        <p:txBody>
          <a:bodyPr wrap="square">
            <a:spAutoFit/>
          </a:bodyPr>
          <a:lstStyle/>
          <a:p>
            <a:pPr algn="ctr"/>
            <a:r>
              <a:rPr sz="2800" b="0">
                <a:solidFill>
                  <a:srgbClr val="FF5F57"/>
                </a:solidFill>
              </a:rPr>
              <a:t>📦</a:t>
            </a:r>
          </a:p>
        </p:txBody>
      </p:sp>
      <p:sp>
        <p:nvSpPr>
          <p:cNvPr id="19" name="TextBox 18"/>
          <p:cNvSpPr txBox="1"/>
          <p:nvPr/>
        </p:nvSpPr>
        <p:spPr>
          <a:xfrm>
            <a:off x="3291840" y="2770632"/>
            <a:ext cx="2615184" cy="3383280"/>
          </a:xfrm>
          <a:prstGeom prst="rect">
            <a:avLst/>
          </a:prstGeom>
          <a:noFill/>
        </p:spPr>
        <p:txBody>
          <a:bodyPr wrap="square">
            <a:spAutoFit/>
          </a:bodyPr>
          <a:lstStyle/>
          <a:p>
            <a:pPr algn="l"/>
            <a:r>
              <a:rPr sz="1000" b="0">
                <a:solidFill>
                  <a:srgbClr val="CCCCCC"/>
                </a:solidFill>
              </a:rPr>
              <a:t>問題: ECR push が 409 エラーで失敗
原因: ECR の「イミュータブルタグ」設定が
       有効のため latest タグの上書きが禁止
対策: latest をやめ github.sha を
       ユニークタグとして使用
学び: タグ戦略を事前設計し
       イミュータブルタグを推奨として採用</a:t>
            </a:r>
          </a:p>
        </p:txBody>
      </p:sp>
      <p:sp>
        <p:nvSpPr>
          <p:cNvPr id="20" name="Rounded Rectangle 19"/>
          <p:cNvSpPr/>
          <p:nvPr/>
        </p:nvSpPr>
        <p:spPr>
          <a:xfrm>
            <a:off x="6172200" y="1234440"/>
            <a:ext cx="2834640" cy="5029200"/>
          </a:xfrm>
          <a:prstGeom prst="roundRect">
            <a:avLst/>
          </a:prstGeom>
          <a:solidFill>
            <a:srgbClr val="252540"/>
          </a:solidFill>
          <a:ln w="2540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172200" y="1234440"/>
            <a:ext cx="2834640" cy="54864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63640" y="1307592"/>
            <a:ext cx="502920" cy="402336"/>
          </a:xfrm>
          <a:prstGeom prst="rect">
            <a:avLst/>
          </a:prstGeom>
          <a:noFill/>
        </p:spPr>
        <p:txBody>
          <a:bodyPr wrap="square">
            <a:spAutoFit/>
          </a:bodyPr>
          <a:lstStyle/>
          <a:p>
            <a:pPr algn="l"/>
            <a:r>
              <a:rPr sz="1600" b="1">
                <a:solidFill>
                  <a:srgbClr val="FFFFFF"/>
                </a:solidFill>
              </a:rPr>
              <a:t>#7</a:t>
            </a:r>
          </a:p>
        </p:txBody>
      </p:sp>
      <p:sp>
        <p:nvSpPr>
          <p:cNvPr id="23" name="TextBox 22"/>
          <p:cNvSpPr txBox="1"/>
          <p:nvPr/>
        </p:nvSpPr>
        <p:spPr>
          <a:xfrm>
            <a:off x="6812280" y="1325880"/>
            <a:ext cx="2103120" cy="402336"/>
          </a:xfrm>
          <a:prstGeom prst="rect">
            <a:avLst/>
          </a:prstGeom>
          <a:noFill/>
        </p:spPr>
        <p:txBody>
          <a:bodyPr wrap="square">
            <a:spAutoFit/>
          </a:bodyPr>
          <a:lstStyle/>
          <a:p>
            <a:pPr algn="l"/>
            <a:r>
              <a:rPr sz="1200" b="1">
                <a:solidFill>
                  <a:srgbClr val="FFFFFF"/>
                </a:solidFill>
              </a:rPr>
              <a:t>S3 409 / state 不整合</a:t>
            </a:r>
          </a:p>
        </p:txBody>
      </p:sp>
      <p:sp>
        <p:nvSpPr>
          <p:cNvPr id="24" name="Oval 23"/>
          <p:cNvSpPr/>
          <p:nvPr/>
        </p:nvSpPr>
        <p:spPr>
          <a:xfrm>
            <a:off x="7178040" y="1828800"/>
            <a:ext cx="822960" cy="822960"/>
          </a:xfrm>
          <a:prstGeom prst="ellipse">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178040" y="1856232"/>
            <a:ext cx="822960" cy="749808"/>
          </a:xfrm>
          <a:prstGeom prst="rect">
            <a:avLst/>
          </a:prstGeom>
          <a:noFill/>
        </p:spPr>
        <p:txBody>
          <a:bodyPr wrap="square">
            <a:spAutoFit/>
          </a:bodyPr>
          <a:lstStyle/>
          <a:p>
            <a:pPr algn="ctr"/>
            <a:r>
              <a:rPr sz="2800" b="0">
                <a:solidFill>
                  <a:srgbClr val="FF9900"/>
                </a:solidFill>
              </a:rPr>
              <a:t>☁</a:t>
            </a:r>
          </a:p>
        </p:txBody>
      </p:sp>
      <p:sp>
        <p:nvSpPr>
          <p:cNvPr id="26" name="TextBox 25"/>
          <p:cNvSpPr txBox="1"/>
          <p:nvPr/>
        </p:nvSpPr>
        <p:spPr>
          <a:xfrm>
            <a:off x="6281928" y="2770632"/>
            <a:ext cx="2615184" cy="3383280"/>
          </a:xfrm>
          <a:prstGeom prst="rect">
            <a:avLst/>
          </a:prstGeom>
          <a:noFill/>
        </p:spPr>
        <p:txBody>
          <a:bodyPr wrap="square">
            <a:spAutoFit/>
          </a:bodyPr>
          <a:lstStyle/>
          <a:p>
            <a:pPr algn="l"/>
            <a:r>
              <a:rPr sz="1000" b="0">
                <a:solidFill>
                  <a:srgbClr val="CCCCCC"/>
                </a:solidFill>
              </a:rPr>
              <a:t>問題: terraform apply が 409 エラー
       (BucketAlreadyOwnedByYou)
原因: Terraform state と実リソースが
       不整合（手動作成済みバケットがあった）
対策: terraform import で既存リソースを
       stateに取り込んでから再apply
学び: 既存環境では必ずimport戦略を
       ワークフローに組み込む</a:t>
            </a:r>
          </a:p>
        </p:txBody>
      </p:sp>
      <p:sp>
        <p:nvSpPr>
          <p:cNvPr id="27" name="Rounded Rectangle 26"/>
          <p:cNvSpPr/>
          <p:nvPr/>
        </p:nvSpPr>
        <p:spPr>
          <a:xfrm>
            <a:off x="9162288" y="1234440"/>
            <a:ext cx="2834640" cy="5029200"/>
          </a:xfrm>
          <a:prstGeom prst="roundRect">
            <a:avLst/>
          </a:prstGeom>
          <a:solidFill>
            <a:srgbClr val="252540"/>
          </a:solidFill>
          <a:ln w="254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9162288" y="1234440"/>
            <a:ext cx="2834640" cy="548640"/>
          </a:xfrm>
          <a:prstGeom prst="roundRect">
            <a:avLst/>
          </a:prstGeom>
          <a:solidFill>
            <a:srgbClr val="BD9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53728" y="1307592"/>
            <a:ext cx="502920" cy="402336"/>
          </a:xfrm>
          <a:prstGeom prst="rect">
            <a:avLst/>
          </a:prstGeom>
          <a:noFill/>
        </p:spPr>
        <p:txBody>
          <a:bodyPr wrap="square">
            <a:spAutoFit/>
          </a:bodyPr>
          <a:lstStyle/>
          <a:p>
            <a:pPr algn="l"/>
            <a:r>
              <a:rPr sz="1600" b="1">
                <a:solidFill>
                  <a:srgbClr val="FFFFFF"/>
                </a:solidFill>
              </a:rPr>
              <a:t>#11</a:t>
            </a:r>
          </a:p>
        </p:txBody>
      </p:sp>
      <p:sp>
        <p:nvSpPr>
          <p:cNvPr id="30" name="TextBox 29"/>
          <p:cNvSpPr txBox="1"/>
          <p:nvPr/>
        </p:nvSpPr>
        <p:spPr>
          <a:xfrm>
            <a:off x="9802368" y="1325880"/>
            <a:ext cx="2103120" cy="402336"/>
          </a:xfrm>
          <a:prstGeom prst="rect">
            <a:avLst/>
          </a:prstGeom>
          <a:noFill/>
        </p:spPr>
        <p:txBody>
          <a:bodyPr wrap="square">
            <a:spAutoFit/>
          </a:bodyPr>
          <a:lstStyle/>
          <a:p>
            <a:pPr algn="l"/>
            <a:r>
              <a:rPr sz="1200" b="1">
                <a:solidFill>
                  <a:srgbClr val="FFFFFF"/>
                </a:solidFill>
              </a:rPr>
              <a:t>Trivy 脆弱性多数検出</a:t>
            </a:r>
          </a:p>
        </p:txBody>
      </p:sp>
      <p:sp>
        <p:nvSpPr>
          <p:cNvPr id="31" name="Oval 30"/>
          <p:cNvSpPr/>
          <p:nvPr/>
        </p:nvSpPr>
        <p:spPr>
          <a:xfrm>
            <a:off x="10168128" y="1828800"/>
            <a:ext cx="822960" cy="822960"/>
          </a:xfrm>
          <a:prstGeom prst="ellipse">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168128" y="1856232"/>
            <a:ext cx="822960" cy="749808"/>
          </a:xfrm>
          <a:prstGeom prst="rect">
            <a:avLst/>
          </a:prstGeom>
          <a:noFill/>
        </p:spPr>
        <p:txBody>
          <a:bodyPr wrap="square">
            <a:spAutoFit/>
          </a:bodyPr>
          <a:lstStyle/>
          <a:p>
            <a:pPr algn="ctr"/>
            <a:r>
              <a:rPr sz="2800" b="0">
                <a:solidFill>
                  <a:srgbClr val="BD93F9"/>
                </a:solidFill>
              </a:rPr>
              <a:t>🔍</a:t>
            </a:r>
          </a:p>
        </p:txBody>
      </p:sp>
      <p:sp>
        <p:nvSpPr>
          <p:cNvPr id="33" name="TextBox 32"/>
          <p:cNvSpPr txBox="1"/>
          <p:nvPr/>
        </p:nvSpPr>
        <p:spPr>
          <a:xfrm>
            <a:off x="9272016" y="2770632"/>
            <a:ext cx="2615184" cy="3383280"/>
          </a:xfrm>
          <a:prstGeom prst="rect">
            <a:avLst/>
          </a:prstGeom>
          <a:noFill/>
        </p:spPr>
        <p:txBody>
          <a:bodyPr wrap="square">
            <a:spAutoFit/>
          </a:bodyPr>
          <a:lstStyle/>
          <a:p>
            <a:pPr algn="l"/>
            <a:r>
              <a:rPr sz="1000" b="0">
                <a:solidFill>
                  <a:srgbClr val="CCCCCC"/>
                </a:solidFill>
              </a:rPr>
              <a:t>問題: python:3.12-slim で
       HIGH/CRITICAL が大量検出
原因: ベースイメージのDebianパッケージが
       古く既知脆弱性が多数含まれていた
対策: python:3.14-slim に更新
学び: セキュアなベースイメージ選定を
       最初に設計する
       最新 LTS を優先して採用</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621792"/>
          </a:xfrm>
          <a:prstGeom prst="rect">
            <a:avLst/>
          </a:prstGeom>
          <a:noFill/>
        </p:spPr>
        <p:txBody>
          <a:bodyPr wrap="square">
            <a:spAutoFit/>
          </a:bodyPr>
          <a:lstStyle/>
          <a:p>
            <a:pPr algn="l"/>
            <a:r>
              <a:rPr sz="2800" b="1">
                <a:solidFill>
                  <a:srgbClr val="FFFFFF"/>
                </a:solidFill>
              </a:rPr>
              <a:t>技術スタック</a:t>
            </a:r>
          </a:p>
        </p:txBody>
      </p:sp>
      <p:sp>
        <p:nvSpPr>
          <p:cNvPr id="4" name="TextBox 3"/>
          <p:cNvSpPr txBox="1"/>
          <p:nvPr/>
        </p:nvSpPr>
        <p:spPr>
          <a:xfrm>
            <a:off x="457200" y="694944"/>
            <a:ext cx="10972800" cy="365760"/>
          </a:xfrm>
          <a:prstGeom prst="rect">
            <a:avLst/>
          </a:prstGeom>
          <a:noFill/>
        </p:spPr>
        <p:txBody>
          <a:bodyPr wrap="square">
            <a:spAutoFit/>
          </a:bodyPr>
          <a:lstStyle/>
          <a:p>
            <a:pPr algn="l"/>
            <a:r>
              <a:rPr sz="1400" b="0">
                <a:solidFill>
                  <a:srgbClr val="569CD6"/>
                </a:solidFill>
              </a:rPr>
              <a:t>このプロジェクトで実践的に習得した技術</a:t>
            </a:r>
          </a:p>
        </p:txBody>
      </p:sp>
      <p:sp>
        <p:nvSpPr>
          <p:cNvPr id="5" name="Rectangle 4"/>
          <p:cNvSpPr/>
          <p:nvPr/>
        </p:nvSpPr>
        <p:spPr>
          <a:xfrm>
            <a:off x="0" y="6656832"/>
            <a:ext cx="12188952" cy="201168"/>
          </a:xfrm>
          <a:prstGeom prst="rect">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16636" y="1234440"/>
            <a:ext cx="3566160" cy="2377440"/>
          </a:xfrm>
          <a:prstGeom prst="roundRect">
            <a:avLst/>
          </a:prstGeom>
          <a:solidFill>
            <a:srgbClr val="252540"/>
          </a:solidFill>
          <a:ln w="25400">
            <a:solidFill>
              <a:srgbClr val="569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16636" y="1234440"/>
            <a:ext cx="164592" cy="2377440"/>
          </a:xfrm>
          <a:prstGeom prst="rect">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2668" y="1307592"/>
            <a:ext cx="3218688" cy="411480"/>
          </a:xfrm>
          <a:prstGeom prst="rect">
            <a:avLst/>
          </a:prstGeom>
          <a:noFill/>
        </p:spPr>
        <p:txBody>
          <a:bodyPr wrap="square">
            <a:spAutoFit/>
          </a:bodyPr>
          <a:lstStyle/>
          <a:p>
            <a:pPr algn="l"/>
            <a:r>
              <a:rPr sz="1400" b="1">
                <a:solidFill>
                  <a:srgbClr val="569CD6"/>
                </a:solidFill>
              </a:rPr>
              <a:t>CI/CD</a:t>
            </a:r>
          </a:p>
        </p:txBody>
      </p:sp>
      <p:sp>
        <p:nvSpPr>
          <p:cNvPr id="9" name="TextBox 8"/>
          <p:cNvSpPr txBox="1"/>
          <p:nvPr/>
        </p:nvSpPr>
        <p:spPr>
          <a:xfrm>
            <a:off x="790956" y="1783080"/>
            <a:ext cx="3200400" cy="384048"/>
          </a:xfrm>
          <a:prstGeom prst="rect">
            <a:avLst/>
          </a:prstGeom>
          <a:noFill/>
        </p:spPr>
        <p:txBody>
          <a:bodyPr wrap="square">
            <a:spAutoFit/>
          </a:bodyPr>
          <a:lstStyle/>
          <a:p>
            <a:pPr algn="l"/>
            <a:r>
              <a:rPr sz="1200" b="0">
                <a:solidFill>
                  <a:srgbClr val="CCCCCC"/>
                </a:solidFill>
              </a:rPr>
              <a:t>✓  GitHub Actions</a:t>
            </a:r>
          </a:p>
        </p:txBody>
      </p:sp>
      <p:sp>
        <p:nvSpPr>
          <p:cNvPr id="10" name="TextBox 9"/>
          <p:cNvSpPr txBox="1"/>
          <p:nvPr/>
        </p:nvSpPr>
        <p:spPr>
          <a:xfrm>
            <a:off x="790956" y="2212848"/>
            <a:ext cx="3200400" cy="384048"/>
          </a:xfrm>
          <a:prstGeom prst="rect">
            <a:avLst/>
          </a:prstGeom>
          <a:noFill/>
        </p:spPr>
        <p:txBody>
          <a:bodyPr wrap="square">
            <a:spAutoFit/>
          </a:bodyPr>
          <a:lstStyle/>
          <a:p>
            <a:pPr algn="l"/>
            <a:r>
              <a:rPr sz="1200" b="0">
                <a:solidFill>
                  <a:srgbClr val="CCCCCC"/>
                </a:solidFill>
              </a:rPr>
              <a:t>✓  ワークフロー設計</a:t>
            </a:r>
          </a:p>
        </p:txBody>
      </p:sp>
      <p:sp>
        <p:nvSpPr>
          <p:cNvPr id="11" name="TextBox 10"/>
          <p:cNvSpPr txBox="1"/>
          <p:nvPr/>
        </p:nvSpPr>
        <p:spPr>
          <a:xfrm>
            <a:off x="790956" y="2642616"/>
            <a:ext cx="3200400" cy="384048"/>
          </a:xfrm>
          <a:prstGeom prst="rect">
            <a:avLst/>
          </a:prstGeom>
          <a:noFill/>
        </p:spPr>
        <p:txBody>
          <a:bodyPr wrap="square">
            <a:spAutoFit/>
          </a:bodyPr>
          <a:lstStyle/>
          <a:p>
            <a:pPr algn="l"/>
            <a:r>
              <a:rPr sz="1200" b="0">
                <a:solidFill>
                  <a:srgbClr val="CCCCCC"/>
                </a:solidFill>
              </a:rPr>
              <a:t>✓  Env approval</a:t>
            </a:r>
          </a:p>
        </p:txBody>
      </p:sp>
      <p:sp>
        <p:nvSpPr>
          <p:cNvPr id="12" name="TextBox 11"/>
          <p:cNvSpPr txBox="1"/>
          <p:nvPr/>
        </p:nvSpPr>
        <p:spPr>
          <a:xfrm>
            <a:off x="790956" y="3072384"/>
            <a:ext cx="3200400" cy="384048"/>
          </a:xfrm>
          <a:prstGeom prst="rect">
            <a:avLst/>
          </a:prstGeom>
          <a:noFill/>
        </p:spPr>
        <p:txBody>
          <a:bodyPr wrap="square">
            <a:spAutoFit/>
          </a:bodyPr>
          <a:lstStyle/>
          <a:p>
            <a:pPr algn="l"/>
            <a:r>
              <a:rPr sz="1200" b="0">
                <a:solidFill>
                  <a:srgbClr val="CCCCCC"/>
                </a:solidFill>
              </a:rPr>
              <a:t>✓  OIDC認証連携</a:t>
            </a:r>
          </a:p>
        </p:txBody>
      </p:sp>
      <p:sp>
        <p:nvSpPr>
          <p:cNvPr id="13" name="Rounded Rectangle 12"/>
          <p:cNvSpPr/>
          <p:nvPr/>
        </p:nvSpPr>
        <p:spPr>
          <a:xfrm>
            <a:off x="4311396" y="1234440"/>
            <a:ext cx="3566160" cy="2377440"/>
          </a:xfrm>
          <a:prstGeom prst="roundRect">
            <a:avLst/>
          </a:prstGeom>
          <a:solidFill>
            <a:srgbClr val="252540"/>
          </a:solidFill>
          <a:ln w="2540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11396" y="1234440"/>
            <a:ext cx="164592" cy="237744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67428" y="1307592"/>
            <a:ext cx="3218688" cy="411480"/>
          </a:xfrm>
          <a:prstGeom prst="rect">
            <a:avLst/>
          </a:prstGeom>
          <a:noFill/>
        </p:spPr>
        <p:txBody>
          <a:bodyPr wrap="square">
            <a:spAutoFit/>
          </a:bodyPr>
          <a:lstStyle/>
          <a:p>
            <a:pPr algn="l"/>
            <a:r>
              <a:rPr sz="1400" b="1">
                <a:solidFill>
                  <a:srgbClr val="FF9900"/>
                </a:solidFill>
              </a:rPr>
              <a:t>AWS</a:t>
            </a:r>
          </a:p>
        </p:txBody>
      </p:sp>
      <p:sp>
        <p:nvSpPr>
          <p:cNvPr id="16" name="TextBox 15"/>
          <p:cNvSpPr txBox="1"/>
          <p:nvPr/>
        </p:nvSpPr>
        <p:spPr>
          <a:xfrm>
            <a:off x="4585716" y="1783080"/>
            <a:ext cx="3200400" cy="384048"/>
          </a:xfrm>
          <a:prstGeom prst="rect">
            <a:avLst/>
          </a:prstGeom>
          <a:noFill/>
        </p:spPr>
        <p:txBody>
          <a:bodyPr wrap="square">
            <a:spAutoFit/>
          </a:bodyPr>
          <a:lstStyle/>
          <a:p>
            <a:pPr algn="l"/>
            <a:r>
              <a:rPr sz="1200" b="0">
                <a:solidFill>
                  <a:srgbClr val="CCCCCC"/>
                </a:solidFill>
              </a:rPr>
              <a:t>✓  ECR (イミュータブル)</a:t>
            </a:r>
          </a:p>
        </p:txBody>
      </p:sp>
      <p:sp>
        <p:nvSpPr>
          <p:cNvPr id="17" name="TextBox 16"/>
          <p:cNvSpPr txBox="1"/>
          <p:nvPr/>
        </p:nvSpPr>
        <p:spPr>
          <a:xfrm>
            <a:off x="4585716" y="2212848"/>
            <a:ext cx="3200400" cy="384048"/>
          </a:xfrm>
          <a:prstGeom prst="rect">
            <a:avLst/>
          </a:prstGeom>
          <a:noFill/>
        </p:spPr>
        <p:txBody>
          <a:bodyPr wrap="square">
            <a:spAutoFit/>
          </a:bodyPr>
          <a:lstStyle/>
          <a:p>
            <a:pPr algn="l"/>
            <a:r>
              <a:rPr sz="1200" b="0">
                <a:solidFill>
                  <a:srgbClr val="CCCCCC"/>
                </a:solidFill>
              </a:rPr>
              <a:t>✓  ECS Fargate</a:t>
            </a:r>
          </a:p>
        </p:txBody>
      </p:sp>
      <p:sp>
        <p:nvSpPr>
          <p:cNvPr id="18" name="TextBox 17"/>
          <p:cNvSpPr txBox="1"/>
          <p:nvPr/>
        </p:nvSpPr>
        <p:spPr>
          <a:xfrm>
            <a:off x="4585716" y="2642616"/>
            <a:ext cx="3200400" cy="384048"/>
          </a:xfrm>
          <a:prstGeom prst="rect">
            <a:avLst/>
          </a:prstGeom>
          <a:noFill/>
        </p:spPr>
        <p:txBody>
          <a:bodyPr wrap="square">
            <a:spAutoFit/>
          </a:bodyPr>
          <a:lstStyle/>
          <a:p>
            <a:pPr algn="l"/>
            <a:r>
              <a:rPr sz="1200" b="0">
                <a:solidFill>
                  <a:srgbClr val="CCCCCC"/>
                </a:solidFill>
              </a:rPr>
              <a:t>✓  IAM / OIDC</a:t>
            </a:r>
          </a:p>
        </p:txBody>
      </p:sp>
      <p:sp>
        <p:nvSpPr>
          <p:cNvPr id="19" name="TextBox 18"/>
          <p:cNvSpPr txBox="1"/>
          <p:nvPr/>
        </p:nvSpPr>
        <p:spPr>
          <a:xfrm>
            <a:off x="4585716" y="3072384"/>
            <a:ext cx="3200400" cy="384048"/>
          </a:xfrm>
          <a:prstGeom prst="rect">
            <a:avLst/>
          </a:prstGeom>
          <a:noFill/>
        </p:spPr>
        <p:txBody>
          <a:bodyPr wrap="square">
            <a:spAutoFit/>
          </a:bodyPr>
          <a:lstStyle/>
          <a:p>
            <a:pPr algn="l"/>
            <a:r>
              <a:rPr sz="1200" b="0">
                <a:solidFill>
                  <a:srgbClr val="CCCCCC"/>
                </a:solidFill>
              </a:rPr>
              <a:t>✓  S3 / CloudWatch</a:t>
            </a:r>
          </a:p>
        </p:txBody>
      </p:sp>
      <p:sp>
        <p:nvSpPr>
          <p:cNvPr id="20" name="Rounded Rectangle 19"/>
          <p:cNvSpPr/>
          <p:nvPr/>
        </p:nvSpPr>
        <p:spPr>
          <a:xfrm>
            <a:off x="8106156" y="1234440"/>
            <a:ext cx="3566160" cy="2377440"/>
          </a:xfrm>
          <a:prstGeom prst="roundRect">
            <a:avLst/>
          </a:prstGeom>
          <a:solidFill>
            <a:srgbClr val="252540"/>
          </a:solidFill>
          <a:ln w="2540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06156" y="1234440"/>
            <a:ext cx="164592" cy="2377440"/>
          </a:xfrm>
          <a:prstGeom prst="rect">
            <a:avLst/>
          </a:prstGeom>
          <a:solidFill>
            <a:srgbClr val="FF5F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62188" y="1307592"/>
            <a:ext cx="3218688" cy="411480"/>
          </a:xfrm>
          <a:prstGeom prst="rect">
            <a:avLst/>
          </a:prstGeom>
          <a:noFill/>
        </p:spPr>
        <p:txBody>
          <a:bodyPr wrap="square">
            <a:spAutoFit/>
          </a:bodyPr>
          <a:lstStyle/>
          <a:p>
            <a:pPr algn="l"/>
            <a:r>
              <a:rPr sz="1400" b="1">
                <a:solidFill>
                  <a:srgbClr val="FF5F57"/>
                </a:solidFill>
              </a:rPr>
              <a:t>Security</a:t>
            </a:r>
          </a:p>
        </p:txBody>
      </p:sp>
      <p:sp>
        <p:nvSpPr>
          <p:cNvPr id="23" name="TextBox 22"/>
          <p:cNvSpPr txBox="1"/>
          <p:nvPr/>
        </p:nvSpPr>
        <p:spPr>
          <a:xfrm>
            <a:off x="8380476" y="1783080"/>
            <a:ext cx="3200400" cy="384048"/>
          </a:xfrm>
          <a:prstGeom prst="rect">
            <a:avLst/>
          </a:prstGeom>
          <a:noFill/>
        </p:spPr>
        <p:txBody>
          <a:bodyPr wrap="square">
            <a:spAutoFit/>
          </a:bodyPr>
          <a:lstStyle/>
          <a:p>
            <a:pPr algn="l"/>
            <a:r>
              <a:rPr sz="1200" b="0">
                <a:solidFill>
                  <a:srgbClr val="CCCCCC"/>
                </a:solidFill>
              </a:rPr>
              <a:t>✓  Trivy FS+image</a:t>
            </a:r>
          </a:p>
        </p:txBody>
      </p:sp>
      <p:sp>
        <p:nvSpPr>
          <p:cNvPr id="24" name="TextBox 23"/>
          <p:cNvSpPr txBox="1"/>
          <p:nvPr/>
        </p:nvSpPr>
        <p:spPr>
          <a:xfrm>
            <a:off x="8380476" y="2212848"/>
            <a:ext cx="3200400" cy="384048"/>
          </a:xfrm>
          <a:prstGeom prst="rect">
            <a:avLst/>
          </a:prstGeom>
          <a:noFill/>
        </p:spPr>
        <p:txBody>
          <a:bodyPr wrap="square">
            <a:spAutoFit/>
          </a:bodyPr>
          <a:lstStyle/>
          <a:p>
            <a:pPr algn="l"/>
            <a:r>
              <a:rPr sz="1200" b="0">
                <a:solidFill>
                  <a:srgbClr val="CCCCCC"/>
                </a:solidFill>
              </a:rPr>
              <a:t>✓  CodeQL SAST</a:t>
            </a:r>
          </a:p>
        </p:txBody>
      </p:sp>
      <p:sp>
        <p:nvSpPr>
          <p:cNvPr id="25" name="TextBox 24"/>
          <p:cNvSpPr txBox="1"/>
          <p:nvPr/>
        </p:nvSpPr>
        <p:spPr>
          <a:xfrm>
            <a:off x="8380476" y="2642616"/>
            <a:ext cx="3200400" cy="384048"/>
          </a:xfrm>
          <a:prstGeom prst="rect">
            <a:avLst/>
          </a:prstGeom>
          <a:noFill/>
        </p:spPr>
        <p:txBody>
          <a:bodyPr wrap="square">
            <a:spAutoFit/>
          </a:bodyPr>
          <a:lstStyle/>
          <a:p>
            <a:pPr algn="l"/>
            <a:r>
              <a:rPr sz="1200" b="0">
                <a:solidFill>
                  <a:srgbClr val="CCCCCC"/>
                </a:solidFill>
              </a:rPr>
              <a:t>✓  pip-audit</a:t>
            </a:r>
          </a:p>
        </p:txBody>
      </p:sp>
      <p:sp>
        <p:nvSpPr>
          <p:cNvPr id="26" name="TextBox 25"/>
          <p:cNvSpPr txBox="1"/>
          <p:nvPr/>
        </p:nvSpPr>
        <p:spPr>
          <a:xfrm>
            <a:off x="8380476" y="3072384"/>
            <a:ext cx="3200400" cy="384048"/>
          </a:xfrm>
          <a:prstGeom prst="rect">
            <a:avLst/>
          </a:prstGeom>
          <a:noFill/>
        </p:spPr>
        <p:txBody>
          <a:bodyPr wrap="square">
            <a:spAutoFit/>
          </a:bodyPr>
          <a:lstStyle/>
          <a:p>
            <a:pPr algn="l"/>
            <a:r>
              <a:rPr sz="1200" b="0">
                <a:solidFill>
                  <a:srgbClr val="CCCCCC"/>
                </a:solidFill>
              </a:rPr>
              <a:t>✓  gitleaks / checkov</a:t>
            </a:r>
          </a:p>
        </p:txBody>
      </p:sp>
      <p:sp>
        <p:nvSpPr>
          <p:cNvPr id="27" name="Rounded Rectangle 26"/>
          <p:cNvSpPr/>
          <p:nvPr/>
        </p:nvSpPr>
        <p:spPr>
          <a:xfrm>
            <a:off x="516636" y="3794760"/>
            <a:ext cx="3566160" cy="2377440"/>
          </a:xfrm>
          <a:prstGeom prst="roundRect">
            <a:avLst/>
          </a:prstGeom>
          <a:solidFill>
            <a:srgbClr val="252540"/>
          </a:solidFill>
          <a:ln w="2540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16636" y="3794760"/>
            <a:ext cx="164592" cy="2377440"/>
          </a:xfrm>
          <a:prstGeom prst="rect">
            <a:avLst/>
          </a:prstGeom>
          <a:solidFill>
            <a:srgbClr val="4EC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72668" y="3867912"/>
            <a:ext cx="3218688" cy="411480"/>
          </a:xfrm>
          <a:prstGeom prst="rect">
            <a:avLst/>
          </a:prstGeom>
          <a:noFill/>
        </p:spPr>
        <p:txBody>
          <a:bodyPr wrap="square">
            <a:spAutoFit/>
          </a:bodyPr>
          <a:lstStyle/>
          <a:p>
            <a:pPr algn="l"/>
            <a:r>
              <a:rPr sz="1400" b="1">
                <a:solidFill>
                  <a:srgbClr val="4EC97E"/>
                </a:solidFill>
              </a:rPr>
              <a:t>Docker / IaC</a:t>
            </a:r>
          </a:p>
        </p:txBody>
      </p:sp>
      <p:sp>
        <p:nvSpPr>
          <p:cNvPr id="30" name="TextBox 29"/>
          <p:cNvSpPr txBox="1"/>
          <p:nvPr/>
        </p:nvSpPr>
        <p:spPr>
          <a:xfrm>
            <a:off x="790956" y="4343400"/>
            <a:ext cx="3200400" cy="384048"/>
          </a:xfrm>
          <a:prstGeom prst="rect">
            <a:avLst/>
          </a:prstGeom>
          <a:noFill/>
        </p:spPr>
        <p:txBody>
          <a:bodyPr wrap="square">
            <a:spAutoFit/>
          </a:bodyPr>
          <a:lstStyle/>
          <a:p>
            <a:pPr algn="l"/>
            <a:r>
              <a:rPr sz="1200" b="0">
                <a:solidFill>
                  <a:srgbClr val="CCCCCC"/>
                </a:solidFill>
              </a:rPr>
              <a:t>✓  マルチステージビルド</a:t>
            </a:r>
          </a:p>
        </p:txBody>
      </p:sp>
      <p:sp>
        <p:nvSpPr>
          <p:cNvPr id="31" name="TextBox 30"/>
          <p:cNvSpPr txBox="1"/>
          <p:nvPr/>
        </p:nvSpPr>
        <p:spPr>
          <a:xfrm>
            <a:off x="790956" y="4773168"/>
            <a:ext cx="3200400" cy="384048"/>
          </a:xfrm>
          <a:prstGeom prst="rect">
            <a:avLst/>
          </a:prstGeom>
          <a:noFill/>
        </p:spPr>
        <p:txBody>
          <a:bodyPr wrap="square">
            <a:spAutoFit/>
          </a:bodyPr>
          <a:lstStyle/>
          <a:p>
            <a:pPr algn="l"/>
            <a:r>
              <a:rPr sz="1200" b="0">
                <a:solidFill>
                  <a:srgbClr val="CCCCCC"/>
                </a:solidFill>
              </a:rPr>
              <a:t>✓  non-root / HEALTHCHECK</a:t>
            </a:r>
          </a:p>
        </p:txBody>
      </p:sp>
      <p:sp>
        <p:nvSpPr>
          <p:cNvPr id="32" name="TextBox 31"/>
          <p:cNvSpPr txBox="1"/>
          <p:nvPr/>
        </p:nvSpPr>
        <p:spPr>
          <a:xfrm>
            <a:off x="790956" y="5202936"/>
            <a:ext cx="3200400" cy="384048"/>
          </a:xfrm>
          <a:prstGeom prst="rect">
            <a:avLst/>
          </a:prstGeom>
          <a:noFill/>
        </p:spPr>
        <p:txBody>
          <a:bodyPr wrap="square">
            <a:spAutoFit/>
          </a:bodyPr>
          <a:lstStyle/>
          <a:p>
            <a:pPr algn="l"/>
            <a:r>
              <a:rPr sz="1200" b="0">
                <a:solidFill>
                  <a:srgbClr val="CCCCCC"/>
                </a:solidFill>
              </a:rPr>
              <a:t>✓  Terraform 3環境</a:t>
            </a:r>
          </a:p>
        </p:txBody>
      </p:sp>
      <p:sp>
        <p:nvSpPr>
          <p:cNvPr id="33" name="TextBox 32"/>
          <p:cNvSpPr txBox="1"/>
          <p:nvPr/>
        </p:nvSpPr>
        <p:spPr>
          <a:xfrm>
            <a:off x="790956" y="5632704"/>
            <a:ext cx="3200400" cy="384048"/>
          </a:xfrm>
          <a:prstGeom prst="rect">
            <a:avLst/>
          </a:prstGeom>
          <a:noFill/>
        </p:spPr>
        <p:txBody>
          <a:bodyPr wrap="square">
            <a:spAutoFit/>
          </a:bodyPr>
          <a:lstStyle/>
          <a:p>
            <a:pPr algn="l"/>
            <a:r>
              <a:rPr sz="1200" b="0">
                <a:solidFill>
                  <a:srgbClr val="CCCCCC"/>
                </a:solidFill>
              </a:rPr>
              <a:t>✓  checkov IaC検証</a:t>
            </a:r>
          </a:p>
        </p:txBody>
      </p:sp>
      <p:sp>
        <p:nvSpPr>
          <p:cNvPr id="34" name="Rounded Rectangle 33"/>
          <p:cNvSpPr/>
          <p:nvPr/>
        </p:nvSpPr>
        <p:spPr>
          <a:xfrm>
            <a:off x="4311396" y="3794760"/>
            <a:ext cx="3566160" cy="2377440"/>
          </a:xfrm>
          <a:prstGeom prst="roundRect">
            <a:avLst/>
          </a:prstGeom>
          <a:solidFill>
            <a:srgbClr val="252540"/>
          </a:solidFill>
          <a:ln w="25400">
            <a:solidFill>
              <a:srgbClr val="BD93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311396" y="3794760"/>
            <a:ext cx="164592" cy="2377440"/>
          </a:xfrm>
          <a:prstGeom prst="rect">
            <a:avLst/>
          </a:prstGeom>
          <a:solidFill>
            <a:srgbClr val="BD9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67428" y="3867912"/>
            <a:ext cx="3218688" cy="411480"/>
          </a:xfrm>
          <a:prstGeom prst="rect">
            <a:avLst/>
          </a:prstGeom>
          <a:noFill/>
        </p:spPr>
        <p:txBody>
          <a:bodyPr wrap="square">
            <a:spAutoFit/>
          </a:bodyPr>
          <a:lstStyle/>
          <a:p>
            <a:pPr algn="l"/>
            <a:r>
              <a:rPr sz="1400" b="1">
                <a:solidFill>
                  <a:srgbClr val="BD93F9"/>
                </a:solidFill>
              </a:rPr>
              <a:t>Python</a:t>
            </a:r>
          </a:p>
        </p:txBody>
      </p:sp>
      <p:sp>
        <p:nvSpPr>
          <p:cNvPr id="37" name="TextBox 36"/>
          <p:cNvSpPr txBox="1"/>
          <p:nvPr/>
        </p:nvSpPr>
        <p:spPr>
          <a:xfrm>
            <a:off x="4585716" y="4343400"/>
            <a:ext cx="3200400" cy="384048"/>
          </a:xfrm>
          <a:prstGeom prst="rect">
            <a:avLst/>
          </a:prstGeom>
          <a:noFill/>
        </p:spPr>
        <p:txBody>
          <a:bodyPr wrap="square">
            <a:spAutoFit/>
          </a:bodyPr>
          <a:lstStyle/>
          <a:p>
            <a:pPr algn="l"/>
            <a:r>
              <a:rPr sz="1200" b="0">
                <a:solidFill>
                  <a:srgbClr val="CCCCCC"/>
                </a:solidFill>
              </a:rPr>
              <a:t>✓  Flask Web API</a:t>
            </a:r>
          </a:p>
        </p:txBody>
      </p:sp>
      <p:sp>
        <p:nvSpPr>
          <p:cNvPr id="38" name="TextBox 37"/>
          <p:cNvSpPr txBox="1"/>
          <p:nvPr/>
        </p:nvSpPr>
        <p:spPr>
          <a:xfrm>
            <a:off x="4585716" y="4773168"/>
            <a:ext cx="3200400" cy="384048"/>
          </a:xfrm>
          <a:prstGeom prst="rect">
            <a:avLst/>
          </a:prstGeom>
          <a:noFill/>
        </p:spPr>
        <p:txBody>
          <a:bodyPr wrap="square">
            <a:spAutoFit/>
          </a:bodyPr>
          <a:lstStyle/>
          <a:p>
            <a:pPr algn="l"/>
            <a:r>
              <a:rPr sz="1200" b="0">
                <a:solidFill>
                  <a:srgbClr val="CCCCCC"/>
                </a:solidFill>
              </a:rPr>
              <a:t>✓  ruff lint/format</a:t>
            </a:r>
          </a:p>
        </p:txBody>
      </p:sp>
      <p:sp>
        <p:nvSpPr>
          <p:cNvPr id="39" name="TextBox 38"/>
          <p:cNvSpPr txBox="1"/>
          <p:nvPr/>
        </p:nvSpPr>
        <p:spPr>
          <a:xfrm>
            <a:off x="4585716" y="5202936"/>
            <a:ext cx="3200400" cy="384048"/>
          </a:xfrm>
          <a:prstGeom prst="rect">
            <a:avLst/>
          </a:prstGeom>
          <a:noFill/>
        </p:spPr>
        <p:txBody>
          <a:bodyPr wrap="square">
            <a:spAutoFit/>
          </a:bodyPr>
          <a:lstStyle/>
          <a:p>
            <a:pPr algn="l"/>
            <a:r>
              <a:rPr sz="1200" b="0">
                <a:solidFill>
                  <a:srgbClr val="CCCCCC"/>
                </a:solidFill>
              </a:rPr>
              <a:t>✓  mypy 型チェック</a:t>
            </a:r>
          </a:p>
        </p:txBody>
      </p:sp>
      <p:sp>
        <p:nvSpPr>
          <p:cNvPr id="40" name="TextBox 39"/>
          <p:cNvSpPr txBox="1"/>
          <p:nvPr/>
        </p:nvSpPr>
        <p:spPr>
          <a:xfrm>
            <a:off x="4585716" y="5632704"/>
            <a:ext cx="3200400" cy="384048"/>
          </a:xfrm>
          <a:prstGeom prst="rect">
            <a:avLst/>
          </a:prstGeom>
          <a:noFill/>
        </p:spPr>
        <p:txBody>
          <a:bodyPr wrap="square">
            <a:spAutoFit/>
          </a:bodyPr>
          <a:lstStyle/>
          <a:p>
            <a:pPr algn="l"/>
            <a:r>
              <a:rPr sz="1200" b="0">
                <a:solidFill>
                  <a:srgbClr val="CCCCCC"/>
                </a:solidFill>
              </a:rPr>
              <a:t>✓  pytest cov 92%</a:t>
            </a:r>
          </a:p>
        </p:txBody>
      </p:sp>
      <p:sp>
        <p:nvSpPr>
          <p:cNvPr id="41" name="Rounded Rectangle 40"/>
          <p:cNvSpPr/>
          <p:nvPr/>
        </p:nvSpPr>
        <p:spPr>
          <a:xfrm>
            <a:off x="8106156" y="3794760"/>
            <a:ext cx="3566160" cy="2377440"/>
          </a:xfrm>
          <a:prstGeom prst="roundRect">
            <a:avLst/>
          </a:prstGeom>
          <a:solidFill>
            <a:srgbClr val="252540"/>
          </a:solidFill>
          <a:ln w="25400">
            <a:solidFill>
              <a:srgbClr val="4AC7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8106156" y="3794760"/>
            <a:ext cx="164592" cy="2377440"/>
          </a:xfrm>
          <a:prstGeom prst="rect">
            <a:avLst/>
          </a:prstGeom>
          <a:solidFill>
            <a:srgbClr val="4AC7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362188" y="3867912"/>
            <a:ext cx="3218688" cy="411480"/>
          </a:xfrm>
          <a:prstGeom prst="rect">
            <a:avLst/>
          </a:prstGeom>
          <a:noFill/>
        </p:spPr>
        <p:txBody>
          <a:bodyPr wrap="square">
            <a:spAutoFit/>
          </a:bodyPr>
          <a:lstStyle/>
          <a:p>
            <a:pPr algn="l"/>
            <a:r>
              <a:rPr sz="1400" b="1">
                <a:solidFill>
                  <a:srgbClr val="4AC7B8"/>
                </a:solidFill>
              </a:rPr>
              <a:t>運用設計</a:t>
            </a:r>
          </a:p>
        </p:txBody>
      </p:sp>
      <p:sp>
        <p:nvSpPr>
          <p:cNvPr id="44" name="TextBox 43"/>
          <p:cNvSpPr txBox="1"/>
          <p:nvPr/>
        </p:nvSpPr>
        <p:spPr>
          <a:xfrm>
            <a:off x="8380476" y="4343400"/>
            <a:ext cx="3200400" cy="384048"/>
          </a:xfrm>
          <a:prstGeom prst="rect">
            <a:avLst/>
          </a:prstGeom>
          <a:noFill/>
        </p:spPr>
        <p:txBody>
          <a:bodyPr wrap="square">
            <a:spAutoFit/>
          </a:bodyPr>
          <a:lstStyle/>
          <a:p>
            <a:pPr algn="l"/>
            <a:r>
              <a:rPr sz="1200" b="0">
                <a:solidFill>
                  <a:srgbClr val="CCCCCC"/>
                </a:solidFill>
              </a:rPr>
              <a:t>✓  段階デプロイ設計</a:t>
            </a:r>
          </a:p>
        </p:txBody>
      </p:sp>
      <p:sp>
        <p:nvSpPr>
          <p:cNvPr id="45" name="TextBox 44"/>
          <p:cNvSpPr txBox="1"/>
          <p:nvPr/>
        </p:nvSpPr>
        <p:spPr>
          <a:xfrm>
            <a:off x="8380476" y="4773168"/>
            <a:ext cx="3200400" cy="384048"/>
          </a:xfrm>
          <a:prstGeom prst="rect">
            <a:avLst/>
          </a:prstGeom>
          <a:noFill/>
        </p:spPr>
        <p:txBody>
          <a:bodyPr wrap="square">
            <a:spAutoFit/>
          </a:bodyPr>
          <a:lstStyle/>
          <a:p>
            <a:pPr algn="l"/>
            <a:r>
              <a:rPr sz="1200" b="0">
                <a:solidFill>
                  <a:srgbClr val="CCCCCC"/>
                </a:solidFill>
              </a:rPr>
              <a:t>✓  ロールバック戦略</a:t>
            </a:r>
          </a:p>
        </p:txBody>
      </p:sp>
      <p:sp>
        <p:nvSpPr>
          <p:cNvPr id="46" name="TextBox 45"/>
          <p:cNvSpPr txBox="1"/>
          <p:nvPr/>
        </p:nvSpPr>
        <p:spPr>
          <a:xfrm>
            <a:off x="8380476" y="5202936"/>
            <a:ext cx="3200400" cy="384048"/>
          </a:xfrm>
          <a:prstGeom prst="rect">
            <a:avLst/>
          </a:prstGeom>
          <a:noFill/>
        </p:spPr>
        <p:txBody>
          <a:bodyPr wrap="square">
            <a:spAutoFit/>
          </a:bodyPr>
          <a:lstStyle/>
          <a:p>
            <a:pPr algn="l"/>
            <a:r>
              <a:rPr sz="1200" b="0">
                <a:solidFill>
                  <a:srgbClr val="CCCCCC"/>
                </a:solidFill>
              </a:rPr>
              <a:t>✓  ヘルスチェック設計</a:t>
            </a:r>
          </a:p>
        </p:txBody>
      </p:sp>
      <p:sp>
        <p:nvSpPr>
          <p:cNvPr id="47" name="TextBox 46"/>
          <p:cNvSpPr txBox="1"/>
          <p:nvPr/>
        </p:nvSpPr>
        <p:spPr>
          <a:xfrm>
            <a:off x="8380476" y="5632704"/>
            <a:ext cx="3200400" cy="384048"/>
          </a:xfrm>
          <a:prstGeom prst="rect">
            <a:avLst/>
          </a:prstGeom>
          <a:noFill/>
        </p:spPr>
        <p:txBody>
          <a:bodyPr wrap="square">
            <a:spAutoFit/>
          </a:bodyPr>
          <a:lstStyle/>
          <a:p>
            <a:pPr algn="l"/>
            <a:r>
              <a:rPr sz="1200" b="0">
                <a:solidFill>
                  <a:srgbClr val="CCCCCC"/>
                </a:solidFill>
              </a:rPr>
              <a:t>✓  障害対応手順書</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56832"/>
            <a:ext cx="12188952" cy="201168"/>
          </a:xfrm>
          <a:prstGeom prst="rect">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9728"/>
            <a:ext cx="10972800" cy="621792"/>
          </a:xfrm>
          <a:prstGeom prst="rect">
            <a:avLst/>
          </a:prstGeom>
          <a:noFill/>
        </p:spPr>
        <p:txBody>
          <a:bodyPr wrap="square">
            <a:spAutoFit/>
          </a:bodyPr>
          <a:lstStyle/>
          <a:p>
            <a:pPr algn="l"/>
            <a:r>
              <a:rPr sz="3200" b="1">
                <a:solidFill>
                  <a:srgbClr val="FFFFFF"/>
                </a:solidFill>
              </a:rPr>
              <a:t>まとめ</a:t>
            </a:r>
          </a:p>
        </p:txBody>
      </p:sp>
      <p:sp>
        <p:nvSpPr>
          <p:cNvPr id="5" name="Rounded Rectangle 4"/>
          <p:cNvSpPr/>
          <p:nvPr/>
        </p:nvSpPr>
        <p:spPr>
          <a:xfrm>
            <a:off x="274320" y="914400"/>
            <a:ext cx="11640312" cy="1170432"/>
          </a:xfrm>
          <a:prstGeom prst="roundRect">
            <a:avLst/>
          </a:prstGeom>
          <a:solidFill>
            <a:srgbClr val="252540"/>
          </a:solidFill>
          <a:ln w="25400">
            <a:solidFill>
              <a:srgbClr val="569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411480" y="1097280"/>
            <a:ext cx="777240" cy="777240"/>
          </a:xfrm>
          <a:prstGeom prst="ellipse">
            <a:avLst/>
          </a:prstGeom>
          <a:solidFill>
            <a:srgbClr val="569C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1097280"/>
            <a:ext cx="777240" cy="777240"/>
          </a:xfrm>
          <a:prstGeom prst="rect">
            <a:avLst/>
          </a:prstGeom>
          <a:noFill/>
        </p:spPr>
        <p:txBody>
          <a:bodyPr wrap="square">
            <a:spAutoFit/>
          </a:bodyPr>
          <a:lstStyle/>
          <a:p>
            <a:pPr algn="ctr"/>
            <a:r>
              <a:rPr sz="1700" b="1">
                <a:solidFill>
                  <a:srgbClr val="FFFFFF"/>
                </a:solidFill>
              </a:rPr>
              <a:t>01</a:t>
            </a:r>
          </a:p>
        </p:txBody>
      </p:sp>
      <p:sp>
        <p:nvSpPr>
          <p:cNvPr id="8" name="TextBox 7"/>
          <p:cNvSpPr txBox="1"/>
          <p:nvPr/>
        </p:nvSpPr>
        <p:spPr>
          <a:xfrm>
            <a:off x="1325880" y="1024128"/>
            <a:ext cx="10424160" cy="457200"/>
          </a:xfrm>
          <a:prstGeom prst="rect">
            <a:avLst/>
          </a:prstGeom>
          <a:noFill/>
        </p:spPr>
        <p:txBody>
          <a:bodyPr wrap="square">
            <a:spAutoFit/>
          </a:bodyPr>
          <a:lstStyle/>
          <a:p>
            <a:pPr algn="l"/>
            <a:r>
              <a:rPr sz="1600" b="1">
                <a:solidFill>
                  <a:srgbClr val="569CD6"/>
                </a:solidFill>
              </a:rPr>
              <a:t>CI/CDパイプラインをゼロから設計・構築</a:t>
            </a:r>
          </a:p>
        </p:txBody>
      </p:sp>
      <p:sp>
        <p:nvSpPr>
          <p:cNvPr id="9" name="TextBox 8"/>
          <p:cNvSpPr txBox="1"/>
          <p:nvPr/>
        </p:nvSpPr>
        <p:spPr>
          <a:xfrm>
            <a:off x="1325880" y="1481328"/>
            <a:ext cx="10424160" cy="502920"/>
          </a:xfrm>
          <a:prstGeom prst="rect">
            <a:avLst/>
          </a:prstGeom>
          <a:noFill/>
        </p:spPr>
        <p:txBody>
          <a:bodyPr wrap="square">
            <a:spAutoFit/>
          </a:bodyPr>
          <a:lstStyle/>
          <a:p>
            <a:pPr algn="l"/>
            <a:r>
              <a:rPr sz="1200" b="0">
                <a:solidFill>
                  <a:srgbClr val="CCCCCC"/>
                </a:solidFill>
              </a:rPr>
              <a:t>GitHub Actionsでコード品質・セキュリティ検査・段階的デプロイを一気通貫に自動化</a:t>
            </a:r>
          </a:p>
        </p:txBody>
      </p:sp>
      <p:sp>
        <p:nvSpPr>
          <p:cNvPr id="10" name="Rounded Rectangle 9"/>
          <p:cNvSpPr/>
          <p:nvPr/>
        </p:nvSpPr>
        <p:spPr>
          <a:xfrm>
            <a:off x="274320" y="2157984"/>
            <a:ext cx="11640312" cy="1170432"/>
          </a:xfrm>
          <a:prstGeom prst="roundRect">
            <a:avLst/>
          </a:prstGeom>
          <a:solidFill>
            <a:srgbClr val="252540"/>
          </a:solidFill>
          <a:ln w="25400">
            <a:solidFill>
              <a:srgbClr val="FF5F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11480" y="2340864"/>
            <a:ext cx="777240" cy="777240"/>
          </a:xfrm>
          <a:prstGeom prst="ellipse">
            <a:avLst/>
          </a:prstGeom>
          <a:solidFill>
            <a:srgbClr val="FF5F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1480" y="2340864"/>
            <a:ext cx="777240" cy="777240"/>
          </a:xfrm>
          <a:prstGeom prst="rect">
            <a:avLst/>
          </a:prstGeom>
          <a:noFill/>
        </p:spPr>
        <p:txBody>
          <a:bodyPr wrap="square">
            <a:spAutoFit/>
          </a:bodyPr>
          <a:lstStyle/>
          <a:p>
            <a:pPr algn="ctr"/>
            <a:r>
              <a:rPr sz="1700" b="1">
                <a:solidFill>
                  <a:srgbClr val="FFFFFF"/>
                </a:solidFill>
              </a:rPr>
              <a:t>02</a:t>
            </a:r>
          </a:p>
        </p:txBody>
      </p:sp>
      <p:sp>
        <p:nvSpPr>
          <p:cNvPr id="13" name="TextBox 12"/>
          <p:cNvSpPr txBox="1"/>
          <p:nvPr/>
        </p:nvSpPr>
        <p:spPr>
          <a:xfrm>
            <a:off x="1325880" y="2267712"/>
            <a:ext cx="10424160" cy="457200"/>
          </a:xfrm>
          <a:prstGeom prst="rect">
            <a:avLst/>
          </a:prstGeom>
          <a:noFill/>
        </p:spPr>
        <p:txBody>
          <a:bodyPr wrap="square">
            <a:spAutoFit/>
          </a:bodyPr>
          <a:lstStyle/>
          <a:p>
            <a:pPr algn="l"/>
            <a:r>
              <a:rPr sz="1600" b="1">
                <a:solidFill>
                  <a:srgbClr val="FF5F57"/>
                </a:solidFill>
              </a:rPr>
              <a:t>5段階のセキュリティ多層防御を実践</a:t>
            </a:r>
          </a:p>
        </p:txBody>
      </p:sp>
      <p:sp>
        <p:nvSpPr>
          <p:cNvPr id="14" name="TextBox 13"/>
          <p:cNvSpPr txBox="1"/>
          <p:nvPr/>
        </p:nvSpPr>
        <p:spPr>
          <a:xfrm>
            <a:off x="1325880" y="2724912"/>
            <a:ext cx="10424160" cy="502920"/>
          </a:xfrm>
          <a:prstGeom prst="rect">
            <a:avLst/>
          </a:prstGeom>
          <a:noFill/>
        </p:spPr>
        <p:txBody>
          <a:bodyPr wrap="square">
            <a:spAutoFit/>
          </a:bodyPr>
          <a:lstStyle/>
          <a:p>
            <a:pPr algn="l"/>
            <a:r>
              <a:rPr sz="1200" b="0">
                <a:solidFill>
                  <a:srgbClr val="CCCCCC"/>
                </a:solidFill>
              </a:rPr>
              <a:t>Trivy / CodeQL / checkov / pip-audit / gitleaks でコード〜ランタイムを包括的に防御</a:t>
            </a:r>
          </a:p>
        </p:txBody>
      </p:sp>
      <p:sp>
        <p:nvSpPr>
          <p:cNvPr id="15" name="Rounded Rectangle 14"/>
          <p:cNvSpPr/>
          <p:nvPr/>
        </p:nvSpPr>
        <p:spPr>
          <a:xfrm>
            <a:off x="274320" y="3401568"/>
            <a:ext cx="11640312" cy="1170432"/>
          </a:xfrm>
          <a:prstGeom prst="roundRect">
            <a:avLst/>
          </a:prstGeom>
          <a:solidFill>
            <a:srgbClr val="252540"/>
          </a:solidFill>
          <a:ln w="2540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11480" y="3584448"/>
            <a:ext cx="777240" cy="777240"/>
          </a:xfrm>
          <a:prstGeom prst="ellipse">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1480" y="3584448"/>
            <a:ext cx="777240" cy="777240"/>
          </a:xfrm>
          <a:prstGeom prst="rect">
            <a:avLst/>
          </a:prstGeom>
          <a:noFill/>
        </p:spPr>
        <p:txBody>
          <a:bodyPr wrap="square">
            <a:spAutoFit/>
          </a:bodyPr>
          <a:lstStyle/>
          <a:p>
            <a:pPr algn="ctr"/>
            <a:r>
              <a:rPr sz="1700" b="1">
                <a:solidFill>
                  <a:srgbClr val="FFFFFF"/>
                </a:solidFill>
              </a:rPr>
              <a:t>03</a:t>
            </a:r>
          </a:p>
        </p:txBody>
      </p:sp>
      <p:sp>
        <p:nvSpPr>
          <p:cNvPr id="18" name="TextBox 17"/>
          <p:cNvSpPr txBox="1"/>
          <p:nvPr/>
        </p:nvSpPr>
        <p:spPr>
          <a:xfrm>
            <a:off x="1325880" y="3511296"/>
            <a:ext cx="10424160" cy="457200"/>
          </a:xfrm>
          <a:prstGeom prst="rect">
            <a:avLst/>
          </a:prstGeom>
          <a:noFill/>
        </p:spPr>
        <p:txBody>
          <a:bodyPr wrap="square">
            <a:spAutoFit/>
          </a:bodyPr>
          <a:lstStyle/>
          <a:p>
            <a:pPr algn="l"/>
            <a:r>
              <a:rPr sz="1600" b="1">
                <a:solidFill>
                  <a:srgbClr val="FF9900"/>
                </a:solidFill>
              </a:rPr>
              <a:t>AWS本番環境を意識したインフラ設計</a:t>
            </a:r>
          </a:p>
        </p:txBody>
      </p:sp>
      <p:sp>
        <p:nvSpPr>
          <p:cNvPr id="19" name="TextBox 18"/>
          <p:cNvSpPr txBox="1"/>
          <p:nvPr/>
        </p:nvSpPr>
        <p:spPr>
          <a:xfrm>
            <a:off x="1325880" y="3968496"/>
            <a:ext cx="10424160" cy="502920"/>
          </a:xfrm>
          <a:prstGeom prst="rect">
            <a:avLst/>
          </a:prstGeom>
          <a:noFill/>
        </p:spPr>
        <p:txBody>
          <a:bodyPr wrap="square">
            <a:spAutoFit/>
          </a:bodyPr>
          <a:lstStyle/>
          <a:p>
            <a:pPr algn="l"/>
            <a:r>
              <a:rPr sz="1200" b="0">
                <a:solidFill>
                  <a:srgbClr val="CCCCCC"/>
                </a:solidFill>
              </a:rPr>
              <a:t>OIDC認証・ECR/ECS・Terraform・最小権限・prevent_destroyの本番ベストプラクティスを適用</a:t>
            </a:r>
          </a:p>
        </p:txBody>
      </p:sp>
      <p:sp>
        <p:nvSpPr>
          <p:cNvPr id="20" name="Rounded Rectangle 19"/>
          <p:cNvSpPr/>
          <p:nvPr/>
        </p:nvSpPr>
        <p:spPr>
          <a:xfrm>
            <a:off x="274320" y="4645152"/>
            <a:ext cx="11640312" cy="1170432"/>
          </a:xfrm>
          <a:prstGeom prst="roundRect">
            <a:avLst/>
          </a:prstGeom>
          <a:solidFill>
            <a:srgbClr val="252540"/>
          </a:solidFill>
          <a:ln w="25400">
            <a:solidFill>
              <a:srgbClr val="4EC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411480" y="4828032"/>
            <a:ext cx="777240" cy="777240"/>
          </a:xfrm>
          <a:prstGeom prst="ellipse">
            <a:avLst/>
          </a:prstGeom>
          <a:solidFill>
            <a:srgbClr val="4EC9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1480" y="4828032"/>
            <a:ext cx="777240" cy="777240"/>
          </a:xfrm>
          <a:prstGeom prst="rect">
            <a:avLst/>
          </a:prstGeom>
          <a:noFill/>
        </p:spPr>
        <p:txBody>
          <a:bodyPr wrap="square">
            <a:spAutoFit/>
          </a:bodyPr>
          <a:lstStyle/>
          <a:p>
            <a:pPr algn="ctr"/>
            <a:r>
              <a:rPr sz="1700" b="1">
                <a:solidFill>
                  <a:srgbClr val="FFFFFF"/>
                </a:solidFill>
              </a:rPr>
              <a:t>04</a:t>
            </a:r>
          </a:p>
        </p:txBody>
      </p:sp>
      <p:sp>
        <p:nvSpPr>
          <p:cNvPr id="23" name="TextBox 22"/>
          <p:cNvSpPr txBox="1"/>
          <p:nvPr/>
        </p:nvSpPr>
        <p:spPr>
          <a:xfrm>
            <a:off x="1325880" y="4754880"/>
            <a:ext cx="10424160" cy="457200"/>
          </a:xfrm>
          <a:prstGeom prst="rect">
            <a:avLst/>
          </a:prstGeom>
          <a:noFill/>
        </p:spPr>
        <p:txBody>
          <a:bodyPr wrap="square">
            <a:spAutoFit/>
          </a:bodyPr>
          <a:lstStyle/>
          <a:p>
            <a:pPr algn="l"/>
            <a:r>
              <a:rPr sz="1600" b="1">
                <a:solidFill>
                  <a:srgbClr val="4EC97E"/>
                </a:solidFill>
              </a:rPr>
              <a:t>11件のトラブルを根本解決</a:t>
            </a:r>
          </a:p>
        </p:txBody>
      </p:sp>
      <p:sp>
        <p:nvSpPr>
          <p:cNvPr id="24" name="TextBox 23"/>
          <p:cNvSpPr txBox="1"/>
          <p:nvPr/>
        </p:nvSpPr>
        <p:spPr>
          <a:xfrm>
            <a:off x="1325880" y="5212080"/>
            <a:ext cx="10424160" cy="502920"/>
          </a:xfrm>
          <a:prstGeom prst="rect">
            <a:avLst/>
          </a:prstGeom>
          <a:noFill/>
        </p:spPr>
        <p:txBody>
          <a:bodyPr wrap="square">
            <a:spAutoFit/>
          </a:bodyPr>
          <a:lstStyle/>
          <a:p>
            <a:pPr algn="l"/>
            <a:r>
              <a:rPr sz="1200" b="0">
                <a:solidFill>
                  <a:srgbClr val="CCCCCC"/>
                </a:solidFill>
              </a:rPr>
              <a:t>エラーメッセージから根本原因を特定し再発防止策を設計。実践的なデバッグ力を実証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f8e20e6-048a-4bad-a26b-318dd1cd4d47}" enabled="1" method="Privileged" siteId="{66c65d8a-9158-4521-a2d8-664963db48e4}" contentBits="0" removed="0"/>
</clbl:labelList>
</file>

<file path=docProps/app.xml><?xml version="1.0" encoding="utf-8"?>
<Properties xmlns="http://schemas.openxmlformats.org/officeDocument/2006/extended-properties" xmlns:vt="http://schemas.openxmlformats.org/officeDocument/2006/docPropsVTypes">
  <TotalTime>21</TotalTime>
  <Words>2037</Words>
  <Application>Microsoft Office PowerPoint</Application>
  <PresentationFormat>ユーザー設定</PresentationFormat>
  <Paragraphs>401</Paragraphs>
  <Slides>11</Slides>
  <Notes>11</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11</vt:i4>
      </vt:variant>
    </vt:vector>
  </HeadingPairs>
  <TitlesOfParts>
    <vt:vector size="14" baseType="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Yoshida, Hiroshi (SMOJ)</cp:lastModifiedBy>
  <cp:revision>2</cp:revision>
  <dcterms:created xsi:type="dcterms:W3CDTF">2013-01-27T09:14:16Z</dcterms:created>
  <dcterms:modified xsi:type="dcterms:W3CDTF">2026-06-27T05:46:17Z</dcterms:modified>
  <cp:category/>
</cp:coreProperties>
</file>