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4303" autoAdjust="0"/>
  </p:normalViewPr>
  <p:slideViewPr>
    <p:cSldViewPr snapToGrid="0" snapToObjects="1">
      <p:cViewPr varScale="1">
        <p:scale>
          <a:sx n="82" d="100"/>
          <a:sy n="82" d="100"/>
        </p:scale>
        <p:origin x="1674"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9553345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【ナレーション】</a:t>
            </a:r>
          </a:p>
          <a:p>
            <a:r>
              <a:t>こんにちは。本日は「CI/CDパイプライン ポートフォリオプロジェクト」についてご紹介します。</a:t>
            </a:r>
          </a:p>
          <a:p>
            <a:endParaRPr/>
          </a:p>
          <a:p>
            <a:r>
              <a:t>このプロジェクトは、PythonアプリケーションとDockerコンテナ、そしてTerraformによるAWSインフラを対象に、ゼロから本番を意識したCI/CDパイプラインを構築した学習成果です。</a:t>
            </a:r>
          </a:p>
          <a:p>
            <a:endParaRPr/>
          </a:p>
          <a:p>
            <a:r>
              <a:t>GitHub Actions・Terraform・Docker・ECR/ECS・Trivy+CodeQLという複数のツールを組み合わせ、約1週間で実装しました。</a:t>
            </a:r>
          </a:p>
          <a:p>
            <a:endParaRPr/>
          </a:p>
          <a:p>
            <a:r>
              <a:t>これから、実装した内容と学んだことを順番にご説明します。</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【ナレーション】</a:t>
            </a:r>
          </a:p>
          <a:p>
            <a:r>
              <a:t>このプロジェクトは大きく4つの柱で構成されています。</a:t>
            </a:r>
          </a:p>
          <a:p>
            <a:endParaRPr/>
          </a:p>
          <a:p>
            <a:r>
              <a:t>1つ目は「CI」。PRを作成するたびに、コード品質チェック・セキュリティスキャン・Terraform検証が自動実行されます。問題があればマージできない仕組みにしています。</a:t>
            </a:r>
          </a:p>
          <a:p>
            <a:endParaRPr/>
          </a:p>
          <a:p>
            <a:r>
              <a:t>2つ目は「CD」。mainブランチへのマージをトリガーに、dev→stg→prodへ段階的にデプロイします。stgとprodは必ず手動承認を経る設計にして、本番への誤デプロイを防ぎます。</a:t>
            </a:r>
          </a:p>
          <a:p>
            <a:endParaRPr/>
          </a:p>
          <a:p>
            <a:r>
              <a:t>3つ目は「Image CI/CD」。DockerイメージをビルドしてTrivyとCodeQLでセキュリティスキャンを行い、ECRにプッシュしてECS Fargateにデプロイするパイプラインです。</a:t>
            </a:r>
          </a:p>
          <a:p>
            <a:endParaRPr/>
          </a:p>
          <a:p>
            <a:r>
              <a:t>4つ目は「セキュリティ」。コード・依存関係・IaC・コンテナ・ランタイムという5段階の多層防御を実装しました。</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【ナレーション】</a:t>
            </a:r>
          </a:p>
          <a:p>
            <a:r>
              <a:t>全体のフローをご覧ください。</a:t>
            </a:r>
          </a:p>
          <a:p>
            <a:endParaRPr/>
          </a:p>
          <a:p>
            <a:r>
              <a:t>左側でPRを作成すると、CIパイプラインが自動的に起動します。コード品質、テスト、セキュリティスキャン、Terraform検証、そしてDockerイメージのセキュリティスキャンの5種類のジョブがすべて通過して初めてマージが可能になります。</a:t>
            </a:r>
          </a:p>
          <a:p>
            <a:endParaRPr/>
          </a:p>
          <a:p>
            <a:r>
              <a:t>mainブランチへマージされると、右側のCDパイプラインが動き出します。まずdev環境に自動デプロイ、その後stgとprodは承認者が確認してからデプロイする設計です。同時にDockerイメージをECRにプッシュしてECSにデプロイするImage CDも実行されます。</a:t>
            </a:r>
          </a:p>
          <a:p>
            <a:endParaRPr/>
          </a:p>
          <a:p>
            <a:r>
              <a:t>このように、コードの変更が品質とセキュリティの関門をくぐり抜けて初めて本番に届く流れを実現しています。</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【ナレーション】</a:t>
            </a:r>
          </a:p>
          <a:p>
            <a:r>
              <a:t>CIパイプラインの品質チェックについてご説明します。</a:t>
            </a:r>
          </a:p>
          <a:p>
            <a:endParaRPr/>
          </a:p>
          <a:p>
            <a:r>
              <a:t>まず「ruff」はPythonの高速lintツールです。未使用のimportや変数、危険な書き方、そしてimportの並び順まで自動チェックします。実装中、I001エラー（import並び順）に遭遇し、stdlibとサードパーティの区切りを空行で統一して解決しました。</a:t>
            </a:r>
          </a:p>
          <a:p>
            <a:endParaRPr/>
          </a:p>
          <a:p>
            <a:r>
              <a:t>次に「mypy」は静的型チェックツールです。型の不一致や、Noneを考慮しない参照ミスなど、実行してみないと気づきにくいバグを事前に防ぎます。</a:t>
            </a:r>
          </a:p>
          <a:p>
            <a:endParaRPr/>
          </a:p>
          <a:p>
            <a:r>
              <a:t>そして「pytest」でユニットテストを自動実行します。カバレッジ80%以上を閾値として設定し、今回のFlask APIでは92%のカバレッジを達成しました。</a:t>
            </a:r>
          </a:p>
          <a:p>
            <a:endParaRPr/>
          </a:p>
          <a:p>
            <a:r>
              <a:t>これら3つのツールがすべてPRトリガーで自動実行され、問題があればマージできません。</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【ナレーション】</a:t>
            </a:r>
          </a:p>
          <a:p>
            <a:r>
              <a:t>セキュリティスキャンは3つのツールで行っています。</a:t>
            </a:r>
          </a:p>
          <a:p>
            <a:endParaRPr/>
          </a:p>
          <a:p>
            <a:r>
              <a:t>「pip-audit」は依存パッケージの既知脆弱性を検出します。requirements.txtを解析してCVEデータベースと照合し、問題のあるパッケージと修正バージョンを教えてくれます。</a:t>
            </a:r>
          </a:p>
          <a:p>
            <a:endParaRPr/>
          </a:p>
          <a:p>
            <a:r>
              <a:t>「gitleaks」は秘密情報の混入を防ぐツールです。APIキーやトークンが誤ってコードに含まれていないかを、コミット履歴まで含めてスキャンします。</a:t>
            </a:r>
          </a:p>
          <a:p>
            <a:endParaRPr/>
          </a:p>
          <a:p>
            <a:r>
              <a:t>「checkov」はTerraformのセキュリティ設定不備を検出します。S3バケットの公開設定ミスや暗号化の設定漏れなど、クラウドセキュリティのベストプラクティス違反を自動的にフラグします。</a:t>
            </a:r>
          </a:p>
          <a:p>
            <a:endParaRPr/>
          </a:p>
          <a:p>
            <a:r>
              <a:t>これら3つを組み合わせることで、コードが持ち込む脆弱性・シークレット漏えい・インフラ設定ミスをマージ前の段階で防ぐことができます。</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【ナレーション】</a:t>
            </a:r>
          </a:p>
          <a:p>
            <a:r>
              <a:t>このプロジェクトで特に力を入れたのが、5段階の多層防御です。</a:t>
            </a:r>
          </a:p>
          <a:p>
            <a:endParaRPr/>
          </a:p>
          <a:p>
            <a:r>
              <a:t>Layer1はコードを書いた段階でのチェックです。pip-audit・gitleaks・checkovで依存関係の脆弱性、シークレット漏えい、IaC設定ミスを検出します。</a:t>
            </a:r>
          </a:p>
          <a:p>
            <a:endParaRPr/>
          </a:p>
          <a:p>
            <a:r>
              <a:t>Layer2はDockerビルドの前です。TrivyでFSスキャンを行い、requirements.txtが引き込む依存ライブラリに脆弱性がないか確認します。</a:t>
            </a:r>
          </a:p>
          <a:p>
            <a:endParaRPr/>
          </a:p>
          <a:p>
            <a:r>
              <a:t>Layer3はビルド後のイメージスキャンです。TrivyでDebian OSのパッケージを解析し、ベースイメージに含まれる脆弱性を検出します。</a:t>
            </a:r>
          </a:p>
          <a:p>
            <a:endParaRPr/>
          </a:p>
          <a:p>
            <a:r>
              <a:t>Layer4はCodeQLによる静的解析（SAST）です。Pythonコード自体にセキュリティバグが含まれていないかを自動で検査します。</a:t>
            </a:r>
          </a:p>
          <a:p>
            <a:endParaRPr/>
          </a:p>
          <a:p>
            <a:r>
              <a:t>そしてLayer5はランタイムセキュリティです。Dockerfileで非rootユーザーを設定し、ファイルシステムを読み取り専用にすることで、コンテナ侵害時の影響を最小化します。</a:t>
            </a:r>
          </a:p>
          <a:p>
            <a:endParaRPr/>
          </a:p>
          <a:p>
            <a:r>
              <a:t>1箇所で防げなくても次の層で止める、という考え方が多層防御の核心です。</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【ナレーション】</a:t>
            </a:r>
          </a:p>
          <a:p>
            <a:r>
              <a:t>Dockerfileのセキュリティ設計についてご説明します。</a:t>
            </a:r>
          </a:p>
          <a:p>
            <a:endParaRPr/>
          </a:p>
          <a:p>
            <a:r>
              <a:t>まずマルチステージビルドを採用しています。Stage1でpipインストールなどビルド作業を行い、Stage2ではビルド成果物だけをコピーして本番イメージを作ります。これにより、ビルドツールや一時ファイルが本番イメージに含まれなくなり、攻撃面を減らせます。</a:t>
            </a:r>
          </a:p>
          <a:p>
            <a:endParaRPr/>
          </a:p>
          <a:p>
            <a:r>
              <a:t>ベースイメージはpython:3.14-slimを選択しました。当初python:3.12-slimを使っていたところTrivyでOSパッケージの脆弱性が多数検出され、3.14-slimに更新してセキュリティを改善しました。</a:t>
            </a:r>
          </a:p>
          <a:p>
            <a:endParaRPr/>
          </a:p>
          <a:p>
            <a:r>
              <a:t>非rootユーザーの設定も重要です。UID/GID 1001でappuserを作成し、コンテナ内プロセスを非rootで実行することで、万一コンテナが侵害されてもホストへの影響を最小化します。</a:t>
            </a:r>
          </a:p>
          <a:p>
            <a:endParaRPr/>
          </a:p>
          <a:p>
            <a:r>
              <a:t>最後にHEALTHCHECKを定義することで、ECSがコンテナの正常性を自動判断し、異常時は自動で再起動する仕組みを実現しています。</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【ナレーション】</a:t>
            </a:r>
          </a:p>
          <a:p>
            <a:r>
              <a:t>Image CI/CDのフローをご説明します。</a:t>
            </a:r>
          </a:p>
          <a:p>
            <a:endParaRPr/>
          </a:p>
          <a:p>
            <a:r>
              <a:t>PRを作成するとimage-ci.ymlが起動し、Dockerビルド → TrivyでFSとイメージスキャン → CodeQL SAST という順でセキュリティチェックを行います。</a:t>
            </a:r>
          </a:p>
          <a:p>
            <a:endParaRPr/>
          </a:p>
          <a:p>
            <a:r>
              <a:t>mainにマージされると、ビルドしたイメージをECRにプッシュし、ECS Fargateのサービスを更新してデプロイします。</a:t>
            </a:r>
          </a:p>
          <a:p>
            <a:endParaRPr/>
          </a:p>
          <a:p>
            <a:r>
              <a:t>ECRの設定で重要なのがイミュータブルタグです。同じタグへの上書きを禁止することで、デプロイ済みイメージが意図せず書き換わることを防ぎます。</a:t>
            </a:r>
          </a:p>
          <a:p>
            <a:endParaRPr/>
          </a:p>
          <a:p>
            <a:r>
              <a:t>実はここで問題が発生しました。最初は「latest」タグでプッシュしようとしたところ、イミュータブルタグ設定のために409エラーが返ってきました。解決策として、github.sha（コミットハッシュ）をタグとして使用するように変更しました。これにより毎回ユニークなタグになり、さらにどのコミットからビルドされたイメージかが明確に追跡できるようになりました。</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【ナレーション】</a:t>
            </a:r>
          </a:p>
          <a:p>
            <a:r>
              <a:t>AWS認証の設計についてご説明します。</a:t>
            </a:r>
          </a:p>
          <a:p>
            <a:endParaRPr/>
          </a:p>
          <a:p>
            <a:r>
              <a:t>GitHub ActionsからAWSを操作するとき、よくあるのがアクセスキーをGitHub Secretsに保存する方法ですが、このプロジェクトではOIDC（OpenID Connect）を使った一時的な認証情報の取得を採用しました。</a:t>
            </a:r>
          </a:p>
          <a:p>
            <a:endParaRPr/>
          </a:p>
          <a:p>
            <a:r>
              <a:t>フローとしては、まずGitHub ActionsがJWTトークンを発行し、そのトークンをAWS STSのAssumeRoleWithWebIdentityに渡します。STSが信頼性を検証すると、有効期限が15分の一時的な認証情報が発行され、その認証情報でTerraform applyやECRプッシュを実行します。</a:t>
            </a:r>
          </a:p>
          <a:p>
            <a:endParaRPr/>
          </a:p>
          <a:p>
            <a:r>
              <a:t>この設計のメリットは3つです。まず長期アクセスキーを保存しないため、仮にGitHub Secretsが漏えいしても悪用できません。次に、IAMロールに必要な操作だけを許可する最小権限を徹底します。そして、特定のリポジトリとブランチからのみAssumeRoleを許可するポリシーで、意図しないリポジトリからの操作を防ぎます。</a:t>
            </a:r>
          </a:p>
          <a:p>
            <a:endParaRPr/>
          </a:p>
          <a:p>
            <a:r>
              <a:t>実装中にはIAM信頼ポリシーのsub条件が厳しすぎてOIDC認証が失敗するトラブルも経験し、StringLike条件でリポジトリスコープに調整して解決しました。</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【ナレーション】</a:t>
            </a:r>
          </a:p>
          <a:p>
            <a:r>
              <a:t>CDパイプラインの段階的デプロイについてご説明します。</a:t>
            </a:r>
          </a:p>
          <a:p>
            <a:endParaRPr/>
          </a:p>
          <a:p>
            <a:r>
              <a:t>mainブランチへのマージをトリガーに、まずdeploy-devが自動実行されます。terraform applyでインフラを反映し、その後ヘルスチェックスクリプトでS3バケットの存在確認・タグ確認を自動で行います。</a:t>
            </a:r>
          </a:p>
          <a:p>
            <a:endParaRPr/>
          </a:p>
          <a:p>
            <a:r>
              <a:t>dev環境で問題なければ、承認者がstg環境へのデプロイをApproveします。本番相当の環境でも動作確認したうえで、最後にprod環境への承認を行います。</a:t>
            </a:r>
          </a:p>
          <a:p>
            <a:endParaRPr/>
          </a:p>
          <a:p>
            <a:r>
              <a:t>この設計の重要なポイントは本番保護設計です。Terraformの`lifecycle { prevent_destroy = true }`でS3やデータベースの誤削除を防ぎ、GitHub EnvironmentのApprovers設定でstg/prodは必ず人間の承認を経る仕組みにしています。</a:t>
            </a:r>
          </a:p>
          <a:p>
            <a:endParaRPr/>
          </a:p>
          <a:p>
            <a:r>
              <a:t>段階的にデプロイすることで、問題を早期に発見し本番への影響を最小化できます。</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【ナレーション】</a:t>
            </a:r>
          </a:p>
          <a:p>
            <a:r>
              <a:t>実装中に発生した実際のトラブルと解決策をご紹介します。全部で11件です。</a:t>
            </a:r>
          </a:p>
          <a:p>
            <a:endParaRPr/>
          </a:p>
          <a:p>
            <a:r>
              <a:t>最初のトラブル群は環境設定関連です。CDがスキップされる問題ではRepository Variablesの未設定が原因でした。OIDC認証失敗ではIAMの信頼ポリシーの条件式が厳格すぎて、StringLikeに変更して解決しました。YAML構文エラーではBOM付きUTF-8が問題で、BOMなしで保存し直しました。</a:t>
            </a:r>
          </a:p>
          <a:p>
            <a:endParaRPr/>
          </a:p>
          <a:p>
            <a:r>
              <a:t>次のグループはツール設定関連です。ruffのimport順エラー、mypyのスコープ設定、TerraformのDuplicate定義エラーなど、ツール特有の設定を学ぶ機会になりました。</a:t>
            </a:r>
          </a:p>
          <a:p>
            <a:endParaRPr/>
          </a:p>
          <a:p>
            <a:r>
              <a:t>後半はAWS・インフラ関連です。S3の409エラーはterraform importでstateと実リソースの不整合を解消しました。ヘルスチェックの403エラーはIAMロールにList/Get権限を追加して解決。ECRの409エラーはイミュータブルタグの設計をgithub.shaタグに変更して根本解決しました。</a:t>
            </a:r>
          </a:p>
          <a:p>
            <a:endParaRPr/>
          </a:p>
          <a:p>
            <a:r>
              <a:t>これらのトラブルは単なる失敗ではなく、実際の開発現場で起きうる問題への対処経験です。エラーメッセージから根本原因を特定し、再発防止まで設計する力を養いました。</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【ナレーション】</a:t>
            </a:r>
          </a:p>
          <a:p>
            <a:r>
              <a:t>このプロジェクトで実践的に習得した技術スタックをご紹介します。</a:t>
            </a:r>
          </a:p>
          <a:p>
            <a:endParaRPr/>
          </a:p>
          <a:p>
            <a:r>
              <a:t>GitHub Actionsではワークフローの設計から、OIDC認証連携、Environment approvalによる承認フローまで実装しました。</a:t>
            </a:r>
          </a:p>
          <a:p>
            <a:endParaRPr/>
          </a:p>
          <a:p>
            <a:r>
              <a:t>AWSはECR・ECS・IAM・S3を実際に使って構築しています。特にOIDC連携によるIAMロールの設計と、ECRのイミュータブルタグ設計に苦労しながら学びました。</a:t>
            </a:r>
          </a:p>
          <a:p>
            <a:endParaRPr/>
          </a:p>
          <a:p>
            <a:r>
              <a:t>セキュリティはTrivy・CodeQL・pip-audit・gitleaks・checkovという5つのツールを組み合わせ、5段階の多層防御を設計・実装しました。</a:t>
            </a:r>
          </a:p>
          <a:p>
            <a:endParaRPr/>
          </a:p>
          <a:p>
            <a:r>
              <a:t>IaC/DockerではTerraformのマルチ環境構成とDockerのセキュリティベストプラクティスを実践しました。</a:t>
            </a:r>
          </a:p>
          <a:p>
            <a:endParaRPr/>
          </a:p>
          <a:p>
            <a:r>
              <a:t>PythonはFlask APIを実装し、ruff・mypy・pytestによる品質管理まで一貫して行いました。カバレッジは92%を達成しています。</a:t>
            </a:r>
          </a:p>
          <a:p>
            <a:endParaRPr/>
          </a:p>
          <a:p>
            <a:r>
              <a:t>単にツールを使うだけでなく、なぜこの設計にするのかという理由まで理解した上で実装しています。</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【ナレーション】</a:t>
            </a:r>
          </a:p>
          <a:p>
            <a:r>
              <a:t>最後に現在の制限と今後の拡張計画についてお話しします。</a:t>
            </a:r>
          </a:p>
          <a:p>
            <a:endParaRPr/>
          </a:p>
          <a:p>
            <a:r>
              <a:t>現時点では3つの制限があります。1つ目はSlack通知が未実装で、CIの失敗をリアルタイムで知ることができません。2つ目はTerraform stateがローカル管理のため、チームでの並行作業に対応できていません。3つ目はECSデプロイがdev環境のみで、stg/prodのECS承認フローが未実装です。</a:t>
            </a:r>
          </a:p>
          <a:p>
            <a:endParaRPr/>
          </a:p>
          <a:p>
            <a:r>
              <a:t>次のステップとして5つの拡張を計画しています。通知の統合、CloudWatchによる監視強化、Terraform modulesとremote state設定、Blue/Greenデプロイメント、そしてE2Eテストの追加です。</a:t>
            </a:r>
          </a:p>
          <a:p>
            <a:endParaRPr/>
          </a:p>
          <a:p>
            <a:r>
              <a:t>今回のプロジェクトでCI/CDの基盤を確立できました。この基盤の上に監視・通知・高度なデプロイ戦略を積み重ねることで、より本番品質に近いシステムを目指します。</a:t>
            </a:r>
          </a:p>
          <a:p>
            <a:endParaRPr/>
          </a:p>
          <a:p>
            <a:r>
              <a:t>ご清聴ありがとうございました。</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【ナレーション】</a:t>
            </a:r>
          </a:p>
          <a:p>
            <a:r>
              <a:t>まとめです。</a:t>
            </a:r>
          </a:p>
          <a:p>
            <a:endParaRPr/>
          </a:p>
          <a:p>
            <a:r>
              <a:t>このプロジェクトで達成したことは4点あります。</a:t>
            </a:r>
          </a:p>
          <a:p>
            <a:endParaRPr/>
          </a:p>
          <a:p>
            <a:r>
              <a:t>1点目は、CI/CDパイプラインをゼロから設計・構築したことです。PR作成から本番デプロイまでの流れを、GitHub Actionsで一気通貫で自動化しました。</a:t>
            </a:r>
          </a:p>
          <a:p>
            <a:endParaRPr/>
          </a:p>
          <a:p>
            <a:r>
              <a:t>2点目は、5段階の多層セキュリティを実践したことです。Trivy・CodeQL・checkov・pip-audit・gitleaksを組み合わせ、コードからランタイムまで隙間のないセキュリティ検査を実現しました。</a:t>
            </a:r>
          </a:p>
          <a:p>
            <a:endParaRPr/>
          </a:p>
          <a:p>
            <a:r>
              <a:t>3点目は、AWS本番環境を意識したインフラ設計です。OIDC認証・ECR/ECS・Terraform・最小権限という、実際のプロジェクトで使われるベストプラクティスを実践しました。</a:t>
            </a:r>
          </a:p>
          <a:p>
            <a:endParaRPr/>
          </a:p>
          <a:p>
            <a:r>
              <a:t>4点目は、11件のトラブルを実際に解決したことです。エラーメッセージから根本原因を特定し再発防止策まで設計する、実践的なデバッグ力と問題解決力を示せました。</a:t>
            </a:r>
          </a:p>
          <a:p>
            <a:endParaRPr/>
          </a:p>
          <a:p>
            <a:r>
              <a:t>以上が「CI/CD Pipeline Portfolio Project」のご紹介でした。ご質問があればお気軽にどうぞ。</a:t>
            </a:r>
          </a:p>
          <a:p>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E1E2E"/>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61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589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217920"/>
            <a:ext cx="12188952" cy="640080"/>
          </a:xfrm>
          <a:prstGeom prst="rect">
            <a:avLst/>
          </a:prstGeom>
          <a:solidFill>
            <a:srgbClr val="589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371600"/>
            <a:ext cx="10972800" cy="1097280"/>
          </a:xfrm>
          <a:prstGeom prst="rect">
            <a:avLst/>
          </a:prstGeom>
          <a:noFill/>
        </p:spPr>
        <p:txBody>
          <a:bodyPr wrap="square">
            <a:spAutoFit/>
          </a:bodyPr>
          <a:lstStyle/>
          <a:p>
            <a:pPr algn="ctr"/>
            <a:r>
              <a:rPr sz="5200" b="1">
                <a:solidFill>
                  <a:srgbClr val="FFFFFF"/>
                </a:solidFill>
              </a:rPr>
              <a:t>CI/CD Pipeline</a:t>
            </a:r>
          </a:p>
        </p:txBody>
      </p:sp>
      <p:sp>
        <p:nvSpPr>
          <p:cNvPr id="6" name="TextBox 5"/>
          <p:cNvSpPr txBox="1"/>
          <p:nvPr/>
        </p:nvSpPr>
        <p:spPr>
          <a:xfrm>
            <a:off x="457200" y="2286000"/>
            <a:ext cx="10972800" cy="914400"/>
          </a:xfrm>
          <a:prstGeom prst="rect">
            <a:avLst/>
          </a:prstGeom>
          <a:noFill/>
        </p:spPr>
        <p:txBody>
          <a:bodyPr wrap="square">
            <a:spAutoFit/>
          </a:bodyPr>
          <a:lstStyle/>
          <a:p>
            <a:pPr algn="ctr"/>
            <a:r>
              <a:rPr sz="4000" b="0">
                <a:solidFill>
                  <a:srgbClr val="589DE8"/>
                </a:solidFill>
              </a:rPr>
              <a:t>Portfolio Project</a:t>
            </a:r>
          </a:p>
        </p:txBody>
      </p:sp>
      <p:sp>
        <p:nvSpPr>
          <p:cNvPr id="7" name="TextBox 6"/>
          <p:cNvSpPr txBox="1"/>
          <p:nvPr/>
        </p:nvSpPr>
        <p:spPr>
          <a:xfrm>
            <a:off x="457200" y="3383280"/>
            <a:ext cx="10972800" cy="548640"/>
          </a:xfrm>
          <a:prstGeom prst="rect">
            <a:avLst/>
          </a:prstGeom>
          <a:noFill/>
        </p:spPr>
        <p:txBody>
          <a:bodyPr wrap="square">
            <a:spAutoFit/>
          </a:bodyPr>
          <a:lstStyle/>
          <a:p>
            <a:pPr algn="ctr"/>
            <a:r>
              <a:rPr sz="2000" b="0">
                <a:solidFill>
                  <a:srgbClr val="CCCCCC"/>
                </a:solidFill>
              </a:rPr>
              <a:t>Python × Docker × Terraform × AWS</a:t>
            </a:r>
          </a:p>
        </p:txBody>
      </p:sp>
      <p:sp>
        <p:nvSpPr>
          <p:cNvPr id="8" name="TextBox 7"/>
          <p:cNvSpPr txBox="1"/>
          <p:nvPr/>
        </p:nvSpPr>
        <p:spPr>
          <a:xfrm>
            <a:off x="457200" y="4023360"/>
            <a:ext cx="10972800" cy="457200"/>
          </a:xfrm>
          <a:prstGeom prst="rect">
            <a:avLst/>
          </a:prstGeom>
          <a:noFill/>
        </p:spPr>
        <p:txBody>
          <a:bodyPr wrap="square">
            <a:spAutoFit/>
          </a:bodyPr>
          <a:lstStyle/>
          <a:p>
            <a:pPr algn="ctr"/>
            <a:r>
              <a:rPr sz="1600" b="0">
                <a:solidFill>
                  <a:srgbClr val="CCCCCC"/>
                </a:solidFill>
              </a:rPr>
              <a:t>実装期間: 2026-06-21 〜 2026-06-27（約1週間）</a:t>
            </a:r>
          </a:p>
        </p:txBody>
      </p:sp>
      <p:sp>
        <p:nvSpPr>
          <p:cNvPr id="9" name="Rectangle 8"/>
          <p:cNvSpPr/>
          <p:nvPr/>
        </p:nvSpPr>
        <p:spPr>
          <a:xfrm>
            <a:off x="457200" y="4846320"/>
            <a:ext cx="1920240" cy="502920"/>
          </a:xfrm>
          <a:prstGeom prst="rect">
            <a:avLst/>
          </a:prstGeom>
          <a:solidFill>
            <a:srgbClr val="589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4846320"/>
            <a:ext cx="1920240" cy="502920"/>
          </a:xfrm>
          <a:prstGeom prst="rect">
            <a:avLst/>
          </a:prstGeom>
          <a:noFill/>
        </p:spPr>
        <p:txBody>
          <a:bodyPr wrap="square">
            <a:spAutoFit/>
          </a:bodyPr>
          <a:lstStyle/>
          <a:p>
            <a:pPr algn="ctr"/>
            <a:r>
              <a:rPr sz="1300" b="1">
                <a:solidFill>
                  <a:srgbClr val="FFFFFF"/>
                </a:solidFill>
              </a:rPr>
              <a:t>GitHub Actions</a:t>
            </a:r>
          </a:p>
        </p:txBody>
      </p:sp>
      <p:sp>
        <p:nvSpPr>
          <p:cNvPr id="11" name="Rectangle 10"/>
          <p:cNvSpPr/>
          <p:nvPr/>
        </p:nvSpPr>
        <p:spPr>
          <a:xfrm>
            <a:off x="2487168" y="4846320"/>
            <a:ext cx="1920240" cy="502920"/>
          </a:xfrm>
          <a:prstGeom prst="rect">
            <a:avLst/>
          </a:prstGeom>
          <a:solidFill>
            <a:srgbClr val="589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487168" y="4846320"/>
            <a:ext cx="1920240" cy="502920"/>
          </a:xfrm>
          <a:prstGeom prst="rect">
            <a:avLst/>
          </a:prstGeom>
          <a:noFill/>
        </p:spPr>
        <p:txBody>
          <a:bodyPr wrap="square">
            <a:spAutoFit/>
          </a:bodyPr>
          <a:lstStyle/>
          <a:p>
            <a:pPr algn="ctr"/>
            <a:r>
              <a:rPr sz="1300" b="1">
                <a:solidFill>
                  <a:srgbClr val="FFFFFF"/>
                </a:solidFill>
              </a:rPr>
              <a:t>Terraform</a:t>
            </a:r>
          </a:p>
        </p:txBody>
      </p:sp>
      <p:sp>
        <p:nvSpPr>
          <p:cNvPr id="13" name="Rectangle 12"/>
          <p:cNvSpPr/>
          <p:nvPr/>
        </p:nvSpPr>
        <p:spPr>
          <a:xfrm>
            <a:off x="4517136" y="4846320"/>
            <a:ext cx="1920240" cy="502920"/>
          </a:xfrm>
          <a:prstGeom prst="rect">
            <a:avLst/>
          </a:prstGeom>
          <a:solidFill>
            <a:srgbClr val="589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17136" y="4846320"/>
            <a:ext cx="1920240" cy="502920"/>
          </a:xfrm>
          <a:prstGeom prst="rect">
            <a:avLst/>
          </a:prstGeom>
          <a:noFill/>
        </p:spPr>
        <p:txBody>
          <a:bodyPr wrap="square">
            <a:spAutoFit/>
          </a:bodyPr>
          <a:lstStyle/>
          <a:p>
            <a:pPr algn="ctr"/>
            <a:r>
              <a:rPr sz="1300" b="1">
                <a:solidFill>
                  <a:srgbClr val="FFFFFF"/>
                </a:solidFill>
              </a:rPr>
              <a:t>Docker</a:t>
            </a:r>
          </a:p>
        </p:txBody>
      </p:sp>
      <p:sp>
        <p:nvSpPr>
          <p:cNvPr id="15" name="Rectangle 14"/>
          <p:cNvSpPr/>
          <p:nvPr/>
        </p:nvSpPr>
        <p:spPr>
          <a:xfrm>
            <a:off x="6547104" y="4846320"/>
            <a:ext cx="1920240" cy="502920"/>
          </a:xfrm>
          <a:prstGeom prst="rect">
            <a:avLst/>
          </a:prstGeom>
          <a:solidFill>
            <a:srgbClr val="589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547104" y="4846320"/>
            <a:ext cx="1920240" cy="502920"/>
          </a:xfrm>
          <a:prstGeom prst="rect">
            <a:avLst/>
          </a:prstGeom>
          <a:noFill/>
        </p:spPr>
        <p:txBody>
          <a:bodyPr wrap="square">
            <a:spAutoFit/>
          </a:bodyPr>
          <a:lstStyle/>
          <a:p>
            <a:pPr algn="ctr"/>
            <a:r>
              <a:rPr sz="1300" b="1">
                <a:solidFill>
                  <a:srgbClr val="FFFFFF"/>
                </a:solidFill>
              </a:rPr>
              <a:t>ECR / ECS</a:t>
            </a:r>
          </a:p>
        </p:txBody>
      </p:sp>
      <p:sp>
        <p:nvSpPr>
          <p:cNvPr id="17" name="Rectangle 16"/>
          <p:cNvSpPr/>
          <p:nvPr/>
        </p:nvSpPr>
        <p:spPr>
          <a:xfrm>
            <a:off x="8577072" y="4846320"/>
            <a:ext cx="1920240" cy="502920"/>
          </a:xfrm>
          <a:prstGeom prst="rect">
            <a:avLst/>
          </a:prstGeom>
          <a:solidFill>
            <a:srgbClr val="589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577072" y="4846320"/>
            <a:ext cx="1920240" cy="502920"/>
          </a:xfrm>
          <a:prstGeom prst="rect">
            <a:avLst/>
          </a:prstGeom>
          <a:noFill/>
        </p:spPr>
        <p:txBody>
          <a:bodyPr wrap="square">
            <a:spAutoFit/>
          </a:bodyPr>
          <a:lstStyle/>
          <a:p>
            <a:pPr algn="ctr"/>
            <a:r>
              <a:rPr sz="1300" b="1">
                <a:solidFill>
                  <a:srgbClr val="FFFFFF"/>
                </a:solidFill>
              </a:rPr>
              <a:t>Trivy + CodeQL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E1E2E"/>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589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10972800" cy="640080"/>
          </a:xfrm>
          <a:prstGeom prst="rect">
            <a:avLst/>
          </a:prstGeom>
          <a:noFill/>
        </p:spPr>
        <p:txBody>
          <a:bodyPr wrap="square">
            <a:spAutoFit/>
          </a:bodyPr>
          <a:lstStyle/>
          <a:p>
            <a:pPr algn="l"/>
            <a:r>
              <a:rPr sz="2800" b="1">
                <a:solidFill>
                  <a:srgbClr val="FFFFFF"/>
                </a:solidFill>
              </a:rPr>
              <a:t>プロジェクト概要</a:t>
            </a:r>
          </a:p>
        </p:txBody>
      </p:sp>
      <p:sp>
        <p:nvSpPr>
          <p:cNvPr id="4" name="TextBox 3"/>
          <p:cNvSpPr txBox="1"/>
          <p:nvPr/>
        </p:nvSpPr>
        <p:spPr>
          <a:xfrm>
            <a:off x="457200" y="731520"/>
            <a:ext cx="10972800" cy="365760"/>
          </a:xfrm>
          <a:prstGeom prst="rect">
            <a:avLst/>
          </a:prstGeom>
          <a:noFill/>
        </p:spPr>
        <p:txBody>
          <a:bodyPr wrap="square">
            <a:spAutoFit/>
          </a:bodyPr>
          <a:lstStyle/>
          <a:p>
            <a:pPr algn="l"/>
            <a:r>
              <a:rPr sz="1400" b="0">
                <a:solidFill>
                  <a:srgbClr val="589DE8"/>
                </a:solidFill>
              </a:rPr>
              <a:t>何を作ったのか</a:t>
            </a:r>
          </a:p>
        </p:txBody>
      </p:sp>
      <p:sp>
        <p:nvSpPr>
          <p:cNvPr id="5" name="Rectangle 4"/>
          <p:cNvSpPr/>
          <p:nvPr/>
        </p:nvSpPr>
        <p:spPr>
          <a:xfrm>
            <a:off x="0" y="6675120"/>
            <a:ext cx="12188952" cy="182880"/>
          </a:xfrm>
          <a:prstGeom prst="rect">
            <a:avLst/>
          </a:prstGeom>
          <a:solidFill>
            <a:srgbClr val="589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65760" y="1280160"/>
            <a:ext cx="2651760" cy="4114800"/>
          </a:xfrm>
          <a:prstGeom prst="rect">
            <a:avLst/>
          </a:prstGeom>
          <a:solidFill>
            <a:srgbClr val="2D2D44"/>
          </a:solidFill>
          <a:ln w="19050">
            <a:solidFill>
              <a:srgbClr val="589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65760" y="1280160"/>
            <a:ext cx="2651760" cy="457200"/>
          </a:xfrm>
          <a:prstGeom prst="rect">
            <a:avLst/>
          </a:prstGeom>
          <a:solidFill>
            <a:srgbClr val="589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5760" y="1280160"/>
            <a:ext cx="2651760" cy="457200"/>
          </a:xfrm>
          <a:prstGeom prst="rect">
            <a:avLst/>
          </a:prstGeom>
          <a:noFill/>
        </p:spPr>
        <p:txBody>
          <a:bodyPr wrap="square">
            <a:spAutoFit/>
          </a:bodyPr>
          <a:lstStyle/>
          <a:p>
            <a:pPr algn="ctr"/>
            <a:r>
              <a:rPr sz="1600" b="1">
                <a:solidFill>
                  <a:srgbClr val="FFFFFF"/>
                </a:solidFill>
              </a:rPr>
              <a:t>CI</a:t>
            </a:r>
          </a:p>
        </p:txBody>
      </p:sp>
      <p:sp>
        <p:nvSpPr>
          <p:cNvPr id="9" name="TextBox 8"/>
          <p:cNvSpPr txBox="1"/>
          <p:nvPr/>
        </p:nvSpPr>
        <p:spPr>
          <a:xfrm>
            <a:off x="502920" y="1828800"/>
            <a:ext cx="2377440" cy="3200400"/>
          </a:xfrm>
          <a:prstGeom prst="rect">
            <a:avLst/>
          </a:prstGeom>
          <a:noFill/>
        </p:spPr>
        <p:txBody>
          <a:bodyPr wrap="square">
            <a:spAutoFit/>
          </a:bodyPr>
          <a:lstStyle/>
          <a:p>
            <a:pPr algn="l"/>
            <a:r>
              <a:rPr sz="1200" b="0">
                <a:solidFill>
                  <a:srgbClr val="CCCCCC"/>
                </a:solidFill>
              </a:rPr>
              <a:t>PR作成時に品質・セキュリティを自動チェック
ruff / mypy / pytest / pip-audit / gitleaks / checkov / Terraform検証
問題があればマージ不可</a:t>
            </a:r>
          </a:p>
        </p:txBody>
      </p:sp>
      <p:sp>
        <p:nvSpPr>
          <p:cNvPr id="10" name="Rectangle 9"/>
          <p:cNvSpPr/>
          <p:nvPr/>
        </p:nvSpPr>
        <p:spPr>
          <a:xfrm>
            <a:off x="3200400" y="1280160"/>
            <a:ext cx="2651760" cy="4114800"/>
          </a:xfrm>
          <a:prstGeom prst="rect">
            <a:avLst/>
          </a:prstGeom>
          <a:solidFill>
            <a:srgbClr val="2D2D44"/>
          </a:solidFill>
          <a:ln w="19050">
            <a:solidFill>
              <a:srgbClr val="4EC97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200400" y="1280160"/>
            <a:ext cx="2651760" cy="457200"/>
          </a:xfrm>
          <a:prstGeom prst="rect">
            <a:avLst/>
          </a:prstGeom>
          <a:solidFill>
            <a:srgbClr val="4EC9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200400" y="1280160"/>
            <a:ext cx="2651760" cy="457200"/>
          </a:xfrm>
          <a:prstGeom prst="rect">
            <a:avLst/>
          </a:prstGeom>
          <a:noFill/>
        </p:spPr>
        <p:txBody>
          <a:bodyPr wrap="square">
            <a:spAutoFit/>
          </a:bodyPr>
          <a:lstStyle/>
          <a:p>
            <a:pPr algn="ctr"/>
            <a:r>
              <a:rPr sz="1600" b="1">
                <a:solidFill>
                  <a:srgbClr val="FFFFFF"/>
                </a:solidFill>
              </a:rPr>
              <a:t>CD</a:t>
            </a:r>
          </a:p>
        </p:txBody>
      </p:sp>
      <p:sp>
        <p:nvSpPr>
          <p:cNvPr id="13" name="TextBox 12"/>
          <p:cNvSpPr txBox="1"/>
          <p:nvPr/>
        </p:nvSpPr>
        <p:spPr>
          <a:xfrm>
            <a:off x="3337560" y="1828800"/>
            <a:ext cx="2377440" cy="3200400"/>
          </a:xfrm>
          <a:prstGeom prst="rect">
            <a:avLst/>
          </a:prstGeom>
          <a:noFill/>
        </p:spPr>
        <p:txBody>
          <a:bodyPr wrap="square">
            <a:spAutoFit/>
          </a:bodyPr>
          <a:lstStyle/>
          <a:p>
            <a:pPr algn="l"/>
            <a:r>
              <a:rPr sz="1200" b="0">
                <a:solidFill>
                  <a:srgbClr val="CCCCCC"/>
                </a:solidFill>
              </a:rPr>
              <a:t>main マージ時に段階的自動デプロイ
dev → stg → prod
stg/prod は手動承認フロー</a:t>
            </a:r>
          </a:p>
        </p:txBody>
      </p:sp>
      <p:sp>
        <p:nvSpPr>
          <p:cNvPr id="14" name="Rectangle 13"/>
          <p:cNvSpPr/>
          <p:nvPr/>
        </p:nvSpPr>
        <p:spPr>
          <a:xfrm>
            <a:off x="6035040" y="1280160"/>
            <a:ext cx="2651760" cy="4114800"/>
          </a:xfrm>
          <a:prstGeom prst="rect">
            <a:avLst/>
          </a:prstGeom>
          <a:solidFill>
            <a:srgbClr val="2D2D44"/>
          </a:solidFill>
          <a:ln w="19050">
            <a:solidFill>
              <a:srgbClr val="FF9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035040" y="1280160"/>
            <a:ext cx="2651760" cy="457200"/>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035040" y="1280160"/>
            <a:ext cx="2651760" cy="457200"/>
          </a:xfrm>
          <a:prstGeom prst="rect">
            <a:avLst/>
          </a:prstGeom>
          <a:noFill/>
        </p:spPr>
        <p:txBody>
          <a:bodyPr wrap="square">
            <a:spAutoFit/>
          </a:bodyPr>
          <a:lstStyle/>
          <a:p>
            <a:pPr algn="ctr"/>
            <a:r>
              <a:rPr sz="1600" b="1">
                <a:solidFill>
                  <a:srgbClr val="FFFFFF"/>
                </a:solidFill>
              </a:rPr>
              <a:t>Image CI/CD</a:t>
            </a:r>
          </a:p>
        </p:txBody>
      </p:sp>
      <p:sp>
        <p:nvSpPr>
          <p:cNvPr id="17" name="TextBox 16"/>
          <p:cNvSpPr txBox="1"/>
          <p:nvPr/>
        </p:nvSpPr>
        <p:spPr>
          <a:xfrm>
            <a:off x="6172200" y="1828800"/>
            <a:ext cx="2377440" cy="3200400"/>
          </a:xfrm>
          <a:prstGeom prst="rect">
            <a:avLst/>
          </a:prstGeom>
          <a:noFill/>
        </p:spPr>
        <p:txBody>
          <a:bodyPr wrap="square">
            <a:spAutoFit/>
          </a:bodyPr>
          <a:lstStyle/>
          <a:p>
            <a:pPr algn="l"/>
            <a:r>
              <a:rPr sz="1200" b="0">
                <a:solidFill>
                  <a:srgbClr val="CCCCCC"/>
                </a:solidFill>
              </a:rPr>
              <a:t>Dockerイメージのビルド・スキャン・デプロイ
Trivy FS/image + CodeQL SAST
ECRプッシュ → ECS Fargate デプロイ</a:t>
            </a:r>
          </a:p>
        </p:txBody>
      </p:sp>
      <p:sp>
        <p:nvSpPr>
          <p:cNvPr id="18" name="Rectangle 17"/>
          <p:cNvSpPr/>
          <p:nvPr/>
        </p:nvSpPr>
        <p:spPr>
          <a:xfrm>
            <a:off x="8869680" y="1280160"/>
            <a:ext cx="2651760" cy="4114800"/>
          </a:xfrm>
          <a:prstGeom prst="rect">
            <a:avLst/>
          </a:prstGeom>
          <a:solidFill>
            <a:srgbClr val="2D2D44"/>
          </a:solidFill>
          <a:ln w="19050">
            <a:solidFill>
              <a:srgbClr val="FF5F5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869680" y="1280160"/>
            <a:ext cx="2651760" cy="457200"/>
          </a:xfrm>
          <a:prstGeom prst="rect">
            <a:avLst/>
          </a:prstGeom>
          <a:solidFill>
            <a:srgbClr val="FF5F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869680" y="1280160"/>
            <a:ext cx="2651760" cy="457200"/>
          </a:xfrm>
          <a:prstGeom prst="rect">
            <a:avLst/>
          </a:prstGeom>
          <a:noFill/>
        </p:spPr>
        <p:txBody>
          <a:bodyPr wrap="square">
            <a:spAutoFit/>
          </a:bodyPr>
          <a:lstStyle/>
          <a:p>
            <a:pPr algn="ctr"/>
            <a:r>
              <a:rPr sz="1600" b="1">
                <a:solidFill>
                  <a:srgbClr val="FFFFFF"/>
                </a:solidFill>
              </a:rPr>
              <a:t>セキュリティ</a:t>
            </a:r>
          </a:p>
        </p:txBody>
      </p:sp>
      <p:sp>
        <p:nvSpPr>
          <p:cNvPr id="21" name="TextBox 20"/>
          <p:cNvSpPr txBox="1"/>
          <p:nvPr/>
        </p:nvSpPr>
        <p:spPr>
          <a:xfrm>
            <a:off x="9006840" y="1828800"/>
            <a:ext cx="2377440" cy="3200400"/>
          </a:xfrm>
          <a:prstGeom prst="rect">
            <a:avLst/>
          </a:prstGeom>
          <a:noFill/>
        </p:spPr>
        <p:txBody>
          <a:bodyPr wrap="square">
            <a:spAutoFit/>
          </a:bodyPr>
          <a:lstStyle/>
          <a:p>
            <a:pPr algn="l"/>
            <a:r>
              <a:rPr sz="1200" b="0">
                <a:solidFill>
                  <a:srgbClr val="CCCCCC"/>
                </a:solidFill>
              </a:rPr>
              <a:t>5段階の多層防御
コード・依存関係・IaC・コンテナ・ランタイム
を包括的にスキャン</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E1E2E"/>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589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10972800" cy="640080"/>
          </a:xfrm>
          <a:prstGeom prst="rect">
            <a:avLst/>
          </a:prstGeom>
          <a:noFill/>
        </p:spPr>
        <p:txBody>
          <a:bodyPr wrap="square">
            <a:spAutoFit/>
          </a:bodyPr>
          <a:lstStyle/>
          <a:p>
            <a:pPr algn="l"/>
            <a:r>
              <a:rPr sz="2800" b="1">
                <a:solidFill>
                  <a:srgbClr val="FFFFFF"/>
                </a:solidFill>
              </a:rPr>
              <a:t>全体アーキテクチャ</a:t>
            </a:r>
          </a:p>
        </p:txBody>
      </p:sp>
      <p:sp>
        <p:nvSpPr>
          <p:cNvPr id="4" name="TextBox 3"/>
          <p:cNvSpPr txBox="1"/>
          <p:nvPr/>
        </p:nvSpPr>
        <p:spPr>
          <a:xfrm>
            <a:off x="457200" y="731520"/>
            <a:ext cx="10972800" cy="365760"/>
          </a:xfrm>
          <a:prstGeom prst="rect">
            <a:avLst/>
          </a:prstGeom>
          <a:noFill/>
        </p:spPr>
        <p:txBody>
          <a:bodyPr wrap="square">
            <a:spAutoFit/>
          </a:bodyPr>
          <a:lstStyle/>
          <a:p>
            <a:pPr algn="l"/>
            <a:r>
              <a:rPr sz="1400" b="0">
                <a:solidFill>
                  <a:srgbClr val="589DE8"/>
                </a:solidFill>
              </a:rPr>
              <a:t>PR → CI → merge → CD の流れ</a:t>
            </a:r>
          </a:p>
        </p:txBody>
      </p:sp>
      <p:sp>
        <p:nvSpPr>
          <p:cNvPr id="5" name="Rectangle 4"/>
          <p:cNvSpPr/>
          <p:nvPr/>
        </p:nvSpPr>
        <p:spPr>
          <a:xfrm>
            <a:off x="0" y="6675120"/>
            <a:ext cx="12188952" cy="182880"/>
          </a:xfrm>
          <a:prstGeom prst="rect">
            <a:avLst/>
          </a:prstGeom>
          <a:solidFill>
            <a:srgbClr val="589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74320" y="1188720"/>
            <a:ext cx="2011680" cy="640080"/>
          </a:xfrm>
          <a:prstGeom prst="rect">
            <a:avLst/>
          </a:prstGeom>
          <a:solidFill>
            <a:srgbClr val="2D2D44"/>
          </a:solidFill>
          <a:ln w="19050">
            <a:solidFill>
              <a:srgbClr val="589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1188720"/>
            <a:ext cx="2011680" cy="640080"/>
          </a:xfrm>
          <a:prstGeom prst="rect">
            <a:avLst/>
          </a:prstGeom>
          <a:noFill/>
        </p:spPr>
        <p:txBody>
          <a:bodyPr wrap="square">
            <a:spAutoFit/>
          </a:bodyPr>
          <a:lstStyle/>
          <a:p>
            <a:pPr algn="ctr"/>
            <a:r>
              <a:rPr sz="1500" b="1">
                <a:solidFill>
                  <a:srgbClr val="589DE8"/>
                </a:solidFill>
              </a:rPr>
              <a:t>PR 作成</a:t>
            </a:r>
          </a:p>
        </p:txBody>
      </p:sp>
      <p:sp>
        <p:nvSpPr>
          <p:cNvPr id="8" name="TextBox 7"/>
          <p:cNvSpPr txBox="1"/>
          <p:nvPr/>
        </p:nvSpPr>
        <p:spPr>
          <a:xfrm>
            <a:off x="2331720" y="1234440"/>
            <a:ext cx="365760" cy="548640"/>
          </a:xfrm>
          <a:prstGeom prst="rect">
            <a:avLst/>
          </a:prstGeom>
          <a:noFill/>
        </p:spPr>
        <p:txBody>
          <a:bodyPr wrap="square">
            <a:spAutoFit/>
          </a:bodyPr>
          <a:lstStyle/>
          <a:p>
            <a:pPr algn="ctr"/>
            <a:r>
              <a:rPr sz="2000" b="0">
                <a:solidFill>
                  <a:srgbClr val="CCCCCC"/>
                </a:solidFill>
              </a:rPr>
              <a:t>→</a:t>
            </a:r>
          </a:p>
        </p:txBody>
      </p:sp>
      <p:sp>
        <p:nvSpPr>
          <p:cNvPr id="9" name="Rectangle 8"/>
          <p:cNvSpPr/>
          <p:nvPr/>
        </p:nvSpPr>
        <p:spPr>
          <a:xfrm>
            <a:off x="2743200" y="1005840"/>
            <a:ext cx="5760720" cy="3017520"/>
          </a:xfrm>
          <a:prstGeom prst="rect">
            <a:avLst/>
          </a:prstGeom>
          <a:solidFill>
            <a:srgbClr val="2D2D44"/>
          </a:solidFill>
          <a:ln w="19050">
            <a:solidFill>
              <a:srgbClr val="589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743200" y="1005840"/>
            <a:ext cx="5760720" cy="411480"/>
          </a:xfrm>
          <a:prstGeom prst="rect">
            <a:avLst/>
          </a:prstGeom>
          <a:noFill/>
        </p:spPr>
        <p:txBody>
          <a:bodyPr wrap="square">
            <a:spAutoFit/>
          </a:bodyPr>
          <a:lstStyle/>
          <a:p>
            <a:pPr algn="ctr"/>
            <a:r>
              <a:rPr sz="1400" b="1">
                <a:solidFill>
                  <a:srgbClr val="589DE8"/>
                </a:solidFill>
              </a:rPr>
              <a:t>CI Pipeline</a:t>
            </a:r>
          </a:p>
        </p:txBody>
      </p:sp>
      <p:sp>
        <p:nvSpPr>
          <p:cNvPr id="11" name="Rectangle 10"/>
          <p:cNvSpPr/>
          <p:nvPr/>
        </p:nvSpPr>
        <p:spPr>
          <a:xfrm>
            <a:off x="2880360" y="1463040"/>
            <a:ext cx="5394960" cy="420624"/>
          </a:xfrm>
          <a:prstGeom prst="rect">
            <a:avLst/>
          </a:prstGeom>
          <a:solidFill>
            <a:srgbClr val="1E1E2E"/>
          </a:solidFill>
          <a:ln w="19050">
            <a:solidFill>
              <a:srgbClr val="589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971800" y="1508760"/>
            <a:ext cx="5212080" cy="365760"/>
          </a:xfrm>
          <a:prstGeom prst="rect">
            <a:avLst/>
          </a:prstGeom>
          <a:noFill/>
        </p:spPr>
        <p:txBody>
          <a:bodyPr wrap="square">
            <a:spAutoFit/>
          </a:bodyPr>
          <a:lstStyle/>
          <a:p>
            <a:pPr algn="l"/>
            <a:r>
              <a:rPr sz="1200" b="0">
                <a:solidFill>
                  <a:srgbClr val="589DE8"/>
                </a:solidFill>
              </a:rPr>
              <a:t>python-quality  ruff / mypy</a:t>
            </a:r>
          </a:p>
        </p:txBody>
      </p:sp>
      <p:sp>
        <p:nvSpPr>
          <p:cNvPr id="13" name="Rectangle 12"/>
          <p:cNvSpPr/>
          <p:nvPr/>
        </p:nvSpPr>
        <p:spPr>
          <a:xfrm>
            <a:off x="2880360" y="1938528"/>
            <a:ext cx="5394960" cy="420624"/>
          </a:xfrm>
          <a:prstGeom prst="rect">
            <a:avLst/>
          </a:prstGeom>
          <a:solidFill>
            <a:srgbClr val="1E1E2E"/>
          </a:solidFill>
          <a:ln w="19050">
            <a:solidFill>
              <a:srgbClr val="4EC97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971800" y="1984248"/>
            <a:ext cx="5212080" cy="365760"/>
          </a:xfrm>
          <a:prstGeom prst="rect">
            <a:avLst/>
          </a:prstGeom>
          <a:noFill/>
        </p:spPr>
        <p:txBody>
          <a:bodyPr wrap="square">
            <a:spAutoFit/>
          </a:bodyPr>
          <a:lstStyle/>
          <a:p>
            <a:pPr algn="l"/>
            <a:r>
              <a:rPr sz="1200" b="0">
                <a:solidFill>
                  <a:srgbClr val="4EC97E"/>
                </a:solidFill>
              </a:rPr>
              <a:t>python-test     pytest / coverage</a:t>
            </a:r>
          </a:p>
        </p:txBody>
      </p:sp>
      <p:sp>
        <p:nvSpPr>
          <p:cNvPr id="15" name="Rectangle 14"/>
          <p:cNvSpPr/>
          <p:nvPr/>
        </p:nvSpPr>
        <p:spPr>
          <a:xfrm>
            <a:off x="2880360" y="2414016"/>
            <a:ext cx="5394960" cy="420624"/>
          </a:xfrm>
          <a:prstGeom prst="rect">
            <a:avLst/>
          </a:prstGeom>
          <a:solidFill>
            <a:srgbClr val="1E1E2E"/>
          </a:solidFill>
          <a:ln w="19050">
            <a:solidFill>
              <a:srgbClr val="FF9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971800" y="2459736"/>
            <a:ext cx="5212080" cy="365760"/>
          </a:xfrm>
          <a:prstGeom prst="rect">
            <a:avLst/>
          </a:prstGeom>
          <a:noFill/>
        </p:spPr>
        <p:txBody>
          <a:bodyPr wrap="square">
            <a:spAutoFit/>
          </a:bodyPr>
          <a:lstStyle/>
          <a:p>
            <a:pPr algn="l"/>
            <a:r>
              <a:rPr sz="1200" b="0">
                <a:solidFill>
                  <a:srgbClr val="FF9900"/>
                </a:solidFill>
              </a:rPr>
              <a:t>security-scan   pip-audit / gitleaks / checkov</a:t>
            </a:r>
          </a:p>
        </p:txBody>
      </p:sp>
      <p:sp>
        <p:nvSpPr>
          <p:cNvPr id="17" name="Rectangle 16"/>
          <p:cNvSpPr/>
          <p:nvPr/>
        </p:nvSpPr>
        <p:spPr>
          <a:xfrm>
            <a:off x="2880360" y="2889504"/>
            <a:ext cx="5394960" cy="420624"/>
          </a:xfrm>
          <a:prstGeom prst="rect">
            <a:avLst/>
          </a:prstGeom>
          <a:solidFill>
            <a:srgbClr val="1E1E2E"/>
          </a:solidFill>
          <a:ln w="19050">
            <a:solidFill>
              <a:srgbClr val="FF5F5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971800" y="2935224"/>
            <a:ext cx="5212080" cy="365760"/>
          </a:xfrm>
          <a:prstGeom prst="rect">
            <a:avLst/>
          </a:prstGeom>
          <a:noFill/>
        </p:spPr>
        <p:txBody>
          <a:bodyPr wrap="square">
            <a:spAutoFit/>
          </a:bodyPr>
          <a:lstStyle/>
          <a:p>
            <a:pPr algn="l"/>
            <a:r>
              <a:rPr sz="1200" b="0">
                <a:solidFill>
                  <a:srgbClr val="FF5F57"/>
                </a:solidFill>
              </a:rPr>
              <a:t>terraform-check fmt / validate / plan</a:t>
            </a:r>
          </a:p>
        </p:txBody>
      </p:sp>
      <p:sp>
        <p:nvSpPr>
          <p:cNvPr id="19" name="Rectangle 18"/>
          <p:cNvSpPr/>
          <p:nvPr/>
        </p:nvSpPr>
        <p:spPr>
          <a:xfrm>
            <a:off x="2880360" y="3364992"/>
            <a:ext cx="5394960" cy="420624"/>
          </a:xfrm>
          <a:prstGeom prst="rect">
            <a:avLst/>
          </a:prstGeom>
          <a:solidFill>
            <a:srgbClr val="1E1E2E"/>
          </a:solidFill>
          <a:ln w="190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971800" y="3410712"/>
            <a:ext cx="5212080" cy="365760"/>
          </a:xfrm>
          <a:prstGeom prst="rect">
            <a:avLst/>
          </a:prstGeom>
          <a:noFill/>
        </p:spPr>
        <p:txBody>
          <a:bodyPr wrap="square">
            <a:spAutoFit/>
          </a:bodyPr>
          <a:lstStyle/>
          <a:p>
            <a:pPr algn="l"/>
            <a:r>
              <a:rPr sz="1200" b="0">
                <a:solidFill>
                  <a:srgbClr val="CCCCCC"/>
                </a:solidFill>
              </a:rPr>
              <a:t>image-ci        Trivy FS+img / CodeQL</a:t>
            </a:r>
          </a:p>
        </p:txBody>
      </p:sp>
      <p:sp>
        <p:nvSpPr>
          <p:cNvPr id="21" name="TextBox 20"/>
          <p:cNvSpPr txBox="1"/>
          <p:nvPr/>
        </p:nvSpPr>
        <p:spPr>
          <a:xfrm>
            <a:off x="8686800" y="1280160"/>
            <a:ext cx="1188720" cy="822960"/>
          </a:xfrm>
          <a:prstGeom prst="rect">
            <a:avLst/>
          </a:prstGeom>
          <a:noFill/>
        </p:spPr>
        <p:txBody>
          <a:bodyPr wrap="square">
            <a:spAutoFit/>
          </a:bodyPr>
          <a:lstStyle/>
          <a:p>
            <a:pPr algn="ctr"/>
            <a:r>
              <a:rPr sz="1200" b="0">
                <a:solidFill>
                  <a:srgbClr val="4EC97E"/>
                </a:solidFill>
              </a:rPr>
              <a:t>全 job 通過
→ merge</a:t>
            </a:r>
          </a:p>
        </p:txBody>
      </p:sp>
      <p:sp>
        <p:nvSpPr>
          <p:cNvPr id="22" name="Rectangle 21"/>
          <p:cNvSpPr/>
          <p:nvPr/>
        </p:nvSpPr>
        <p:spPr>
          <a:xfrm>
            <a:off x="9966960" y="1005840"/>
            <a:ext cx="2011680" cy="5029200"/>
          </a:xfrm>
          <a:prstGeom prst="rect">
            <a:avLst/>
          </a:prstGeom>
          <a:solidFill>
            <a:srgbClr val="2D2D44"/>
          </a:solidFill>
          <a:ln w="19050">
            <a:solidFill>
              <a:srgbClr val="4EC97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966960" y="1005840"/>
            <a:ext cx="2011680" cy="365760"/>
          </a:xfrm>
          <a:prstGeom prst="rect">
            <a:avLst/>
          </a:prstGeom>
          <a:noFill/>
        </p:spPr>
        <p:txBody>
          <a:bodyPr wrap="square">
            <a:spAutoFit/>
          </a:bodyPr>
          <a:lstStyle/>
          <a:p>
            <a:pPr algn="ctr"/>
            <a:r>
              <a:rPr sz="1300" b="1">
                <a:solidFill>
                  <a:srgbClr val="4EC97E"/>
                </a:solidFill>
              </a:rPr>
              <a:t>CD Pipeline</a:t>
            </a:r>
          </a:p>
        </p:txBody>
      </p:sp>
      <p:sp>
        <p:nvSpPr>
          <p:cNvPr id="24" name="Rectangle 23"/>
          <p:cNvSpPr/>
          <p:nvPr/>
        </p:nvSpPr>
        <p:spPr>
          <a:xfrm>
            <a:off x="10104120" y="1508760"/>
            <a:ext cx="1737360" cy="822960"/>
          </a:xfrm>
          <a:prstGeom prst="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0104120" y="1508760"/>
            <a:ext cx="1737360" cy="822960"/>
          </a:xfrm>
          <a:prstGeom prst="rect">
            <a:avLst/>
          </a:prstGeom>
          <a:noFill/>
        </p:spPr>
        <p:txBody>
          <a:bodyPr wrap="square">
            <a:spAutoFit/>
          </a:bodyPr>
          <a:lstStyle/>
          <a:p>
            <a:pPr algn="ctr"/>
            <a:r>
              <a:rPr sz="1200" b="0">
                <a:solidFill>
                  <a:srgbClr val="4EC97E"/>
                </a:solidFill>
              </a:rPr>
              <a:t>deploy-dev
(自動)</a:t>
            </a:r>
          </a:p>
        </p:txBody>
      </p:sp>
      <p:sp>
        <p:nvSpPr>
          <p:cNvPr id="26" name="Rectangle 25"/>
          <p:cNvSpPr/>
          <p:nvPr/>
        </p:nvSpPr>
        <p:spPr>
          <a:xfrm>
            <a:off x="10104120" y="2606040"/>
            <a:ext cx="1737360" cy="822960"/>
          </a:xfrm>
          <a:prstGeom prst="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0104120" y="2606040"/>
            <a:ext cx="1737360" cy="822960"/>
          </a:xfrm>
          <a:prstGeom prst="rect">
            <a:avLst/>
          </a:prstGeom>
          <a:noFill/>
        </p:spPr>
        <p:txBody>
          <a:bodyPr wrap="square">
            <a:spAutoFit/>
          </a:bodyPr>
          <a:lstStyle/>
          <a:p>
            <a:pPr algn="ctr"/>
            <a:r>
              <a:rPr sz="1200" b="0">
                <a:solidFill>
                  <a:srgbClr val="FF9900"/>
                </a:solidFill>
              </a:rPr>
              <a:t>deploy-stg
(承認後)</a:t>
            </a:r>
          </a:p>
        </p:txBody>
      </p:sp>
      <p:sp>
        <p:nvSpPr>
          <p:cNvPr id="28" name="Rectangle 27"/>
          <p:cNvSpPr/>
          <p:nvPr/>
        </p:nvSpPr>
        <p:spPr>
          <a:xfrm>
            <a:off x="10104120" y="3703320"/>
            <a:ext cx="1737360" cy="822960"/>
          </a:xfrm>
          <a:prstGeom prst="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0104120" y="3703320"/>
            <a:ext cx="1737360" cy="822960"/>
          </a:xfrm>
          <a:prstGeom prst="rect">
            <a:avLst/>
          </a:prstGeom>
          <a:noFill/>
        </p:spPr>
        <p:txBody>
          <a:bodyPr wrap="square">
            <a:spAutoFit/>
          </a:bodyPr>
          <a:lstStyle/>
          <a:p>
            <a:pPr algn="ctr"/>
            <a:r>
              <a:rPr sz="1200" b="0">
                <a:solidFill>
                  <a:srgbClr val="FF5F57"/>
                </a:solidFill>
              </a:rPr>
              <a:t>deploy-prod
(承認後)</a:t>
            </a:r>
          </a:p>
        </p:txBody>
      </p:sp>
      <p:sp>
        <p:nvSpPr>
          <p:cNvPr id="30" name="Rectangle 29"/>
          <p:cNvSpPr/>
          <p:nvPr/>
        </p:nvSpPr>
        <p:spPr>
          <a:xfrm>
            <a:off x="10104120" y="4800600"/>
            <a:ext cx="1737360" cy="822960"/>
          </a:xfrm>
          <a:prstGeom prst="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0104120" y="4800600"/>
            <a:ext cx="1737360" cy="822960"/>
          </a:xfrm>
          <a:prstGeom prst="rect">
            <a:avLst/>
          </a:prstGeom>
          <a:noFill/>
        </p:spPr>
        <p:txBody>
          <a:bodyPr wrap="square">
            <a:spAutoFit/>
          </a:bodyPr>
          <a:lstStyle/>
          <a:p>
            <a:pPr algn="ctr"/>
            <a:r>
              <a:rPr sz="1200" b="0">
                <a:solidFill>
                  <a:srgbClr val="589DE8"/>
                </a:solidFill>
              </a:rPr>
              <a:t>Image CD
ECR→ECS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E1E2E"/>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589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10972800" cy="640080"/>
          </a:xfrm>
          <a:prstGeom prst="rect">
            <a:avLst/>
          </a:prstGeom>
          <a:noFill/>
        </p:spPr>
        <p:txBody>
          <a:bodyPr wrap="square">
            <a:spAutoFit/>
          </a:bodyPr>
          <a:lstStyle/>
          <a:p>
            <a:pPr algn="l"/>
            <a:r>
              <a:rPr sz="2800" b="1">
                <a:solidFill>
                  <a:srgbClr val="FFFFFF"/>
                </a:solidFill>
              </a:rPr>
              <a:t>CI: Python品質チェック</a:t>
            </a:r>
          </a:p>
        </p:txBody>
      </p:sp>
      <p:sp>
        <p:nvSpPr>
          <p:cNvPr id="4" name="TextBox 3"/>
          <p:cNvSpPr txBox="1"/>
          <p:nvPr/>
        </p:nvSpPr>
        <p:spPr>
          <a:xfrm>
            <a:off x="457200" y="731520"/>
            <a:ext cx="10972800" cy="365760"/>
          </a:xfrm>
          <a:prstGeom prst="rect">
            <a:avLst/>
          </a:prstGeom>
          <a:noFill/>
        </p:spPr>
        <p:txBody>
          <a:bodyPr wrap="square">
            <a:spAutoFit/>
          </a:bodyPr>
          <a:lstStyle/>
          <a:p>
            <a:pPr algn="l"/>
            <a:r>
              <a:rPr sz="1400" b="0">
                <a:solidFill>
                  <a:srgbClr val="589DE8"/>
                </a:solidFill>
              </a:rPr>
              <a:t>ruff / mypy / pytest</a:t>
            </a:r>
          </a:p>
        </p:txBody>
      </p:sp>
      <p:sp>
        <p:nvSpPr>
          <p:cNvPr id="5" name="Rectangle 4"/>
          <p:cNvSpPr/>
          <p:nvPr/>
        </p:nvSpPr>
        <p:spPr>
          <a:xfrm>
            <a:off x="0" y="6675120"/>
            <a:ext cx="12188952" cy="182880"/>
          </a:xfrm>
          <a:prstGeom prst="rect">
            <a:avLst/>
          </a:prstGeom>
          <a:solidFill>
            <a:srgbClr val="589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20040" y="1234440"/>
            <a:ext cx="3566160" cy="5029200"/>
          </a:xfrm>
          <a:prstGeom prst="rect">
            <a:avLst/>
          </a:prstGeom>
          <a:solidFill>
            <a:srgbClr val="2D2D44"/>
          </a:solidFill>
          <a:ln w="19050">
            <a:solidFill>
              <a:srgbClr val="589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20040" y="1234440"/>
            <a:ext cx="3566160" cy="502920"/>
          </a:xfrm>
          <a:prstGeom prst="rect">
            <a:avLst/>
          </a:prstGeom>
          <a:solidFill>
            <a:srgbClr val="589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20040" y="1234440"/>
            <a:ext cx="3566160" cy="502920"/>
          </a:xfrm>
          <a:prstGeom prst="rect">
            <a:avLst/>
          </a:prstGeom>
          <a:noFill/>
        </p:spPr>
        <p:txBody>
          <a:bodyPr wrap="square">
            <a:spAutoFit/>
          </a:bodyPr>
          <a:lstStyle/>
          <a:p>
            <a:pPr algn="ctr"/>
            <a:r>
              <a:rPr sz="1800" b="1">
                <a:solidFill>
                  <a:srgbClr val="FFFFFF"/>
                </a:solidFill>
              </a:rPr>
              <a:t>ruff</a:t>
            </a:r>
          </a:p>
        </p:txBody>
      </p:sp>
      <p:sp>
        <p:nvSpPr>
          <p:cNvPr id="9" name="TextBox 8"/>
          <p:cNvSpPr txBox="1"/>
          <p:nvPr/>
        </p:nvSpPr>
        <p:spPr>
          <a:xfrm>
            <a:off x="457200" y="1828800"/>
            <a:ext cx="3291840" cy="4114800"/>
          </a:xfrm>
          <a:prstGeom prst="rect">
            <a:avLst/>
          </a:prstGeom>
          <a:noFill/>
        </p:spPr>
        <p:txBody>
          <a:bodyPr wrap="square">
            <a:spAutoFit/>
          </a:bodyPr>
          <a:lstStyle/>
          <a:p>
            <a:r>
              <a:rPr sz="1300">
                <a:solidFill>
                  <a:srgbClr val="CCCCCC"/>
                </a:solidFill>
              </a:rPr>
              <a:t>✓  Lint + Format チェック</a:t>
            </a:r>
          </a:p>
          <a:p>
            <a:r>
              <a:rPr sz="1300">
                <a:solidFill>
                  <a:srgbClr val="CCCCCC"/>
                </a:solidFill>
              </a:rPr>
              <a:t>✓  未使用import・変数の検出</a:t>
            </a:r>
          </a:p>
          <a:p>
            <a:r>
              <a:rPr sz="1300">
                <a:solidFill>
                  <a:srgbClr val="CCCCCC"/>
                </a:solidFill>
              </a:rPr>
              <a:t>✓  危険な書き方のフラグ</a:t>
            </a:r>
          </a:p>
          <a:p>
            <a:r>
              <a:rPr sz="1300">
                <a:solidFill>
                  <a:srgbClr val="CCCCCC"/>
                </a:solidFill>
              </a:rPr>
              <a:t>✓  import 並び順の強制</a:t>
            </a:r>
          </a:p>
        </p:txBody>
      </p:sp>
      <p:sp>
        <p:nvSpPr>
          <p:cNvPr id="10" name="Rectangle 9"/>
          <p:cNvSpPr/>
          <p:nvPr/>
        </p:nvSpPr>
        <p:spPr>
          <a:xfrm>
            <a:off x="4069080" y="1234440"/>
            <a:ext cx="3566160" cy="5029200"/>
          </a:xfrm>
          <a:prstGeom prst="rect">
            <a:avLst/>
          </a:prstGeom>
          <a:solidFill>
            <a:srgbClr val="2D2D44"/>
          </a:solidFill>
          <a:ln w="19050">
            <a:solidFill>
              <a:srgbClr val="4EC97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069080" y="1234440"/>
            <a:ext cx="3566160" cy="502920"/>
          </a:xfrm>
          <a:prstGeom prst="rect">
            <a:avLst/>
          </a:prstGeom>
          <a:solidFill>
            <a:srgbClr val="4EC9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069080" y="1234440"/>
            <a:ext cx="3566160" cy="502920"/>
          </a:xfrm>
          <a:prstGeom prst="rect">
            <a:avLst/>
          </a:prstGeom>
          <a:noFill/>
        </p:spPr>
        <p:txBody>
          <a:bodyPr wrap="square">
            <a:spAutoFit/>
          </a:bodyPr>
          <a:lstStyle/>
          <a:p>
            <a:pPr algn="ctr"/>
            <a:r>
              <a:rPr sz="1800" b="1">
                <a:solidFill>
                  <a:srgbClr val="FFFFFF"/>
                </a:solidFill>
              </a:rPr>
              <a:t>mypy</a:t>
            </a:r>
          </a:p>
        </p:txBody>
      </p:sp>
      <p:sp>
        <p:nvSpPr>
          <p:cNvPr id="13" name="TextBox 12"/>
          <p:cNvSpPr txBox="1"/>
          <p:nvPr/>
        </p:nvSpPr>
        <p:spPr>
          <a:xfrm>
            <a:off x="4206240" y="1828800"/>
            <a:ext cx="3291840" cy="4114800"/>
          </a:xfrm>
          <a:prstGeom prst="rect">
            <a:avLst/>
          </a:prstGeom>
          <a:noFill/>
        </p:spPr>
        <p:txBody>
          <a:bodyPr wrap="square">
            <a:spAutoFit/>
          </a:bodyPr>
          <a:lstStyle/>
          <a:p>
            <a:r>
              <a:rPr sz="1300">
                <a:solidFill>
                  <a:srgbClr val="CCCCCC"/>
                </a:solidFill>
              </a:rPr>
              <a:t>✓  静的型チェック</a:t>
            </a:r>
          </a:p>
          <a:p>
            <a:r>
              <a:rPr sz="1300">
                <a:solidFill>
                  <a:srgbClr val="CCCCCC"/>
                </a:solidFill>
              </a:rPr>
              <a:t>✓  型不一致の検出（str/int混在）</a:t>
            </a:r>
          </a:p>
          <a:p>
            <a:r>
              <a:rPr sz="1300">
                <a:solidFill>
                  <a:srgbClr val="CCCCCC"/>
                </a:solidFill>
              </a:rPr>
              <a:t>✓  None 参照ミスの防止</a:t>
            </a:r>
          </a:p>
          <a:p>
            <a:r>
              <a:rPr sz="1300">
                <a:solidFill>
                  <a:srgbClr val="CCCCCC"/>
                </a:solidFill>
              </a:rPr>
              <a:t>✓  関数シグネチャの検証</a:t>
            </a:r>
          </a:p>
        </p:txBody>
      </p:sp>
      <p:sp>
        <p:nvSpPr>
          <p:cNvPr id="14" name="Rectangle 13"/>
          <p:cNvSpPr/>
          <p:nvPr/>
        </p:nvSpPr>
        <p:spPr>
          <a:xfrm>
            <a:off x="7818120" y="1234440"/>
            <a:ext cx="3566160" cy="5029200"/>
          </a:xfrm>
          <a:prstGeom prst="rect">
            <a:avLst/>
          </a:prstGeom>
          <a:solidFill>
            <a:srgbClr val="2D2D44"/>
          </a:solidFill>
          <a:ln w="19050">
            <a:solidFill>
              <a:srgbClr val="FF9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7818120" y="1234440"/>
            <a:ext cx="3566160" cy="502920"/>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818120" y="1234440"/>
            <a:ext cx="3566160" cy="502920"/>
          </a:xfrm>
          <a:prstGeom prst="rect">
            <a:avLst/>
          </a:prstGeom>
          <a:noFill/>
        </p:spPr>
        <p:txBody>
          <a:bodyPr wrap="square">
            <a:spAutoFit/>
          </a:bodyPr>
          <a:lstStyle/>
          <a:p>
            <a:pPr algn="ctr"/>
            <a:r>
              <a:rPr sz="1800" b="1">
                <a:solidFill>
                  <a:srgbClr val="FFFFFF"/>
                </a:solidFill>
              </a:rPr>
              <a:t>pytest</a:t>
            </a:r>
          </a:p>
        </p:txBody>
      </p:sp>
      <p:sp>
        <p:nvSpPr>
          <p:cNvPr id="17" name="TextBox 16"/>
          <p:cNvSpPr txBox="1"/>
          <p:nvPr/>
        </p:nvSpPr>
        <p:spPr>
          <a:xfrm>
            <a:off x="7955280" y="1828800"/>
            <a:ext cx="3291840" cy="4114800"/>
          </a:xfrm>
          <a:prstGeom prst="rect">
            <a:avLst/>
          </a:prstGeom>
          <a:noFill/>
        </p:spPr>
        <p:txBody>
          <a:bodyPr wrap="square">
            <a:spAutoFit/>
          </a:bodyPr>
          <a:lstStyle/>
          <a:p>
            <a:r>
              <a:rPr sz="1300">
                <a:solidFill>
                  <a:srgbClr val="CCCCCC"/>
                </a:solidFill>
              </a:rPr>
              <a:t>✓  ユニットテスト実行</a:t>
            </a:r>
          </a:p>
          <a:p>
            <a:r>
              <a:rPr sz="1300">
                <a:solidFill>
                  <a:srgbClr val="CCCCCC"/>
                </a:solidFill>
              </a:rPr>
              <a:t>✓  カバレッジ 80% 閾値チェック</a:t>
            </a:r>
          </a:p>
          <a:p>
            <a:r>
              <a:rPr sz="1300">
                <a:solidFill>
                  <a:srgbClr val="CCCCCC"/>
                </a:solidFill>
              </a:rPr>
              <a:t>✓  回帰テスト（既存機能の破壊検出）</a:t>
            </a:r>
          </a:p>
          <a:p>
            <a:r>
              <a:rPr sz="1300">
                <a:solidFill>
                  <a:srgbClr val="CCCCCC"/>
                </a:solidFill>
              </a:rPr>
              <a:t>✓  Flask APIのテスト: 92% coverage達成</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E1E2E"/>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589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10972800" cy="640080"/>
          </a:xfrm>
          <a:prstGeom prst="rect">
            <a:avLst/>
          </a:prstGeom>
          <a:noFill/>
        </p:spPr>
        <p:txBody>
          <a:bodyPr wrap="square">
            <a:spAutoFit/>
          </a:bodyPr>
          <a:lstStyle/>
          <a:p>
            <a:pPr algn="l"/>
            <a:r>
              <a:rPr sz="2800" b="1">
                <a:solidFill>
                  <a:srgbClr val="FFFFFF"/>
                </a:solidFill>
              </a:rPr>
              <a:t>CI: セキュリティスキャン</a:t>
            </a:r>
          </a:p>
        </p:txBody>
      </p:sp>
      <p:sp>
        <p:nvSpPr>
          <p:cNvPr id="4" name="TextBox 3"/>
          <p:cNvSpPr txBox="1"/>
          <p:nvPr/>
        </p:nvSpPr>
        <p:spPr>
          <a:xfrm>
            <a:off x="457200" y="731520"/>
            <a:ext cx="10972800" cy="365760"/>
          </a:xfrm>
          <a:prstGeom prst="rect">
            <a:avLst/>
          </a:prstGeom>
          <a:noFill/>
        </p:spPr>
        <p:txBody>
          <a:bodyPr wrap="square">
            <a:spAutoFit/>
          </a:bodyPr>
          <a:lstStyle/>
          <a:p>
            <a:pPr algn="l"/>
            <a:r>
              <a:rPr sz="1400" b="0">
                <a:solidFill>
                  <a:srgbClr val="589DE8"/>
                </a:solidFill>
              </a:rPr>
              <a:t>pip-audit / gitleaks / checkov</a:t>
            </a:r>
          </a:p>
        </p:txBody>
      </p:sp>
      <p:sp>
        <p:nvSpPr>
          <p:cNvPr id="5" name="Rectangle 4"/>
          <p:cNvSpPr/>
          <p:nvPr/>
        </p:nvSpPr>
        <p:spPr>
          <a:xfrm>
            <a:off x="0" y="6675120"/>
            <a:ext cx="12188952" cy="182880"/>
          </a:xfrm>
          <a:prstGeom prst="rect">
            <a:avLst/>
          </a:prstGeom>
          <a:solidFill>
            <a:srgbClr val="589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20040" y="1234440"/>
            <a:ext cx="3566160" cy="5029200"/>
          </a:xfrm>
          <a:prstGeom prst="rect">
            <a:avLst/>
          </a:prstGeom>
          <a:solidFill>
            <a:srgbClr val="2D2D44"/>
          </a:solidFill>
          <a:ln w="19050">
            <a:solidFill>
              <a:srgbClr val="FF5F5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20040" y="1234440"/>
            <a:ext cx="3566160" cy="502920"/>
          </a:xfrm>
          <a:prstGeom prst="rect">
            <a:avLst/>
          </a:prstGeom>
          <a:solidFill>
            <a:srgbClr val="FF5F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20040" y="1234440"/>
            <a:ext cx="3566160" cy="502920"/>
          </a:xfrm>
          <a:prstGeom prst="rect">
            <a:avLst/>
          </a:prstGeom>
          <a:noFill/>
        </p:spPr>
        <p:txBody>
          <a:bodyPr wrap="square">
            <a:spAutoFit/>
          </a:bodyPr>
          <a:lstStyle/>
          <a:p>
            <a:pPr algn="ctr"/>
            <a:r>
              <a:rPr sz="1800" b="1">
                <a:solidFill>
                  <a:srgbClr val="FFFFFF"/>
                </a:solidFill>
              </a:rPr>
              <a:t>pip-audit</a:t>
            </a:r>
          </a:p>
        </p:txBody>
      </p:sp>
      <p:sp>
        <p:nvSpPr>
          <p:cNvPr id="9" name="TextBox 8"/>
          <p:cNvSpPr txBox="1"/>
          <p:nvPr/>
        </p:nvSpPr>
        <p:spPr>
          <a:xfrm>
            <a:off x="411480" y="1828800"/>
            <a:ext cx="3383280" cy="640080"/>
          </a:xfrm>
          <a:prstGeom prst="rect">
            <a:avLst/>
          </a:prstGeom>
          <a:noFill/>
        </p:spPr>
        <p:txBody>
          <a:bodyPr wrap="square">
            <a:spAutoFit/>
          </a:bodyPr>
          <a:lstStyle/>
          <a:p>
            <a:pPr algn="l"/>
            <a:r>
              <a:rPr sz="1300" b="0">
                <a:solidFill>
                  <a:srgbClr val="FF5F57"/>
                </a:solidFill>
              </a:rPr>
              <a:t>依存パッケージの
既知脆弱性検出</a:t>
            </a:r>
          </a:p>
        </p:txBody>
      </p:sp>
      <p:sp>
        <p:nvSpPr>
          <p:cNvPr id="10" name="TextBox 9"/>
          <p:cNvSpPr txBox="1"/>
          <p:nvPr/>
        </p:nvSpPr>
        <p:spPr>
          <a:xfrm>
            <a:off x="457200" y="2560320"/>
            <a:ext cx="3291840" cy="3200400"/>
          </a:xfrm>
          <a:prstGeom prst="rect">
            <a:avLst/>
          </a:prstGeom>
          <a:noFill/>
        </p:spPr>
        <p:txBody>
          <a:bodyPr wrap="square">
            <a:spAutoFit/>
          </a:bodyPr>
          <a:lstStyle/>
          <a:p>
            <a:r>
              <a:rPr sz="1300">
                <a:solidFill>
                  <a:srgbClr val="CCCCCC"/>
                </a:solidFill>
              </a:rPr>
              <a:t>▶  requirements.txtを解析</a:t>
            </a:r>
          </a:p>
          <a:p>
            <a:r>
              <a:rPr sz="1300">
                <a:solidFill>
                  <a:srgbClr val="CCCCCC"/>
                </a:solidFill>
              </a:rPr>
              <a:t>▶  CVEデータベースと照合</a:t>
            </a:r>
          </a:p>
          <a:p>
            <a:r>
              <a:rPr sz="1300">
                <a:solidFill>
                  <a:srgbClr val="CCCCCC"/>
                </a:solidFill>
              </a:rPr>
              <a:t>▶  修正可能なバージョンを提示</a:t>
            </a:r>
          </a:p>
        </p:txBody>
      </p:sp>
      <p:sp>
        <p:nvSpPr>
          <p:cNvPr id="11" name="Rectangle 10"/>
          <p:cNvSpPr/>
          <p:nvPr/>
        </p:nvSpPr>
        <p:spPr>
          <a:xfrm>
            <a:off x="4069080" y="1234440"/>
            <a:ext cx="3566160" cy="5029200"/>
          </a:xfrm>
          <a:prstGeom prst="rect">
            <a:avLst/>
          </a:prstGeom>
          <a:solidFill>
            <a:srgbClr val="2D2D44"/>
          </a:solidFill>
          <a:ln w="19050">
            <a:solidFill>
              <a:srgbClr val="FF9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069080" y="1234440"/>
            <a:ext cx="3566160" cy="502920"/>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069080" y="1234440"/>
            <a:ext cx="3566160" cy="502920"/>
          </a:xfrm>
          <a:prstGeom prst="rect">
            <a:avLst/>
          </a:prstGeom>
          <a:noFill/>
        </p:spPr>
        <p:txBody>
          <a:bodyPr wrap="square">
            <a:spAutoFit/>
          </a:bodyPr>
          <a:lstStyle/>
          <a:p>
            <a:pPr algn="ctr"/>
            <a:r>
              <a:rPr sz="1800" b="1">
                <a:solidFill>
                  <a:srgbClr val="FFFFFF"/>
                </a:solidFill>
              </a:rPr>
              <a:t>gitleaks</a:t>
            </a:r>
          </a:p>
        </p:txBody>
      </p:sp>
      <p:sp>
        <p:nvSpPr>
          <p:cNvPr id="14" name="TextBox 13"/>
          <p:cNvSpPr txBox="1"/>
          <p:nvPr/>
        </p:nvSpPr>
        <p:spPr>
          <a:xfrm>
            <a:off x="4160520" y="1828800"/>
            <a:ext cx="3383280" cy="640080"/>
          </a:xfrm>
          <a:prstGeom prst="rect">
            <a:avLst/>
          </a:prstGeom>
          <a:noFill/>
        </p:spPr>
        <p:txBody>
          <a:bodyPr wrap="square">
            <a:spAutoFit/>
          </a:bodyPr>
          <a:lstStyle/>
          <a:p>
            <a:pPr algn="l"/>
            <a:r>
              <a:rPr sz="1300" b="0">
                <a:solidFill>
                  <a:srgbClr val="FF9900"/>
                </a:solidFill>
              </a:rPr>
              <a:t>シークレット漏えい検出</a:t>
            </a:r>
          </a:p>
        </p:txBody>
      </p:sp>
      <p:sp>
        <p:nvSpPr>
          <p:cNvPr id="15" name="TextBox 14"/>
          <p:cNvSpPr txBox="1"/>
          <p:nvPr/>
        </p:nvSpPr>
        <p:spPr>
          <a:xfrm>
            <a:off x="4206240" y="2560320"/>
            <a:ext cx="3291840" cy="3200400"/>
          </a:xfrm>
          <a:prstGeom prst="rect">
            <a:avLst/>
          </a:prstGeom>
          <a:noFill/>
        </p:spPr>
        <p:txBody>
          <a:bodyPr wrap="square">
            <a:spAutoFit/>
          </a:bodyPr>
          <a:lstStyle/>
          <a:p>
            <a:r>
              <a:rPr sz="1300">
                <a:solidFill>
                  <a:srgbClr val="CCCCCC"/>
                </a:solidFill>
              </a:rPr>
              <a:t>▶  APIキー・トークンの混入チェック</a:t>
            </a:r>
          </a:p>
          <a:p>
            <a:r>
              <a:rPr sz="1300">
                <a:solidFill>
                  <a:srgbClr val="CCCCCC"/>
                </a:solidFill>
              </a:rPr>
              <a:t>▶  コミット履歴も対象</a:t>
            </a:r>
          </a:p>
          <a:p>
            <a:r>
              <a:rPr sz="1300">
                <a:solidFill>
                  <a:srgbClr val="CCCCCC"/>
                </a:solidFill>
              </a:rPr>
              <a:t>▶  正規表現パターンで検出</a:t>
            </a:r>
          </a:p>
        </p:txBody>
      </p:sp>
      <p:sp>
        <p:nvSpPr>
          <p:cNvPr id="16" name="Rectangle 15"/>
          <p:cNvSpPr/>
          <p:nvPr/>
        </p:nvSpPr>
        <p:spPr>
          <a:xfrm>
            <a:off x="7818120" y="1234440"/>
            <a:ext cx="3566160" cy="5029200"/>
          </a:xfrm>
          <a:prstGeom prst="rect">
            <a:avLst/>
          </a:prstGeom>
          <a:solidFill>
            <a:srgbClr val="2D2D44"/>
          </a:solidFill>
          <a:ln w="19050">
            <a:solidFill>
              <a:srgbClr val="4EC97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7818120" y="1234440"/>
            <a:ext cx="3566160" cy="502920"/>
          </a:xfrm>
          <a:prstGeom prst="rect">
            <a:avLst/>
          </a:prstGeom>
          <a:solidFill>
            <a:srgbClr val="4EC9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818120" y="1234440"/>
            <a:ext cx="3566160" cy="502920"/>
          </a:xfrm>
          <a:prstGeom prst="rect">
            <a:avLst/>
          </a:prstGeom>
          <a:noFill/>
        </p:spPr>
        <p:txBody>
          <a:bodyPr wrap="square">
            <a:spAutoFit/>
          </a:bodyPr>
          <a:lstStyle/>
          <a:p>
            <a:pPr algn="ctr"/>
            <a:r>
              <a:rPr sz="1800" b="1">
                <a:solidFill>
                  <a:srgbClr val="FFFFFF"/>
                </a:solidFill>
              </a:rPr>
              <a:t>checkov</a:t>
            </a:r>
          </a:p>
        </p:txBody>
      </p:sp>
      <p:sp>
        <p:nvSpPr>
          <p:cNvPr id="19" name="TextBox 18"/>
          <p:cNvSpPr txBox="1"/>
          <p:nvPr/>
        </p:nvSpPr>
        <p:spPr>
          <a:xfrm>
            <a:off x="7909560" y="1828800"/>
            <a:ext cx="3383280" cy="640080"/>
          </a:xfrm>
          <a:prstGeom prst="rect">
            <a:avLst/>
          </a:prstGeom>
          <a:noFill/>
        </p:spPr>
        <p:txBody>
          <a:bodyPr wrap="square">
            <a:spAutoFit/>
          </a:bodyPr>
          <a:lstStyle/>
          <a:p>
            <a:pPr algn="l"/>
            <a:r>
              <a:rPr sz="1300" b="0">
                <a:solidFill>
                  <a:srgbClr val="4EC97E"/>
                </a:solidFill>
              </a:rPr>
              <a:t>IaC セキュリティ検証</a:t>
            </a:r>
          </a:p>
        </p:txBody>
      </p:sp>
      <p:sp>
        <p:nvSpPr>
          <p:cNvPr id="20" name="TextBox 19"/>
          <p:cNvSpPr txBox="1"/>
          <p:nvPr/>
        </p:nvSpPr>
        <p:spPr>
          <a:xfrm>
            <a:off x="7955280" y="2560320"/>
            <a:ext cx="3291840" cy="3200400"/>
          </a:xfrm>
          <a:prstGeom prst="rect">
            <a:avLst/>
          </a:prstGeom>
          <a:noFill/>
        </p:spPr>
        <p:txBody>
          <a:bodyPr wrap="square">
            <a:spAutoFit/>
          </a:bodyPr>
          <a:lstStyle/>
          <a:p>
            <a:r>
              <a:rPr sz="1300">
                <a:solidFill>
                  <a:srgbClr val="CCCCCC"/>
                </a:solidFill>
              </a:rPr>
              <a:t>▶  Terraformの設定不備を検出</a:t>
            </a:r>
          </a:p>
          <a:p>
            <a:r>
              <a:rPr sz="1300">
                <a:solidFill>
                  <a:srgbClr val="CCCCCC"/>
                </a:solidFill>
              </a:rPr>
              <a:t>▶  S3公開設定・暗号化不足</a:t>
            </a:r>
          </a:p>
          <a:p>
            <a:r>
              <a:rPr sz="1300">
                <a:solidFill>
                  <a:srgbClr val="CCCCCC"/>
                </a:solidFill>
              </a:rPr>
              <a:t>▶  ベストプラクティス違反のフラグ</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E1E2E"/>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589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10972800" cy="640080"/>
          </a:xfrm>
          <a:prstGeom prst="rect">
            <a:avLst/>
          </a:prstGeom>
          <a:noFill/>
        </p:spPr>
        <p:txBody>
          <a:bodyPr wrap="square">
            <a:spAutoFit/>
          </a:bodyPr>
          <a:lstStyle/>
          <a:p>
            <a:pPr algn="l"/>
            <a:r>
              <a:rPr sz="2800" b="1">
                <a:solidFill>
                  <a:srgbClr val="FFFFFF"/>
                </a:solidFill>
              </a:rPr>
              <a:t>セキュリティ多層防御（5 Layers）</a:t>
            </a:r>
          </a:p>
        </p:txBody>
      </p:sp>
      <p:sp>
        <p:nvSpPr>
          <p:cNvPr id="4" name="TextBox 3"/>
          <p:cNvSpPr txBox="1"/>
          <p:nvPr/>
        </p:nvSpPr>
        <p:spPr>
          <a:xfrm>
            <a:off x="457200" y="731520"/>
            <a:ext cx="10972800" cy="365760"/>
          </a:xfrm>
          <a:prstGeom prst="rect">
            <a:avLst/>
          </a:prstGeom>
          <a:noFill/>
        </p:spPr>
        <p:txBody>
          <a:bodyPr wrap="square">
            <a:spAutoFit/>
          </a:bodyPr>
          <a:lstStyle/>
          <a:p>
            <a:pPr algn="l"/>
            <a:r>
              <a:rPr sz="1400" b="0">
                <a:solidFill>
                  <a:srgbClr val="589DE8"/>
                </a:solidFill>
              </a:rPr>
              <a:t>コードからランタイムまで隙間なく守る</a:t>
            </a:r>
          </a:p>
        </p:txBody>
      </p:sp>
      <p:sp>
        <p:nvSpPr>
          <p:cNvPr id="5" name="Rectangle 4"/>
          <p:cNvSpPr/>
          <p:nvPr/>
        </p:nvSpPr>
        <p:spPr>
          <a:xfrm>
            <a:off x="0" y="6675120"/>
            <a:ext cx="12188952" cy="182880"/>
          </a:xfrm>
          <a:prstGeom prst="rect">
            <a:avLst/>
          </a:prstGeom>
          <a:solidFill>
            <a:srgbClr val="589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74320" y="1280160"/>
            <a:ext cx="11612880" cy="896112"/>
          </a:xfrm>
          <a:prstGeom prst="rect">
            <a:avLst/>
          </a:prstGeom>
          <a:solidFill>
            <a:srgbClr val="2D2D44"/>
          </a:solidFill>
          <a:ln w="19050">
            <a:solidFill>
              <a:srgbClr val="FF5F5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74320" y="1280160"/>
            <a:ext cx="1280160" cy="896112"/>
          </a:xfrm>
          <a:prstGeom prst="rect">
            <a:avLst/>
          </a:prstGeom>
          <a:solidFill>
            <a:srgbClr val="FF5F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74320" y="1280160"/>
            <a:ext cx="1280160" cy="896112"/>
          </a:xfrm>
          <a:prstGeom prst="rect">
            <a:avLst/>
          </a:prstGeom>
          <a:noFill/>
        </p:spPr>
        <p:txBody>
          <a:bodyPr wrap="square">
            <a:spAutoFit/>
          </a:bodyPr>
          <a:lstStyle/>
          <a:p>
            <a:pPr algn="ctr"/>
            <a:r>
              <a:rPr sz="1400" b="1">
                <a:solidFill>
                  <a:srgbClr val="FFFFFF"/>
                </a:solidFill>
              </a:rPr>
              <a:t>Layer 1</a:t>
            </a:r>
          </a:p>
        </p:txBody>
      </p:sp>
      <p:sp>
        <p:nvSpPr>
          <p:cNvPr id="9" name="TextBox 8"/>
          <p:cNvSpPr txBox="1"/>
          <p:nvPr/>
        </p:nvSpPr>
        <p:spPr>
          <a:xfrm>
            <a:off x="1645920" y="1325880"/>
            <a:ext cx="1371600" cy="365760"/>
          </a:xfrm>
          <a:prstGeom prst="rect">
            <a:avLst/>
          </a:prstGeom>
          <a:noFill/>
        </p:spPr>
        <p:txBody>
          <a:bodyPr wrap="square">
            <a:spAutoFit/>
          </a:bodyPr>
          <a:lstStyle/>
          <a:p>
            <a:pPr algn="l"/>
            <a:r>
              <a:rPr sz="1200" b="1">
                <a:solidFill>
                  <a:srgbClr val="FF5F57"/>
                </a:solidFill>
              </a:rPr>
              <a:t>[コード段階]</a:t>
            </a:r>
          </a:p>
        </p:txBody>
      </p:sp>
      <p:sp>
        <p:nvSpPr>
          <p:cNvPr id="10" name="TextBox 9"/>
          <p:cNvSpPr txBox="1"/>
          <p:nvPr/>
        </p:nvSpPr>
        <p:spPr>
          <a:xfrm>
            <a:off x="1645920" y="1691640"/>
            <a:ext cx="3200400" cy="411480"/>
          </a:xfrm>
          <a:prstGeom prst="rect">
            <a:avLst/>
          </a:prstGeom>
          <a:noFill/>
        </p:spPr>
        <p:txBody>
          <a:bodyPr wrap="square">
            <a:spAutoFit/>
          </a:bodyPr>
          <a:lstStyle/>
          <a:p>
            <a:pPr algn="l"/>
            <a:r>
              <a:rPr sz="1200" b="1">
                <a:solidFill>
                  <a:srgbClr val="FFFFFF"/>
                </a:solidFill>
              </a:rPr>
              <a:t>pip-audit  gitleaks  checkov</a:t>
            </a:r>
          </a:p>
        </p:txBody>
      </p:sp>
      <p:sp>
        <p:nvSpPr>
          <p:cNvPr id="11" name="TextBox 10"/>
          <p:cNvSpPr txBox="1"/>
          <p:nvPr/>
        </p:nvSpPr>
        <p:spPr>
          <a:xfrm>
            <a:off x="5029200" y="1463040"/>
            <a:ext cx="6675120" cy="548640"/>
          </a:xfrm>
          <a:prstGeom prst="rect">
            <a:avLst/>
          </a:prstGeom>
          <a:noFill/>
        </p:spPr>
        <p:txBody>
          <a:bodyPr wrap="square">
            <a:spAutoFit/>
          </a:bodyPr>
          <a:lstStyle/>
          <a:p>
            <a:pPr algn="l"/>
            <a:r>
              <a:rPr sz="1200" b="0">
                <a:solidFill>
                  <a:srgbClr val="CCCCCC"/>
                </a:solidFill>
              </a:rPr>
              <a:t>依存パッケージの脆弱性 / シークレット漏えい / IaC設定不備</a:t>
            </a:r>
          </a:p>
        </p:txBody>
      </p:sp>
      <p:sp>
        <p:nvSpPr>
          <p:cNvPr id="12" name="Rectangle 11"/>
          <p:cNvSpPr/>
          <p:nvPr/>
        </p:nvSpPr>
        <p:spPr>
          <a:xfrm>
            <a:off x="274320" y="2231136"/>
            <a:ext cx="11612880" cy="896112"/>
          </a:xfrm>
          <a:prstGeom prst="rect">
            <a:avLst/>
          </a:prstGeom>
          <a:solidFill>
            <a:srgbClr val="2D2D44"/>
          </a:solidFill>
          <a:ln w="19050">
            <a:solidFill>
              <a:srgbClr val="FF9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74320" y="2231136"/>
            <a:ext cx="1280160" cy="896112"/>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74320" y="2231136"/>
            <a:ext cx="1280160" cy="896112"/>
          </a:xfrm>
          <a:prstGeom prst="rect">
            <a:avLst/>
          </a:prstGeom>
          <a:noFill/>
        </p:spPr>
        <p:txBody>
          <a:bodyPr wrap="square">
            <a:spAutoFit/>
          </a:bodyPr>
          <a:lstStyle/>
          <a:p>
            <a:pPr algn="ctr"/>
            <a:r>
              <a:rPr sz="1400" b="1">
                <a:solidFill>
                  <a:srgbClr val="FFFFFF"/>
                </a:solidFill>
              </a:rPr>
              <a:t>Layer 2</a:t>
            </a:r>
          </a:p>
        </p:txBody>
      </p:sp>
      <p:sp>
        <p:nvSpPr>
          <p:cNvPr id="15" name="TextBox 14"/>
          <p:cNvSpPr txBox="1"/>
          <p:nvPr/>
        </p:nvSpPr>
        <p:spPr>
          <a:xfrm>
            <a:off x="1645920" y="2276856"/>
            <a:ext cx="1371600" cy="365760"/>
          </a:xfrm>
          <a:prstGeom prst="rect">
            <a:avLst/>
          </a:prstGeom>
          <a:noFill/>
        </p:spPr>
        <p:txBody>
          <a:bodyPr wrap="square">
            <a:spAutoFit/>
          </a:bodyPr>
          <a:lstStyle/>
          <a:p>
            <a:pPr algn="l"/>
            <a:r>
              <a:rPr sz="1200" b="1">
                <a:solidFill>
                  <a:srgbClr val="FF9900"/>
                </a:solidFill>
              </a:rPr>
              <a:t>[ビルド前]</a:t>
            </a:r>
          </a:p>
        </p:txBody>
      </p:sp>
      <p:sp>
        <p:nvSpPr>
          <p:cNvPr id="16" name="TextBox 15"/>
          <p:cNvSpPr txBox="1"/>
          <p:nvPr/>
        </p:nvSpPr>
        <p:spPr>
          <a:xfrm>
            <a:off x="1645920" y="2642616"/>
            <a:ext cx="3200400" cy="411480"/>
          </a:xfrm>
          <a:prstGeom prst="rect">
            <a:avLst/>
          </a:prstGeom>
          <a:noFill/>
        </p:spPr>
        <p:txBody>
          <a:bodyPr wrap="square">
            <a:spAutoFit/>
          </a:bodyPr>
          <a:lstStyle/>
          <a:p>
            <a:pPr algn="l"/>
            <a:r>
              <a:rPr sz="1200" b="1">
                <a:solidFill>
                  <a:srgbClr val="FFFFFF"/>
                </a:solidFill>
              </a:rPr>
              <a:t>Trivy FS スキャン</a:t>
            </a:r>
          </a:p>
        </p:txBody>
      </p:sp>
      <p:sp>
        <p:nvSpPr>
          <p:cNvPr id="17" name="TextBox 16"/>
          <p:cNvSpPr txBox="1"/>
          <p:nvPr/>
        </p:nvSpPr>
        <p:spPr>
          <a:xfrm>
            <a:off x="5029200" y="2414016"/>
            <a:ext cx="6675120" cy="548640"/>
          </a:xfrm>
          <a:prstGeom prst="rect">
            <a:avLst/>
          </a:prstGeom>
          <a:noFill/>
        </p:spPr>
        <p:txBody>
          <a:bodyPr wrap="square">
            <a:spAutoFit/>
          </a:bodyPr>
          <a:lstStyle/>
          <a:p>
            <a:pPr algn="l"/>
            <a:r>
              <a:rPr sz="1200" b="0">
                <a:solidFill>
                  <a:srgbClr val="CCCCCC"/>
                </a:solidFill>
              </a:rPr>
              <a:t>requirements.txt の依存関係の脆弱性を検出</a:t>
            </a:r>
          </a:p>
        </p:txBody>
      </p:sp>
      <p:sp>
        <p:nvSpPr>
          <p:cNvPr id="18" name="Rectangle 17"/>
          <p:cNvSpPr/>
          <p:nvPr/>
        </p:nvSpPr>
        <p:spPr>
          <a:xfrm>
            <a:off x="274320" y="3182112"/>
            <a:ext cx="11612880" cy="896112"/>
          </a:xfrm>
          <a:prstGeom prst="rect">
            <a:avLst/>
          </a:prstGeom>
          <a:solidFill>
            <a:srgbClr val="2D2D44"/>
          </a:solidFill>
          <a:ln w="19050">
            <a:solidFill>
              <a:srgbClr val="FF9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274320" y="3182112"/>
            <a:ext cx="1280160" cy="896112"/>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74320" y="3182112"/>
            <a:ext cx="1280160" cy="896112"/>
          </a:xfrm>
          <a:prstGeom prst="rect">
            <a:avLst/>
          </a:prstGeom>
          <a:noFill/>
        </p:spPr>
        <p:txBody>
          <a:bodyPr wrap="square">
            <a:spAutoFit/>
          </a:bodyPr>
          <a:lstStyle/>
          <a:p>
            <a:pPr algn="ctr"/>
            <a:r>
              <a:rPr sz="1400" b="1">
                <a:solidFill>
                  <a:srgbClr val="FFFFFF"/>
                </a:solidFill>
              </a:rPr>
              <a:t>Layer 3</a:t>
            </a:r>
          </a:p>
        </p:txBody>
      </p:sp>
      <p:sp>
        <p:nvSpPr>
          <p:cNvPr id="21" name="TextBox 20"/>
          <p:cNvSpPr txBox="1"/>
          <p:nvPr/>
        </p:nvSpPr>
        <p:spPr>
          <a:xfrm>
            <a:off x="1645920" y="3227832"/>
            <a:ext cx="1371600" cy="365760"/>
          </a:xfrm>
          <a:prstGeom prst="rect">
            <a:avLst/>
          </a:prstGeom>
          <a:noFill/>
        </p:spPr>
        <p:txBody>
          <a:bodyPr wrap="square">
            <a:spAutoFit/>
          </a:bodyPr>
          <a:lstStyle/>
          <a:p>
            <a:pPr algn="l"/>
            <a:r>
              <a:rPr sz="1200" b="1">
                <a:solidFill>
                  <a:srgbClr val="FF9900"/>
                </a:solidFill>
              </a:rPr>
              <a:t>[ビルド後]</a:t>
            </a:r>
          </a:p>
        </p:txBody>
      </p:sp>
      <p:sp>
        <p:nvSpPr>
          <p:cNvPr id="22" name="TextBox 21"/>
          <p:cNvSpPr txBox="1"/>
          <p:nvPr/>
        </p:nvSpPr>
        <p:spPr>
          <a:xfrm>
            <a:off x="1645920" y="3593592"/>
            <a:ext cx="3200400" cy="411480"/>
          </a:xfrm>
          <a:prstGeom prst="rect">
            <a:avLst/>
          </a:prstGeom>
          <a:noFill/>
        </p:spPr>
        <p:txBody>
          <a:bodyPr wrap="square">
            <a:spAutoFit/>
          </a:bodyPr>
          <a:lstStyle/>
          <a:p>
            <a:pPr algn="l"/>
            <a:r>
              <a:rPr sz="1200" b="1">
                <a:solidFill>
                  <a:srgbClr val="FFFFFF"/>
                </a:solidFill>
              </a:rPr>
              <a:t>Trivy image スキャン</a:t>
            </a:r>
          </a:p>
        </p:txBody>
      </p:sp>
      <p:sp>
        <p:nvSpPr>
          <p:cNvPr id="23" name="TextBox 22"/>
          <p:cNvSpPr txBox="1"/>
          <p:nvPr/>
        </p:nvSpPr>
        <p:spPr>
          <a:xfrm>
            <a:off x="5029200" y="3364992"/>
            <a:ext cx="6675120" cy="548640"/>
          </a:xfrm>
          <a:prstGeom prst="rect">
            <a:avLst/>
          </a:prstGeom>
          <a:noFill/>
        </p:spPr>
        <p:txBody>
          <a:bodyPr wrap="square">
            <a:spAutoFit/>
          </a:bodyPr>
          <a:lstStyle/>
          <a:p>
            <a:pPr algn="l"/>
            <a:r>
              <a:rPr sz="1200" b="0">
                <a:solidFill>
                  <a:srgbClr val="CCCCCC"/>
                </a:solidFill>
              </a:rPr>
              <a:t>Debian OSパッケージの脆弱性を検出</a:t>
            </a:r>
          </a:p>
        </p:txBody>
      </p:sp>
      <p:sp>
        <p:nvSpPr>
          <p:cNvPr id="24" name="Rectangle 23"/>
          <p:cNvSpPr/>
          <p:nvPr/>
        </p:nvSpPr>
        <p:spPr>
          <a:xfrm>
            <a:off x="274320" y="4133088"/>
            <a:ext cx="11612880" cy="896112"/>
          </a:xfrm>
          <a:prstGeom prst="rect">
            <a:avLst/>
          </a:prstGeom>
          <a:solidFill>
            <a:srgbClr val="2D2D44"/>
          </a:solidFill>
          <a:ln w="19050">
            <a:solidFill>
              <a:srgbClr val="589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274320" y="4133088"/>
            <a:ext cx="1280160" cy="896112"/>
          </a:xfrm>
          <a:prstGeom prst="rect">
            <a:avLst/>
          </a:prstGeom>
          <a:solidFill>
            <a:srgbClr val="589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74320" y="4133088"/>
            <a:ext cx="1280160" cy="896112"/>
          </a:xfrm>
          <a:prstGeom prst="rect">
            <a:avLst/>
          </a:prstGeom>
          <a:noFill/>
        </p:spPr>
        <p:txBody>
          <a:bodyPr wrap="square">
            <a:spAutoFit/>
          </a:bodyPr>
          <a:lstStyle/>
          <a:p>
            <a:pPr algn="ctr"/>
            <a:r>
              <a:rPr sz="1400" b="1">
                <a:solidFill>
                  <a:srgbClr val="FFFFFF"/>
                </a:solidFill>
              </a:rPr>
              <a:t>Layer 4</a:t>
            </a:r>
          </a:p>
        </p:txBody>
      </p:sp>
      <p:sp>
        <p:nvSpPr>
          <p:cNvPr id="27" name="TextBox 26"/>
          <p:cNvSpPr txBox="1"/>
          <p:nvPr/>
        </p:nvSpPr>
        <p:spPr>
          <a:xfrm>
            <a:off x="1645920" y="4178808"/>
            <a:ext cx="1371600" cy="365760"/>
          </a:xfrm>
          <a:prstGeom prst="rect">
            <a:avLst/>
          </a:prstGeom>
          <a:noFill/>
        </p:spPr>
        <p:txBody>
          <a:bodyPr wrap="square">
            <a:spAutoFit/>
          </a:bodyPr>
          <a:lstStyle/>
          <a:p>
            <a:pPr algn="l"/>
            <a:r>
              <a:rPr sz="1200" b="1">
                <a:solidFill>
                  <a:srgbClr val="589DE8"/>
                </a:solidFill>
              </a:rPr>
              <a:t>[SAST]</a:t>
            </a:r>
          </a:p>
        </p:txBody>
      </p:sp>
      <p:sp>
        <p:nvSpPr>
          <p:cNvPr id="28" name="TextBox 27"/>
          <p:cNvSpPr txBox="1"/>
          <p:nvPr/>
        </p:nvSpPr>
        <p:spPr>
          <a:xfrm>
            <a:off x="1645920" y="4544568"/>
            <a:ext cx="3200400" cy="411480"/>
          </a:xfrm>
          <a:prstGeom prst="rect">
            <a:avLst/>
          </a:prstGeom>
          <a:noFill/>
        </p:spPr>
        <p:txBody>
          <a:bodyPr wrap="square">
            <a:spAutoFit/>
          </a:bodyPr>
          <a:lstStyle/>
          <a:p>
            <a:pPr algn="l"/>
            <a:r>
              <a:rPr sz="1200" b="1">
                <a:solidFill>
                  <a:srgbClr val="FFFFFF"/>
                </a:solidFill>
              </a:rPr>
              <a:t>CodeQL 静的解析</a:t>
            </a:r>
          </a:p>
        </p:txBody>
      </p:sp>
      <p:sp>
        <p:nvSpPr>
          <p:cNvPr id="29" name="TextBox 28"/>
          <p:cNvSpPr txBox="1"/>
          <p:nvPr/>
        </p:nvSpPr>
        <p:spPr>
          <a:xfrm>
            <a:off x="5029200" y="4315968"/>
            <a:ext cx="6675120" cy="548640"/>
          </a:xfrm>
          <a:prstGeom prst="rect">
            <a:avLst/>
          </a:prstGeom>
          <a:noFill/>
        </p:spPr>
        <p:txBody>
          <a:bodyPr wrap="square">
            <a:spAutoFit/>
          </a:bodyPr>
          <a:lstStyle/>
          <a:p>
            <a:pPr algn="l"/>
            <a:r>
              <a:rPr sz="1200" b="0">
                <a:solidFill>
                  <a:srgbClr val="CCCCCC"/>
                </a:solidFill>
              </a:rPr>
              <a:t>Pythonコードの脆弱性・セキュリティバグを検出</a:t>
            </a:r>
          </a:p>
        </p:txBody>
      </p:sp>
      <p:sp>
        <p:nvSpPr>
          <p:cNvPr id="30" name="Rectangle 29"/>
          <p:cNvSpPr/>
          <p:nvPr/>
        </p:nvSpPr>
        <p:spPr>
          <a:xfrm>
            <a:off x="274320" y="5084064"/>
            <a:ext cx="11612880" cy="896112"/>
          </a:xfrm>
          <a:prstGeom prst="rect">
            <a:avLst/>
          </a:prstGeom>
          <a:solidFill>
            <a:srgbClr val="2D2D44"/>
          </a:solidFill>
          <a:ln w="19050">
            <a:solidFill>
              <a:srgbClr val="4EC97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274320" y="5084064"/>
            <a:ext cx="1280160" cy="896112"/>
          </a:xfrm>
          <a:prstGeom prst="rect">
            <a:avLst/>
          </a:prstGeom>
          <a:solidFill>
            <a:srgbClr val="4EC9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74320" y="5084064"/>
            <a:ext cx="1280160" cy="896112"/>
          </a:xfrm>
          <a:prstGeom prst="rect">
            <a:avLst/>
          </a:prstGeom>
          <a:noFill/>
        </p:spPr>
        <p:txBody>
          <a:bodyPr wrap="square">
            <a:spAutoFit/>
          </a:bodyPr>
          <a:lstStyle/>
          <a:p>
            <a:pPr algn="ctr"/>
            <a:r>
              <a:rPr sz="1400" b="1">
                <a:solidFill>
                  <a:srgbClr val="FFFFFF"/>
                </a:solidFill>
              </a:rPr>
              <a:t>Layer 5</a:t>
            </a:r>
          </a:p>
        </p:txBody>
      </p:sp>
      <p:sp>
        <p:nvSpPr>
          <p:cNvPr id="33" name="TextBox 32"/>
          <p:cNvSpPr txBox="1"/>
          <p:nvPr/>
        </p:nvSpPr>
        <p:spPr>
          <a:xfrm>
            <a:off x="1645920" y="5129784"/>
            <a:ext cx="1371600" cy="365760"/>
          </a:xfrm>
          <a:prstGeom prst="rect">
            <a:avLst/>
          </a:prstGeom>
          <a:noFill/>
        </p:spPr>
        <p:txBody>
          <a:bodyPr wrap="square">
            <a:spAutoFit/>
          </a:bodyPr>
          <a:lstStyle/>
          <a:p>
            <a:pPr algn="l"/>
            <a:r>
              <a:rPr sz="1200" b="1">
                <a:solidFill>
                  <a:srgbClr val="4EC97E"/>
                </a:solidFill>
              </a:rPr>
              <a:t>[ランタイム]</a:t>
            </a:r>
          </a:p>
        </p:txBody>
      </p:sp>
      <p:sp>
        <p:nvSpPr>
          <p:cNvPr id="34" name="TextBox 33"/>
          <p:cNvSpPr txBox="1"/>
          <p:nvPr/>
        </p:nvSpPr>
        <p:spPr>
          <a:xfrm>
            <a:off x="1645920" y="5495544"/>
            <a:ext cx="3200400" cy="411480"/>
          </a:xfrm>
          <a:prstGeom prst="rect">
            <a:avLst/>
          </a:prstGeom>
          <a:noFill/>
        </p:spPr>
        <p:txBody>
          <a:bodyPr wrap="square">
            <a:spAutoFit/>
          </a:bodyPr>
          <a:lstStyle/>
          <a:p>
            <a:pPr algn="l"/>
            <a:r>
              <a:rPr sz="1200" b="1">
                <a:solidFill>
                  <a:srgbClr val="FFFFFF"/>
                </a:solidFill>
              </a:rPr>
              <a:t>非rootユーザー / readonly rootFS / ヘルスチェック</a:t>
            </a:r>
          </a:p>
        </p:txBody>
      </p:sp>
      <p:sp>
        <p:nvSpPr>
          <p:cNvPr id="35" name="TextBox 34"/>
          <p:cNvSpPr txBox="1"/>
          <p:nvPr/>
        </p:nvSpPr>
        <p:spPr>
          <a:xfrm>
            <a:off x="5029200" y="5266944"/>
            <a:ext cx="6675120" cy="548640"/>
          </a:xfrm>
          <a:prstGeom prst="rect">
            <a:avLst/>
          </a:prstGeom>
          <a:noFill/>
        </p:spPr>
        <p:txBody>
          <a:bodyPr wrap="square">
            <a:spAutoFit/>
          </a:bodyPr>
          <a:lstStyle/>
          <a:p>
            <a:pPr algn="l"/>
            <a:r>
              <a:rPr sz="1200" b="0">
                <a:solidFill>
                  <a:srgbClr val="CCCCCC"/>
                </a:solidFill>
              </a:rPr>
              <a:t>コンテナ実行時の権限昇格・改ざんを防止</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E1E2E"/>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589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10972800" cy="640080"/>
          </a:xfrm>
          <a:prstGeom prst="rect">
            <a:avLst/>
          </a:prstGeom>
          <a:noFill/>
        </p:spPr>
        <p:txBody>
          <a:bodyPr wrap="square">
            <a:spAutoFit/>
          </a:bodyPr>
          <a:lstStyle/>
          <a:p>
            <a:pPr algn="l"/>
            <a:r>
              <a:rPr sz="2800" b="1">
                <a:solidFill>
                  <a:srgbClr val="FFFFFF"/>
                </a:solidFill>
              </a:rPr>
              <a:t>Docker &amp; コンテナセキュリティ</a:t>
            </a:r>
          </a:p>
        </p:txBody>
      </p:sp>
      <p:sp>
        <p:nvSpPr>
          <p:cNvPr id="4" name="TextBox 3"/>
          <p:cNvSpPr txBox="1"/>
          <p:nvPr/>
        </p:nvSpPr>
        <p:spPr>
          <a:xfrm>
            <a:off x="457200" y="731520"/>
            <a:ext cx="10972800" cy="365760"/>
          </a:xfrm>
          <a:prstGeom prst="rect">
            <a:avLst/>
          </a:prstGeom>
          <a:noFill/>
        </p:spPr>
        <p:txBody>
          <a:bodyPr wrap="square">
            <a:spAutoFit/>
          </a:bodyPr>
          <a:lstStyle/>
          <a:p>
            <a:pPr algn="l"/>
            <a:r>
              <a:rPr sz="1400" b="0">
                <a:solidFill>
                  <a:srgbClr val="589DE8"/>
                </a:solidFill>
              </a:rPr>
              <a:t>マルチステージビルド + セキュリティベストプラクティス</a:t>
            </a:r>
          </a:p>
        </p:txBody>
      </p:sp>
      <p:sp>
        <p:nvSpPr>
          <p:cNvPr id="5" name="Rectangle 4"/>
          <p:cNvSpPr/>
          <p:nvPr/>
        </p:nvSpPr>
        <p:spPr>
          <a:xfrm>
            <a:off x="0" y="6675120"/>
            <a:ext cx="12188952" cy="182880"/>
          </a:xfrm>
          <a:prstGeom prst="rect">
            <a:avLst/>
          </a:prstGeom>
          <a:solidFill>
            <a:srgbClr val="589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74320" y="1234440"/>
            <a:ext cx="5669280" cy="5303520"/>
          </a:xfrm>
          <a:prstGeom prst="rect">
            <a:avLst/>
          </a:prstGeom>
          <a:solidFill>
            <a:srgbClr val="1A1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11480" y="1325880"/>
            <a:ext cx="5394960" cy="5120640"/>
          </a:xfrm>
          <a:prstGeom prst="rect">
            <a:avLst/>
          </a:prstGeom>
          <a:noFill/>
        </p:spPr>
        <p:txBody>
          <a:bodyPr wrap="square">
            <a:spAutoFit/>
          </a:bodyPr>
          <a:lstStyle/>
          <a:p>
            <a:pPr algn="l"/>
            <a:r>
              <a:rPr sz="1100" b="0">
                <a:solidFill>
                  <a:srgbClr val="4EC97E"/>
                </a:solidFill>
              </a:rPr>
              <a:t># Stage 1: ビルド
FROM python:3.14-slim AS builder
COPY requirements.txt .
RUN pip install --no-cache-dir \
    -r requirements.txt
# Stage 2: 本番イメージ
FROM python:3.14-slim AS runtime
# 非rootユーザー作成
RUN groupadd -g 1001 appgroup &amp;&amp; \
    useradd -u 1001 -g appgroup appuser
COPY --from=builder /app /app
USER appuser
# ヘルスチェック
HEALTHCHECK --interval=30s \
  --timeout=10s \
  CMD curl -f http://localhost:5000/health</a:t>
            </a:r>
          </a:p>
        </p:txBody>
      </p:sp>
      <p:sp>
        <p:nvSpPr>
          <p:cNvPr id="8" name="Rectangle 7"/>
          <p:cNvSpPr/>
          <p:nvPr/>
        </p:nvSpPr>
        <p:spPr>
          <a:xfrm>
            <a:off x="6217920" y="1234440"/>
            <a:ext cx="5486400" cy="1188720"/>
          </a:xfrm>
          <a:prstGeom prst="rect">
            <a:avLst/>
          </a:prstGeom>
          <a:solidFill>
            <a:srgbClr val="2D2D44"/>
          </a:solidFill>
          <a:ln w="19050">
            <a:solidFill>
              <a:srgbClr val="589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355080" y="1280160"/>
            <a:ext cx="5212080" cy="365760"/>
          </a:xfrm>
          <a:prstGeom prst="rect">
            <a:avLst/>
          </a:prstGeom>
          <a:noFill/>
        </p:spPr>
        <p:txBody>
          <a:bodyPr wrap="square">
            <a:spAutoFit/>
          </a:bodyPr>
          <a:lstStyle/>
          <a:p>
            <a:pPr algn="l"/>
            <a:r>
              <a:rPr sz="1300" b="1">
                <a:solidFill>
                  <a:srgbClr val="589DE8"/>
                </a:solidFill>
              </a:rPr>
              <a:t>マルチステージビルド</a:t>
            </a:r>
          </a:p>
        </p:txBody>
      </p:sp>
      <p:sp>
        <p:nvSpPr>
          <p:cNvPr id="10" name="TextBox 9"/>
          <p:cNvSpPr txBox="1"/>
          <p:nvPr/>
        </p:nvSpPr>
        <p:spPr>
          <a:xfrm>
            <a:off x="6355080" y="1645920"/>
            <a:ext cx="5212080" cy="731520"/>
          </a:xfrm>
          <a:prstGeom prst="rect">
            <a:avLst/>
          </a:prstGeom>
          <a:noFill/>
        </p:spPr>
        <p:txBody>
          <a:bodyPr wrap="square">
            <a:spAutoFit/>
          </a:bodyPr>
          <a:lstStyle/>
          <a:p>
            <a:pPr algn="l"/>
            <a:r>
              <a:rPr sz="1200" b="0">
                <a:solidFill>
                  <a:srgbClr val="CCCCCC"/>
                </a:solidFill>
              </a:rPr>
              <a:t>ビルド時の依存関係を
本番イメージに含めない
→ イメージサイズ削減</a:t>
            </a:r>
          </a:p>
        </p:txBody>
      </p:sp>
      <p:sp>
        <p:nvSpPr>
          <p:cNvPr id="11" name="Rectangle 10"/>
          <p:cNvSpPr/>
          <p:nvPr/>
        </p:nvSpPr>
        <p:spPr>
          <a:xfrm>
            <a:off x="6217920" y="2514600"/>
            <a:ext cx="5486400" cy="1188720"/>
          </a:xfrm>
          <a:prstGeom prst="rect">
            <a:avLst/>
          </a:prstGeom>
          <a:solidFill>
            <a:srgbClr val="2D2D44"/>
          </a:solidFill>
          <a:ln w="19050">
            <a:solidFill>
              <a:srgbClr val="FF9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355080" y="2560320"/>
            <a:ext cx="5212080" cy="365760"/>
          </a:xfrm>
          <a:prstGeom prst="rect">
            <a:avLst/>
          </a:prstGeom>
          <a:noFill/>
        </p:spPr>
        <p:txBody>
          <a:bodyPr wrap="square">
            <a:spAutoFit/>
          </a:bodyPr>
          <a:lstStyle/>
          <a:p>
            <a:pPr algn="l"/>
            <a:r>
              <a:rPr sz="1300" b="1">
                <a:solidFill>
                  <a:srgbClr val="FF9900"/>
                </a:solidFill>
              </a:rPr>
              <a:t>python:3.14-slim 採用</a:t>
            </a:r>
          </a:p>
        </p:txBody>
      </p:sp>
      <p:sp>
        <p:nvSpPr>
          <p:cNvPr id="13" name="TextBox 12"/>
          <p:cNvSpPr txBox="1"/>
          <p:nvPr/>
        </p:nvSpPr>
        <p:spPr>
          <a:xfrm>
            <a:off x="6355080" y="2926080"/>
            <a:ext cx="5212080" cy="731520"/>
          </a:xfrm>
          <a:prstGeom prst="rect">
            <a:avLst/>
          </a:prstGeom>
          <a:noFill/>
        </p:spPr>
        <p:txBody>
          <a:bodyPr wrap="square">
            <a:spAutoFit/>
          </a:bodyPr>
          <a:lstStyle/>
          <a:p>
            <a:pPr algn="l"/>
            <a:r>
              <a:rPr sz="1200" b="0">
                <a:solidFill>
                  <a:srgbClr val="CCCCCC"/>
                </a:solidFill>
              </a:rPr>
              <a:t>3.12より長いサポート期間
Debianパッケージの
セキュリティ修正が充実</a:t>
            </a:r>
          </a:p>
        </p:txBody>
      </p:sp>
      <p:sp>
        <p:nvSpPr>
          <p:cNvPr id="14" name="Rectangle 13"/>
          <p:cNvSpPr/>
          <p:nvPr/>
        </p:nvSpPr>
        <p:spPr>
          <a:xfrm>
            <a:off x="6217920" y="3794760"/>
            <a:ext cx="5486400" cy="1188720"/>
          </a:xfrm>
          <a:prstGeom prst="rect">
            <a:avLst/>
          </a:prstGeom>
          <a:solidFill>
            <a:srgbClr val="2D2D44"/>
          </a:solidFill>
          <a:ln w="19050">
            <a:solidFill>
              <a:srgbClr val="FF5F5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355080" y="3840480"/>
            <a:ext cx="5212080" cy="365760"/>
          </a:xfrm>
          <a:prstGeom prst="rect">
            <a:avLst/>
          </a:prstGeom>
          <a:noFill/>
        </p:spPr>
        <p:txBody>
          <a:bodyPr wrap="square">
            <a:spAutoFit/>
          </a:bodyPr>
          <a:lstStyle/>
          <a:p>
            <a:pPr algn="l"/>
            <a:r>
              <a:rPr sz="1300" b="1">
                <a:solidFill>
                  <a:srgbClr val="FF5F57"/>
                </a:solidFill>
              </a:rPr>
              <a:t>非rootユーザー実行</a:t>
            </a:r>
          </a:p>
        </p:txBody>
      </p:sp>
      <p:sp>
        <p:nvSpPr>
          <p:cNvPr id="16" name="TextBox 15"/>
          <p:cNvSpPr txBox="1"/>
          <p:nvPr/>
        </p:nvSpPr>
        <p:spPr>
          <a:xfrm>
            <a:off x="6355080" y="4206240"/>
            <a:ext cx="5212080" cy="731520"/>
          </a:xfrm>
          <a:prstGeom prst="rect">
            <a:avLst/>
          </a:prstGeom>
          <a:noFill/>
        </p:spPr>
        <p:txBody>
          <a:bodyPr wrap="square">
            <a:spAutoFit/>
          </a:bodyPr>
          <a:lstStyle/>
          <a:p>
            <a:pPr algn="l"/>
            <a:r>
              <a:rPr sz="1200" b="0">
                <a:solidFill>
                  <a:srgbClr val="CCCCCC"/>
                </a:solidFill>
              </a:rPr>
              <a:t>UID/GIDを明示 (1001)
権限昇格攻撃の
リスクを低減</a:t>
            </a:r>
          </a:p>
        </p:txBody>
      </p:sp>
      <p:sp>
        <p:nvSpPr>
          <p:cNvPr id="17" name="Rectangle 16"/>
          <p:cNvSpPr/>
          <p:nvPr/>
        </p:nvSpPr>
        <p:spPr>
          <a:xfrm>
            <a:off x="6217920" y="5074920"/>
            <a:ext cx="5486400" cy="1188720"/>
          </a:xfrm>
          <a:prstGeom prst="rect">
            <a:avLst/>
          </a:prstGeom>
          <a:solidFill>
            <a:srgbClr val="2D2D44"/>
          </a:solidFill>
          <a:ln w="19050">
            <a:solidFill>
              <a:srgbClr val="4EC97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355080" y="5120640"/>
            <a:ext cx="5212080" cy="365760"/>
          </a:xfrm>
          <a:prstGeom prst="rect">
            <a:avLst/>
          </a:prstGeom>
          <a:noFill/>
        </p:spPr>
        <p:txBody>
          <a:bodyPr wrap="square">
            <a:spAutoFit/>
          </a:bodyPr>
          <a:lstStyle/>
          <a:p>
            <a:pPr algn="l"/>
            <a:r>
              <a:rPr sz="1300" b="1">
                <a:solidFill>
                  <a:srgbClr val="4EC97E"/>
                </a:solidFill>
              </a:rPr>
              <a:t>ヘルスチェック実装</a:t>
            </a:r>
          </a:p>
        </p:txBody>
      </p:sp>
      <p:sp>
        <p:nvSpPr>
          <p:cNvPr id="19" name="TextBox 18"/>
          <p:cNvSpPr txBox="1"/>
          <p:nvPr/>
        </p:nvSpPr>
        <p:spPr>
          <a:xfrm>
            <a:off x="6355080" y="5486400"/>
            <a:ext cx="5212080" cy="731520"/>
          </a:xfrm>
          <a:prstGeom prst="rect">
            <a:avLst/>
          </a:prstGeom>
          <a:noFill/>
        </p:spPr>
        <p:txBody>
          <a:bodyPr wrap="square">
            <a:spAutoFit/>
          </a:bodyPr>
          <a:lstStyle/>
          <a:p>
            <a:pPr algn="l"/>
            <a:r>
              <a:rPr sz="1200" b="0">
                <a:solidFill>
                  <a:srgbClr val="CCCCCC"/>
                </a:solidFill>
              </a:rPr>
              <a:t>ECSがコンテナの
正常性を自動判断
異常時は自動再起動</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E1E2E"/>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589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10972800" cy="640080"/>
          </a:xfrm>
          <a:prstGeom prst="rect">
            <a:avLst/>
          </a:prstGeom>
          <a:noFill/>
        </p:spPr>
        <p:txBody>
          <a:bodyPr wrap="square">
            <a:spAutoFit/>
          </a:bodyPr>
          <a:lstStyle/>
          <a:p>
            <a:pPr algn="l"/>
            <a:r>
              <a:rPr sz="2800" b="1">
                <a:solidFill>
                  <a:srgbClr val="FFFFFF"/>
                </a:solidFill>
              </a:rPr>
              <a:t>Image CI/CD: ECR &amp; ECS デプロイ</a:t>
            </a:r>
          </a:p>
        </p:txBody>
      </p:sp>
      <p:sp>
        <p:nvSpPr>
          <p:cNvPr id="4" name="TextBox 3"/>
          <p:cNvSpPr txBox="1"/>
          <p:nvPr/>
        </p:nvSpPr>
        <p:spPr>
          <a:xfrm>
            <a:off x="457200" y="731520"/>
            <a:ext cx="10972800" cy="365760"/>
          </a:xfrm>
          <a:prstGeom prst="rect">
            <a:avLst/>
          </a:prstGeom>
          <a:noFill/>
        </p:spPr>
        <p:txBody>
          <a:bodyPr wrap="square">
            <a:spAutoFit/>
          </a:bodyPr>
          <a:lstStyle/>
          <a:p>
            <a:pPr algn="l"/>
            <a:r>
              <a:rPr sz="1400" b="0">
                <a:solidFill>
                  <a:srgbClr val="589DE8"/>
                </a:solidFill>
              </a:rPr>
              <a:t>github.sha によるユニークタグ戦略</a:t>
            </a:r>
          </a:p>
        </p:txBody>
      </p:sp>
      <p:sp>
        <p:nvSpPr>
          <p:cNvPr id="5" name="Rectangle 4"/>
          <p:cNvSpPr/>
          <p:nvPr/>
        </p:nvSpPr>
        <p:spPr>
          <a:xfrm>
            <a:off x="0" y="6675120"/>
            <a:ext cx="12188952" cy="182880"/>
          </a:xfrm>
          <a:prstGeom prst="rect">
            <a:avLst/>
          </a:prstGeom>
          <a:solidFill>
            <a:srgbClr val="589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28600" y="1371600"/>
            <a:ext cx="1508760" cy="914400"/>
          </a:xfrm>
          <a:prstGeom prst="rect">
            <a:avLst/>
          </a:prstGeom>
          <a:solidFill>
            <a:srgbClr val="2D2D44"/>
          </a:solidFill>
          <a:ln w="19050">
            <a:solidFill>
              <a:srgbClr val="589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28600" y="1371600"/>
            <a:ext cx="1508760" cy="457200"/>
          </a:xfrm>
          <a:prstGeom prst="rect">
            <a:avLst/>
          </a:prstGeom>
          <a:noFill/>
        </p:spPr>
        <p:txBody>
          <a:bodyPr wrap="square">
            <a:spAutoFit/>
          </a:bodyPr>
          <a:lstStyle/>
          <a:p>
            <a:pPr algn="ctr"/>
            <a:r>
              <a:rPr sz="1200" b="1">
                <a:solidFill>
                  <a:srgbClr val="589DE8"/>
                </a:solidFill>
              </a:rPr>
              <a:t>PR 作成</a:t>
            </a:r>
          </a:p>
        </p:txBody>
      </p:sp>
      <p:sp>
        <p:nvSpPr>
          <p:cNvPr id="8" name="TextBox 7"/>
          <p:cNvSpPr txBox="1"/>
          <p:nvPr/>
        </p:nvSpPr>
        <p:spPr>
          <a:xfrm>
            <a:off x="228600" y="1828800"/>
            <a:ext cx="1508760" cy="411480"/>
          </a:xfrm>
          <a:prstGeom prst="rect">
            <a:avLst/>
          </a:prstGeom>
          <a:noFill/>
        </p:spPr>
        <p:txBody>
          <a:bodyPr wrap="square">
            <a:spAutoFit/>
          </a:bodyPr>
          <a:lstStyle/>
          <a:p>
            <a:pPr algn="ctr"/>
            <a:r>
              <a:rPr sz="1100" b="0">
                <a:solidFill>
                  <a:srgbClr val="CCCCCC"/>
                </a:solidFill>
              </a:rPr>
              <a:t>image-ci.yml 起動</a:t>
            </a:r>
          </a:p>
        </p:txBody>
      </p:sp>
      <p:sp>
        <p:nvSpPr>
          <p:cNvPr id="9" name="TextBox 8"/>
          <p:cNvSpPr txBox="1"/>
          <p:nvPr/>
        </p:nvSpPr>
        <p:spPr>
          <a:xfrm>
            <a:off x="1737360" y="1508760"/>
            <a:ext cx="91440" cy="548640"/>
          </a:xfrm>
          <a:prstGeom prst="rect">
            <a:avLst/>
          </a:prstGeom>
          <a:noFill/>
        </p:spPr>
        <p:txBody>
          <a:bodyPr wrap="square">
            <a:spAutoFit/>
          </a:bodyPr>
          <a:lstStyle/>
          <a:p>
            <a:pPr algn="ctr"/>
            <a:r>
              <a:rPr sz="1600" b="0">
                <a:solidFill>
                  <a:srgbClr val="CCCCCC"/>
                </a:solidFill>
              </a:rPr>
              <a:t>→</a:t>
            </a:r>
          </a:p>
        </p:txBody>
      </p:sp>
      <p:sp>
        <p:nvSpPr>
          <p:cNvPr id="10" name="Rectangle 9"/>
          <p:cNvSpPr/>
          <p:nvPr/>
        </p:nvSpPr>
        <p:spPr>
          <a:xfrm>
            <a:off x="1810512" y="1371600"/>
            <a:ext cx="1508760" cy="914400"/>
          </a:xfrm>
          <a:prstGeom prst="rect">
            <a:avLst/>
          </a:prstGeom>
          <a:solidFill>
            <a:srgbClr val="2D2D44"/>
          </a:solidFill>
          <a:ln w="19050">
            <a:solidFill>
              <a:srgbClr val="FF9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810512" y="1371600"/>
            <a:ext cx="1508760" cy="457200"/>
          </a:xfrm>
          <a:prstGeom prst="rect">
            <a:avLst/>
          </a:prstGeom>
          <a:noFill/>
        </p:spPr>
        <p:txBody>
          <a:bodyPr wrap="square">
            <a:spAutoFit/>
          </a:bodyPr>
          <a:lstStyle/>
          <a:p>
            <a:pPr algn="ctr"/>
            <a:r>
              <a:rPr sz="1200" b="1">
                <a:solidFill>
                  <a:srgbClr val="FF9900"/>
                </a:solidFill>
              </a:rPr>
              <a:t>docker build</a:t>
            </a:r>
          </a:p>
        </p:txBody>
      </p:sp>
      <p:sp>
        <p:nvSpPr>
          <p:cNvPr id="12" name="TextBox 11"/>
          <p:cNvSpPr txBox="1"/>
          <p:nvPr/>
        </p:nvSpPr>
        <p:spPr>
          <a:xfrm>
            <a:off x="1810512" y="1828800"/>
            <a:ext cx="1508760" cy="411480"/>
          </a:xfrm>
          <a:prstGeom prst="rect">
            <a:avLst/>
          </a:prstGeom>
          <a:noFill/>
        </p:spPr>
        <p:txBody>
          <a:bodyPr wrap="square">
            <a:spAutoFit/>
          </a:bodyPr>
          <a:lstStyle/>
          <a:p>
            <a:pPr algn="ctr"/>
            <a:r>
              <a:rPr sz="1100" b="0">
                <a:solidFill>
                  <a:srgbClr val="CCCCCC"/>
                </a:solidFill>
              </a:rPr>
              <a:t>マルチステージビルド</a:t>
            </a:r>
          </a:p>
        </p:txBody>
      </p:sp>
      <p:sp>
        <p:nvSpPr>
          <p:cNvPr id="13" name="TextBox 12"/>
          <p:cNvSpPr txBox="1"/>
          <p:nvPr/>
        </p:nvSpPr>
        <p:spPr>
          <a:xfrm>
            <a:off x="3319272" y="1508760"/>
            <a:ext cx="91440" cy="548640"/>
          </a:xfrm>
          <a:prstGeom prst="rect">
            <a:avLst/>
          </a:prstGeom>
          <a:noFill/>
        </p:spPr>
        <p:txBody>
          <a:bodyPr wrap="square">
            <a:spAutoFit/>
          </a:bodyPr>
          <a:lstStyle/>
          <a:p>
            <a:pPr algn="ctr"/>
            <a:r>
              <a:rPr sz="1600" b="0">
                <a:solidFill>
                  <a:srgbClr val="CCCCCC"/>
                </a:solidFill>
              </a:rPr>
              <a:t>→</a:t>
            </a:r>
          </a:p>
        </p:txBody>
      </p:sp>
      <p:sp>
        <p:nvSpPr>
          <p:cNvPr id="14" name="Rectangle 13"/>
          <p:cNvSpPr/>
          <p:nvPr/>
        </p:nvSpPr>
        <p:spPr>
          <a:xfrm>
            <a:off x="3392424" y="1371600"/>
            <a:ext cx="1508760" cy="914400"/>
          </a:xfrm>
          <a:prstGeom prst="rect">
            <a:avLst/>
          </a:prstGeom>
          <a:solidFill>
            <a:srgbClr val="2D2D44"/>
          </a:solidFill>
          <a:ln w="19050">
            <a:solidFill>
              <a:srgbClr val="FF5F5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392424" y="1371600"/>
            <a:ext cx="1508760" cy="457200"/>
          </a:xfrm>
          <a:prstGeom prst="rect">
            <a:avLst/>
          </a:prstGeom>
          <a:noFill/>
        </p:spPr>
        <p:txBody>
          <a:bodyPr wrap="square">
            <a:spAutoFit/>
          </a:bodyPr>
          <a:lstStyle/>
          <a:p>
            <a:pPr algn="ctr"/>
            <a:r>
              <a:rPr sz="1200" b="1">
                <a:solidFill>
                  <a:srgbClr val="FF5F57"/>
                </a:solidFill>
              </a:rPr>
              <a:t>Trivy FS</a:t>
            </a:r>
          </a:p>
        </p:txBody>
      </p:sp>
      <p:sp>
        <p:nvSpPr>
          <p:cNvPr id="16" name="TextBox 15"/>
          <p:cNvSpPr txBox="1"/>
          <p:nvPr/>
        </p:nvSpPr>
        <p:spPr>
          <a:xfrm>
            <a:off x="3392424" y="1828800"/>
            <a:ext cx="1508760" cy="411480"/>
          </a:xfrm>
          <a:prstGeom prst="rect">
            <a:avLst/>
          </a:prstGeom>
          <a:noFill/>
        </p:spPr>
        <p:txBody>
          <a:bodyPr wrap="square">
            <a:spAutoFit/>
          </a:bodyPr>
          <a:lstStyle/>
          <a:p>
            <a:pPr algn="ctr"/>
            <a:r>
              <a:rPr sz="1100" b="0">
                <a:solidFill>
                  <a:srgbClr val="CCCCCC"/>
                </a:solidFill>
              </a:rPr>
              <a:t>依存関係スキャン</a:t>
            </a:r>
          </a:p>
        </p:txBody>
      </p:sp>
      <p:sp>
        <p:nvSpPr>
          <p:cNvPr id="17" name="TextBox 16"/>
          <p:cNvSpPr txBox="1"/>
          <p:nvPr/>
        </p:nvSpPr>
        <p:spPr>
          <a:xfrm>
            <a:off x="4901184" y="1508760"/>
            <a:ext cx="91440" cy="548640"/>
          </a:xfrm>
          <a:prstGeom prst="rect">
            <a:avLst/>
          </a:prstGeom>
          <a:noFill/>
        </p:spPr>
        <p:txBody>
          <a:bodyPr wrap="square">
            <a:spAutoFit/>
          </a:bodyPr>
          <a:lstStyle/>
          <a:p>
            <a:pPr algn="ctr"/>
            <a:r>
              <a:rPr sz="1600" b="0">
                <a:solidFill>
                  <a:srgbClr val="CCCCCC"/>
                </a:solidFill>
              </a:rPr>
              <a:t>→</a:t>
            </a:r>
          </a:p>
        </p:txBody>
      </p:sp>
      <p:sp>
        <p:nvSpPr>
          <p:cNvPr id="18" name="Rectangle 17"/>
          <p:cNvSpPr/>
          <p:nvPr/>
        </p:nvSpPr>
        <p:spPr>
          <a:xfrm>
            <a:off x="4974336" y="1371600"/>
            <a:ext cx="1508760" cy="914400"/>
          </a:xfrm>
          <a:prstGeom prst="rect">
            <a:avLst/>
          </a:prstGeom>
          <a:solidFill>
            <a:srgbClr val="2D2D44"/>
          </a:solidFill>
          <a:ln w="19050">
            <a:solidFill>
              <a:srgbClr val="FF5F5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974336" y="1371600"/>
            <a:ext cx="1508760" cy="457200"/>
          </a:xfrm>
          <a:prstGeom prst="rect">
            <a:avLst/>
          </a:prstGeom>
          <a:noFill/>
        </p:spPr>
        <p:txBody>
          <a:bodyPr wrap="square">
            <a:spAutoFit/>
          </a:bodyPr>
          <a:lstStyle/>
          <a:p>
            <a:pPr algn="ctr"/>
            <a:r>
              <a:rPr sz="1200" b="1">
                <a:solidFill>
                  <a:srgbClr val="FF5F57"/>
                </a:solidFill>
              </a:rPr>
              <a:t>Trivy image</a:t>
            </a:r>
          </a:p>
        </p:txBody>
      </p:sp>
      <p:sp>
        <p:nvSpPr>
          <p:cNvPr id="20" name="TextBox 19"/>
          <p:cNvSpPr txBox="1"/>
          <p:nvPr/>
        </p:nvSpPr>
        <p:spPr>
          <a:xfrm>
            <a:off x="4974336" y="1828800"/>
            <a:ext cx="1508760" cy="411480"/>
          </a:xfrm>
          <a:prstGeom prst="rect">
            <a:avLst/>
          </a:prstGeom>
          <a:noFill/>
        </p:spPr>
        <p:txBody>
          <a:bodyPr wrap="square">
            <a:spAutoFit/>
          </a:bodyPr>
          <a:lstStyle/>
          <a:p>
            <a:pPr algn="ctr"/>
            <a:r>
              <a:rPr sz="1100" b="0">
                <a:solidFill>
                  <a:srgbClr val="CCCCCC"/>
                </a:solidFill>
              </a:rPr>
              <a:t>OSパッケージスキャン</a:t>
            </a:r>
          </a:p>
        </p:txBody>
      </p:sp>
      <p:sp>
        <p:nvSpPr>
          <p:cNvPr id="21" name="TextBox 20"/>
          <p:cNvSpPr txBox="1"/>
          <p:nvPr/>
        </p:nvSpPr>
        <p:spPr>
          <a:xfrm>
            <a:off x="6483096" y="1508760"/>
            <a:ext cx="91440" cy="548640"/>
          </a:xfrm>
          <a:prstGeom prst="rect">
            <a:avLst/>
          </a:prstGeom>
          <a:noFill/>
        </p:spPr>
        <p:txBody>
          <a:bodyPr wrap="square">
            <a:spAutoFit/>
          </a:bodyPr>
          <a:lstStyle/>
          <a:p>
            <a:pPr algn="ctr"/>
            <a:r>
              <a:rPr sz="1600" b="0">
                <a:solidFill>
                  <a:srgbClr val="CCCCCC"/>
                </a:solidFill>
              </a:rPr>
              <a:t>→</a:t>
            </a:r>
          </a:p>
        </p:txBody>
      </p:sp>
      <p:sp>
        <p:nvSpPr>
          <p:cNvPr id="22" name="Rectangle 21"/>
          <p:cNvSpPr/>
          <p:nvPr/>
        </p:nvSpPr>
        <p:spPr>
          <a:xfrm>
            <a:off x="6556248" y="1371600"/>
            <a:ext cx="1508760" cy="914400"/>
          </a:xfrm>
          <a:prstGeom prst="rect">
            <a:avLst/>
          </a:prstGeom>
          <a:solidFill>
            <a:srgbClr val="2D2D44"/>
          </a:solidFill>
          <a:ln w="19050">
            <a:solidFill>
              <a:srgbClr val="4EC97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556248" y="1371600"/>
            <a:ext cx="1508760" cy="457200"/>
          </a:xfrm>
          <a:prstGeom prst="rect">
            <a:avLst/>
          </a:prstGeom>
          <a:noFill/>
        </p:spPr>
        <p:txBody>
          <a:bodyPr wrap="square">
            <a:spAutoFit/>
          </a:bodyPr>
          <a:lstStyle/>
          <a:p>
            <a:pPr algn="ctr"/>
            <a:r>
              <a:rPr sz="1200" b="1">
                <a:solidFill>
                  <a:srgbClr val="4EC97E"/>
                </a:solidFill>
              </a:rPr>
              <a:t>CodeQL SAST</a:t>
            </a:r>
          </a:p>
        </p:txBody>
      </p:sp>
      <p:sp>
        <p:nvSpPr>
          <p:cNvPr id="24" name="TextBox 23"/>
          <p:cNvSpPr txBox="1"/>
          <p:nvPr/>
        </p:nvSpPr>
        <p:spPr>
          <a:xfrm>
            <a:off x="6556248" y="1828800"/>
            <a:ext cx="1508760" cy="411480"/>
          </a:xfrm>
          <a:prstGeom prst="rect">
            <a:avLst/>
          </a:prstGeom>
          <a:noFill/>
        </p:spPr>
        <p:txBody>
          <a:bodyPr wrap="square">
            <a:spAutoFit/>
          </a:bodyPr>
          <a:lstStyle/>
          <a:p>
            <a:pPr algn="ctr"/>
            <a:r>
              <a:rPr sz="1100" b="0">
                <a:solidFill>
                  <a:srgbClr val="CCCCCC"/>
                </a:solidFill>
              </a:rPr>
              <a:t>Pythonコード解析</a:t>
            </a:r>
          </a:p>
        </p:txBody>
      </p:sp>
      <p:sp>
        <p:nvSpPr>
          <p:cNvPr id="25" name="TextBox 24"/>
          <p:cNvSpPr txBox="1"/>
          <p:nvPr/>
        </p:nvSpPr>
        <p:spPr>
          <a:xfrm>
            <a:off x="8065008" y="1508760"/>
            <a:ext cx="91440" cy="548640"/>
          </a:xfrm>
          <a:prstGeom prst="rect">
            <a:avLst/>
          </a:prstGeom>
          <a:noFill/>
        </p:spPr>
        <p:txBody>
          <a:bodyPr wrap="square">
            <a:spAutoFit/>
          </a:bodyPr>
          <a:lstStyle/>
          <a:p>
            <a:pPr algn="ctr"/>
            <a:r>
              <a:rPr sz="1600" b="0">
                <a:solidFill>
                  <a:srgbClr val="CCCCCC"/>
                </a:solidFill>
              </a:rPr>
              <a:t>→</a:t>
            </a:r>
          </a:p>
        </p:txBody>
      </p:sp>
      <p:sp>
        <p:nvSpPr>
          <p:cNvPr id="26" name="Rectangle 25"/>
          <p:cNvSpPr/>
          <p:nvPr/>
        </p:nvSpPr>
        <p:spPr>
          <a:xfrm>
            <a:off x="8138160" y="1371600"/>
            <a:ext cx="1508760" cy="914400"/>
          </a:xfrm>
          <a:prstGeom prst="rect">
            <a:avLst/>
          </a:prstGeom>
          <a:solidFill>
            <a:srgbClr val="2D2D44"/>
          </a:solidFill>
          <a:ln w="19050">
            <a:solidFill>
              <a:srgbClr val="589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138160" y="1371600"/>
            <a:ext cx="1508760" cy="457200"/>
          </a:xfrm>
          <a:prstGeom prst="rect">
            <a:avLst/>
          </a:prstGeom>
          <a:noFill/>
        </p:spPr>
        <p:txBody>
          <a:bodyPr wrap="square">
            <a:spAutoFit/>
          </a:bodyPr>
          <a:lstStyle/>
          <a:p>
            <a:pPr algn="ctr"/>
            <a:r>
              <a:rPr sz="1200" b="1">
                <a:solidFill>
                  <a:srgbClr val="589DE8"/>
                </a:solidFill>
              </a:rPr>
              <a:t>ECR push</a:t>
            </a:r>
          </a:p>
        </p:txBody>
      </p:sp>
      <p:sp>
        <p:nvSpPr>
          <p:cNvPr id="28" name="TextBox 27"/>
          <p:cNvSpPr txBox="1"/>
          <p:nvPr/>
        </p:nvSpPr>
        <p:spPr>
          <a:xfrm>
            <a:off x="8138160" y="1828800"/>
            <a:ext cx="1508760" cy="411480"/>
          </a:xfrm>
          <a:prstGeom prst="rect">
            <a:avLst/>
          </a:prstGeom>
          <a:noFill/>
        </p:spPr>
        <p:txBody>
          <a:bodyPr wrap="square">
            <a:spAutoFit/>
          </a:bodyPr>
          <a:lstStyle/>
          <a:p>
            <a:pPr algn="ctr"/>
            <a:r>
              <a:rPr sz="1100" b="0">
                <a:solidFill>
                  <a:srgbClr val="CCCCCC"/>
                </a:solidFill>
              </a:rPr>
              <a:t>タグ: github.sha</a:t>
            </a:r>
          </a:p>
        </p:txBody>
      </p:sp>
      <p:sp>
        <p:nvSpPr>
          <p:cNvPr id="29" name="TextBox 28"/>
          <p:cNvSpPr txBox="1"/>
          <p:nvPr/>
        </p:nvSpPr>
        <p:spPr>
          <a:xfrm>
            <a:off x="9646920" y="1508760"/>
            <a:ext cx="91440" cy="548640"/>
          </a:xfrm>
          <a:prstGeom prst="rect">
            <a:avLst/>
          </a:prstGeom>
          <a:noFill/>
        </p:spPr>
        <p:txBody>
          <a:bodyPr wrap="square">
            <a:spAutoFit/>
          </a:bodyPr>
          <a:lstStyle/>
          <a:p>
            <a:pPr algn="ctr"/>
            <a:r>
              <a:rPr sz="1600" b="0">
                <a:solidFill>
                  <a:srgbClr val="CCCCCC"/>
                </a:solidFill>
              </a:rPr>
              <a:t>→</a:t>
            </a:r>
          </a:p>
        </p:txBody>
      </p:sp>
      <p:sp>
        <p:nvSpPr>
          <p:cNvPr id="30" name="Rectangle 29"/>
          <p:cNvSpPr/>
          <p:nvPr/>
        </p:nvSpPr>
        <p:spPr>
          <a:xfrm>
            <a:off x="9720072" y="1371600"/>
            <a:ext cx="1508760" cy="914400"/>
          </a:xfrm>
          <a:prstGeom prst="rect">
            <a:avLst/>
          </a:prstGeom>
          <a:solidFill>
            <a:srgbClr val="2D2D44"/>
          </a:solidFill>
          <a:ln w="19050">
            <a:solidFill>
              <a:srgbClr val="4EC97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720072" y="1371600"/>
            <a:ext cx="1508760" cy="457200"/>
          </a:xfrm>
          <a:prstGeom prst="rect">
            <a:avLst/>
          </a:prstGeom>
          <a:noFill/>
        </p:spPr>
        <p:txBody>
          <a:bodyPr wrap="square">
            <a:spAutoFit/>
          </a:bodyPr>
          <a:lstStyle/>
          <a:p>
            <a:pPr algn="ctr"/>
            <a:r>
              <a:rPr sz="1200" b="1">
                <a:solidFill>
                  <a:srgbClr val="4EC97E"/>
                </a:solidFill>
              </a:rPr>
              <a:t>ECS deploy</a:t>
            </a:r>
          </a:p>
        </p:txBody>
      </p:sp>
      <p:sp>
        <p:nvSpPr>
          <p:cNvPr id="32" name="TextBox 31"/>
          <p:cNvSpPr txBox="1"/>
          <p:nvPr/>
        </p:nvSpPr>
        <p:spPr>
          <a:xfrm>
            <a:off x="9720072" y="1828800"/>
            <a:ext cx="1508760" cy="411480"/>
          </a:xfrm>
          <a:prstGeom prst="rect">
            <a:avLst/>
          </a:prstGeom>
          <a:noFill/>
        </p:spPr>
        <p:txBody>
          <a:bodyPr wrap="square">
            <a:spAutoFit/>
          </a:bodyPr>
          <a:lstStyle/>
          <a:p>
            <a:pPr algn="ctr"/>
            <a:r>
              <a:rPr sz="1100" b="0">
                <a:solidFill>
                  <a:srgbClr val="CCCCCC"/>
                </a:solidFill>
              </a:rPr>
              <a:t>Fargate サービス更新</a:t>
            </a:r>
          </a:p>
        </p:txBody>
      </p:sp>
      <p:sp>
        <p:nvSpPr>
          <p:cNvPr id="33" name="TextBox 32"/>
          <p:cNvSpPr txBox="1"/>
          <p:nvPr/>
        </p:nvSpPr>
        <p:spPr>
          <a:xfrm>
            <a:off x="274320" y="2606040"/>
            <a:ext cx="5486400" cy="411480"/>
          </a:xfrm>
          <a:prstGeom prst="rect">
            <a:avLst/>
          </a:prstGeom>
          <a:noFill/>
        </p:spPr>
        <p:txBody>
          <a:bodyPr wrap="square">
            <a:spAutoFit/>
          </a:bodyPr>
          <a:lstStyle/>
          <a:p>
            <a:pPr algn="l"/>
            <a:r>
              <a:rPr sz="1500" b="1">
                <a:solidFill>
                  <a:srgbClr val="589DE8"/>
                </a:solidFill>
              </a:rPr>
              <a:t>ECR 設定のポイント</a:t>
            </a:r>
          </a:p>
        </p:txBody>
      </p:sp>
      <p:sp>
        <p:nvSpPr>
          <p:cNvPr id="34" name="TextBox 33"/>
          <p:cNvSpPr txBox="1"/>
          <p:nvPr/>
        </p:nvSpPr>
        <p:spPr>
          <a:xfrm>
            <a:off x="365760" y="3063240"/>
            <a:ext cx="5303520" cy="411480"/>
          </a:xfrm>
          <a:prstGeom prst="rect">
            <a:avLst/>
          </a:prstGeom>
          <a:noFill/>
        </p:spPr>
        <p:txBody>
          <a:bodyPr wrap="square">
            <a:spAutoFit/>
          </a:bodyPr>
          <a:lstStyle/>
          <a:p>
            <a:pPr algn="l"/>
            <a:r>
              <a:rPr sz="1300" b="0">
                <a:solidFill>
                  <a:srgbClr val="CCCCCC"/>
                </a:solidFill>
              </a:rPr>
              <a:t>✓  イミュータブルタグ: 同じタグへの上書きを禁止</a:t>
            </a:r>
          </a:p>
        </p:txBody>
      </p:sp>
      <p:sp>
        <p:nvSpPr>
          <p:cNvPr id="35" name="TextBox 34"/>
          <p:cNvSpPr txBox="1"/>
          <p:nvPr/>
        </p:nvSpPr>
        <p:spPr>
          <a:xfrm>
            <a:off x="365760" y="3538728"/>
            <a:ext cx="5303520" cy="411480"/>
          </a:xfrm>
          <a:prstGeom prst="rect">
            <a:avLst/>
          </a:prstGeom>
          <a:noFill/>
        </p:spPr>
        <p:txBody>
          <a:bodyPr wrap="square">
            <a:spAutoFit/>
          </a:bodyPr>
          <a:lstStyle/>
          <a:p>
            <a:pPr algn="l"/>
            <a:r>
              <a:rPr sz="1300" b="0">
                <a:solidFill>
                  <a:srgbClr val="CCCCCC"/>
                </a:solidFill>
              </a:rPr>
              <a:t>✓  プッシュ時スキャン: ECR自体でもイメージスキャン</a:t>
            </a:r>
          </a:p>
        </p:txBody>
      </p:sp>
      <p:sp>
        <p:nvSpPr>
          <p:cNvPr id="36" name="TextBox 35"/>
          <p:cNvSpPr txBox="1"/>
          <p:nvPr/>
        </p:nvSpPr>
        <p:spPr>
          <a:xfrm>
            <a:off x="365760" y="4014216"/>
            <a:ext cx="5303520" cy="411480"/>
          </a:xfrm>
          <a:prstGeom prst="rect">
            <a:avLst/>
          </a:prstGeom>
          <a:noFill/>
        </p:spPr>
        <p:txBody>
          <a:bodyPr wrap="square">
            <a:spAutoFit/>
          </a:bodyPr>
          <a:lstStyle/>
          <a:p>
            <a:pPr algn="l"/>
            <a:r>
              <a:rPr sz="1300" b="0">
                <a:solidFill>
                  <a:srgbClr val="CCCCCC"/>
                </a:solidFill>
              </a:rPr>
              <a:t>✓  ライフサイクルポリシー: 古いイメージを自動削除</a:t>
            </a:r>
          </a:p>
        </p:txBody>
      </p:sp>
      <p:sp>
        <p:nvSpPr>
          <p:cNvPr id="37" name="TextBox 36"/>
          <p:cNvSpPr txBox="1"/>
          <p:nvPr/>
        </p:nvSpPr>
        <p:spPr>
          <a:xfrm>
            <a:off x="365760" y="4489704"/>
            <a:ext cx="5303520" cy="411480"/>
          </a:xfrm>
          <a:prstGeom prst="rect">
            <a:avLst/>
          </a:prstGeom>
          <a:noFill/>
        </p:spPr>
        <p:txBody>
          <a:bodyPr wrap="square">
            <a:spAutoFit/>
          </a:bodyPr>
          <a:lstStyle/>
          <a:p>
            <a:pPr algn="l"/>
            <a:r>
              <a:rPr sz="1300" b="0">
                <a:solidFill>
                  <a:srgbClr val="CCCCCC"/>
                </a:solidFill>
              </a:rPr>
              <a:t>✓  github.sha タグ: 各コミットのイメージを一意に識別・追跡可能</a:t>
            </a:r>
          </a:p>
        </p:txBody>
      </p:sp>
      <p:sp>
        <p:nvSpPr>
          <p:cNvPr id="38" name="Rectangle 37"/>
          <p:cNvSpPr/>
          <p:nvPr/>
        </p:nvSpPr>
        <p:spPr>
          <a:xfrm>
            <a:off x="5943600" y="2606040"/>
            <a:ext cx="5943600" cy="3474720"/>
          </a:xfrm>
          <a:prstGeom prst="rect">
            <a:avLst/>
          </a:prstGeom>
          <a:solidFill>
            <a:srgbClr val="2D2D44"/>
          </a:solidFill>
          <a:ln w="19050">
            <a:solidFill>
              <a:srgbClr val="FF9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080760" y="2697480"/>
            <a:ext cx="5669280" cy="365760"/>
          </a:xfrm>
          <a:prstGeom prst="rect">
            <a:avLst/>
          </a:prstGeom>
          <a:noFill/>
        </p:spPr>
        <p:txBody>
          <a:bodyPr wrap="square">
            <a:spAutoFit/>
          </a:bodyPr>
          <a:lstStyle/>
          <a:p>
            <a:pPr algn="l"/>
            <a:r>
              <a:rPr sz="1300" b="1">
                <a:solidFill>
                  <a:srgbClr val="FF9900"/>
                </a:solidFill>
              </a:rPr>
              <a:t>解決したトラブル #10</a:t>
            </a:r>
          </a:p>
        </p:txBody>
      </p:sp>
      <p:sp>
        <p:nvSpPr>
          <p:cNvPr id="40" name="TextBox 39"/>
          <p:cNvSpPr txBox="1"/>
          <p:nvPr/>
        </p:nvSpPr>
        <p:spPr>
          <a:xfrm>
            <a:off x="6080760" y="3154680"/>
            <a:ext cx="5669280" cy="2743200"/>
          </a:xfrm>
          <a:prstGeom prst="rect">
            <a:avLst/>
          </a:prstGeom>
          <a:noFill/>
        </p:spPr>
        <p:txBody>
          <a:bodyPr wrap="square">
            <a:spAutoFit/>
          </a:bodyPr>
          <a:lstStyle/>
          <a:p>
            <a:pPr algn="l"/>
            <a:r>
              <a:rPr sz="1200" b="0">
                <a:solidFill>
                  <a:srgbClr val="CCCCCC"/>
                </a:solidFill>
              </a:rPr>
              <a:t>問題:  ECR latest タグ上書き → 409 エラー
原因:  ECR イミュータブルタグ設定により
       同じタグへの上書きが禁止されていた
対策:  latest タグをやめ github.sha を
       ユニークタグとして使用
効果:  どのコミットのイメージかを
       正確に追跡できるようになった</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E1E2E"/>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589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10972800" cy="640080"/>
          </a:xfrm>
          <a:prstGeom prst="rect">
            <a:avLst/>
          </a:prstGeom>
          <a:noFill/>
        </p:spPr>
        <p:txBody>
          <a:bodyPr wrap="square">
            <a:spAutoFit/>
          </a:bodyPr>
          <a:lstStyle/>
          <a:p>
            <a:pPr algn="l"/>
            <a:r>
              <a:rPr sz="2800" b="1">
                <a:solidFill>
                  <a:srgbClr val="FFFFFF"/>
                </a:solidFill>
              </a:rPr>
              <a:t>AWS 認証設計: OIDC</a:t>
            </a:r>
          </a:p>
        </p:txBody>
      </p:sp>
      <p:sp>
        <p:nvSpPr>
          <p:cNvPr id="4" name="TextBox 3"/>
          <p:cNvSpPr txBox="1"/>
          <p:nvPr/>
        </p:nvSpPr>
        <p:spPr>
          <a:xfrm>
            <a:off x="457200" y="731520"/>
            <a:ext cx="10972800" cy="365760"/>
          </a:xfrm>
          <a:prstGeom prst="rect">
            <a:avLst/>
          </a:prstGeom>
          <a:noFill/>
        </p:spPr>
        <p:txBody>
          <a:bodyPr wrap="square">
            <a:spAutoFit/>
          </a:bodyPr>
          <a:lstStyle/>
          <a:p>
            <a:pPr algn="l"/>
            <a:r>
              <a:rPr sz="1400" b="0">
                <a:solidFill>
                  <a:srgbClr val="589DE8"/>
                </a:solidFill>
              </a:rPr>
              <a:t>長期アクセスキーを使わない安全な認証</a:t>
            </a:r>
          </a:p>
        </p:txBody>
      </p:sp>
      <p:sp>
        <p:nvSpPr>
          <p:cNvPr id="5" name="Rectangle 4"/>
          <p:cNvSpPr/>
          <p:nvPr/>
        </p:nvSpPr>
        <p:spPr>
          <a:xfrm>
            <a:off x="0" y="6675120"/>
            <a:ext cx="12188952" cy="182880"/>
          </a:xfrm>
          <a:prstGeom prst="rect">
            <a:avLst/>
          </a:prstGeom>
          <a:solidFill>
            <a:srgbClr val="589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20040" y="1371600"/>
            <a:ext cx="2011680" cy="1097280"/>
          </a:xfrm>
          <a:prstGeom prst="rect">
            <a:avLst/>
          </a:prstGeom>
          <a:solidFill>
            <a:srgbClr val="2D2D44"/>
          </a:solidFill>
          <a:ln w="19050">
            <a:solidFill>
              <a:srgbClr val="589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20040" y="1417320"/>
            <a:ext cx="2011680" cy="548640"/>
          </a:xfrm>
          <a:prstGeom prst="rect">
            <a:avLst/>
          </a:prstGeom>
          <a:noFill/>
        </p:spPr>
        <p:txBody>
          <a:bodyPr wrap="square">
            <a:spAutoFit/>
          </a:bodyPr>
          <a:lstStyle/>
          <a:p>
            <a:pPr algn="ctr"/>
            <a:r>
              <a:rPr sz="1400" b="1">
                <a:solidFill>
                  <a:srgbClr val="589DE8"/>
                </a:solidFill>
              </a:rPr>
              <a:t>GitHub
Actions</a:t>
            </a:r>
          </a:p>
        </p:txBody>
      </p:sp>
      <p:sp>
        <p:nvSpPr>
          <p:cNvPr id="8" name="TextBox 7"/>
          <p:cNvSpPr txBox="1"/>
          <p:nvPr/>
        </p:nvSpPr>
        <p:spPr>
          <a:xfrm>
            <a:off x="320040" y="1920240"/>
            <a:ext cx="2011680" cy="457200"/>
          </a:xfrm>
          <a:prstGeom prst="rect">
            <a:avLst/>
          </a:prstGeom>
          <a:noFill/>
        </p:spPr>
        <p:txBody>
          <a:bodyPr wrap="square">
            <a:spAutoFit/>
          </a:bodyPr>
          <a:lstStyle/>
          <a:p>
            <a:pPr algn="ctr"/>
            <a:r>
              <a:rPr sz="1100" b="0">
                <a:solidFill>
                  <a:srgbClr val="CCCCCC"/>
                </a:solidFill>
              </a:rPr>
              <a:t>ワークフロー起動</a:t>
            </a:r>
          </a:p>
        </p:txBody>
      </p:sp>
      <p:sp>
        <p:nvSpPr>
          <p:cNvPr id="9" name="TextBox 8"/>
          <p:cNvSpPr txBox="1"/>
          <p:nvPr/>
        </p:nvSpPr>
        <p:spPr>
          <a:xfrm>
            <a:off x="2331720" y="1600200"/>
            <a:ext cx="155448" cy="548640"/>
          </a:xfrm>
          <a:prstGeom prst="rect">
            <a:avLst/>
          </a:prstGeom>
          <a:noFill/>
        </p:spPr>
        <p:txBody>
          <a:bodyPr wrap="square">
            <a:spAutoFit/>
          </a:bodyPr>
          <a:lstStyle/>
          <a:p>
            <a:pPr algn="ctr"/>
            <a:r>
              <a:rPr sz="1800" b="0">
                <a:solidFill>
                  <a:srgbClr val="CCCCCC"/>
                </a:solidFill>
              </a:rPr>
              <a:t>→</a:t>
            </a:r>
          </a:p>
        </p:txBody>
      </p:sp>
      <p:sp>
        <p:nvSpPr>
          <p:cNvPr id="10" name="Rectangle 9"/>
          <p:cNvSpPr/>
          <p:nvPr/>
        </p:nvSpPr>
        <p:spPr>
          <a:xfrm>
            <a:off x="2468880" y="1371600"/>
            <a:ext cx="2011680" cy="1097280"/>
          </a:xfrm>
          <a:prstGeom prst="rect">
            <a:avLst/>
          </a:prstGeom>
          <a:solidFill>
            <a:srgbClr val="2D2D44"/>
          </a:solidFill>
          <a:ln w="190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468880" y="1417320"/>
            <a:ext cx="2011680" cy="548640"/>
          </a:xfrm>
          <a:prstGeom prst="rect">
            <a:avLst/>
          </a:prstGeom>
          <a:noFill/>
        </p:spPr>
        <p:txBody>
          <a:bodyPr wrap="square">
            <a:spAutoFit/>
          </a:bodyPr>
          <a:lstStyle/>
          <a:p>
            <a:pPr algn="ctr"/>
            <a:r>
              <a:rPr sz="1400" b="1">
                <a:solidFill>
                  <a:srgbClr val="CCCCCC"/>
                </a:solidFill>
              </a:rPr>
              <a:t>JWT Token
発行</a:t>
            </a:r>
          </a:p>
        </p:txBody>
      </p:sp>
      <p:sp>
        <p:nvSpPr>
          <p:cNvPr id="12" name="TextBox 11"/>
          <p:cNvSpPr txBox="1"/>
          <p:nvPr/>
        </p:nvSpPr>
        <p:spPr>
          <a:xfrm>
            <a:off x="2468880" y="1920240"/>
            <a:ext cx="2011680" cy="457200"/>
          </a:xfrm>
          <a:prstGeom prst="rect">
            <a:avLst/>
          </a:prstGeom>
          <a:noFill/>
        </p:spPr>
        <p:txBody>
          <a:bodyPr wrap="square">
            <a:spAutoFit/>
          </a:bodyPr>
          <a:lstStyle/>
          <a:p>
            <a:pPr algn="ctr"/>
            <a:r>
              <a:rPr sz="1100" b="0">
                <a:solidFill>
                  <a:srgbClr val="CCCCCC"/>
                </a:solidFill>
              </a:rPr>
              <a:t>OIDC プロバイダー</a:t>
            </a:r>
          </a:p>
        </p:txBody>
      </p:sp>
      <p:sp>
        <p:nvSpPr>
          <p:cNvPr id="13" name="TextBox 12"/>
          <p:cNvSpPr txBox="1"/>
          <p:nvPr/>
        </p:nvSpPr>
        <p:spPr>
          <a:xfrm>
            <a:off x="4480560" y="1600200"/>
            <a:ext cx="155448" cy="548640"/>
          </a:xfrm>
          <a:prstGeom prst="rect">
            <a:avLst/>
          </a:prstGeom>
          <a:noFill/>
        </p:spPr>
        <p:txBody>
          <a:bodyPr wrap="square">
            <a:spAutoFit/>
          </a:bodyPr>
          <a:lstStyle/>
          <a:p>
            <a:pPr algn="ctr"/>
            <a:r>
              <a:rPr sz="1800" b="0">
                <a:solidFill>
                  <a:srgbClr val="CCCCCC"/>
                </a:solidFill>
              </a:rPr>
              <a:t>→</a:t>
            </a:r>
          </a:p>
        </p:txBody>
      </p:sp>
      <p:sp>
        <p:nvSpPr>
          <p:cNvPr id="14" name="Rectangle 13"/>
          <p:cNvSpPr/>
          <p:nvPr/>
        </p:nvSpPr>
        <p:spPr>
          <a:xfrm>
            <a:off x="4617720" y="1371600"/>
            <a:ext cx="2011680" cy="1097280"/>
          </a:xfrm>
          <a:prstGeom prst="rect">
            <a:avLst/>
          </a:prstGeom>
          <a:solidFill>
            <a:srgbClr val="2D2D44"/>
          </a:solidFill>
          <a:ln w="19050">
            <a:solidFill>
              <a:srgbClr val="FF9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617720" y="1417320"/>
            <a:ext cx="2011680" cy="548640"/>
          </a:xfrm>
          <a:prstGeom prst="rect">
            <a:avLst/>
          </a:prstGeom>
          <a:noFill/>
        </p:spPr>
        <p:txBody>
          <a:bodyPr wrap="square">
            <a:spAutoFit/>
          </a:bodyPr>
          <a:lstStyle/>
          <a:p>
            <a:pPr algn="ctr"/>
            <a:r>
              <a:rPr sz="1400" b="1">
                <a:solidFill>
                  <a:srgbClr val="FF9900"/>
                </a:solidFill>
              </a:rPr>
              <a:t>AWS STS</a:t>
            </a:r>
          </a:p>
        </p:txBody>
      </p:sp>
      <p:sp>
        <p:nvSpPr>
          <p:cNvPr id="16" name="TextBox 15"/>
          <p:cNvSpPr txBox="1"/>
          <p:nvPr/>
        </p:nvSpPr>
        <p:spPr>
          <a:xfrm>
            <a:off x="4617720" y="1920240"/>
            <a:ext cx="2011680" cy="457200"/>
          </a:xfrm>
          <a:prstGeom prst="rect">
            <a:avLst/>
          </a:prstGeom>
          <a:noFill/>
        </p:spPr>
        <p:txBody>
          <a:bodyPr wrap="square">
            <a:spAutoFit/>
          </a:bodyPr>
          <a:lstStyle/>
          <a:p>
            <a:pPr algn="ctr"/>
            <a:r>
              <a:rPr sz="1100" b="0">
                <a:solidFill>
                  <a:srgbClr val="CCCCCC"/>
                </a:solidFill>
              </a:rPr>
              <a:t>AssumeRoleWith
WebIdentity</a:t>
            </a:r>
          </a:p>
        </p:txBody>
      </p:sp>
      <p:sp>
        <p:nvSpPr>
          <p:cNvPr id="17" name="TextBox 16"/>
          <p:cNvSpPr txBox="1"/>
          <p:nvPr/>
        </p:nvSpPr>
        <p:spPr>
          <a:xfrm>
            <a:off x="6629400" y="1600200"/>
            <a:ext cx="155448" cy="548640"/>
          </a:xfrm>
          <a:prstGeom prst="rect">
            <a:avLst/>
          </a:prstGeom>
          <a:noFill/>
        </p:spPr>
        <p:txBody>
          <a:bodyPr wrap="square">
            <a:spAutoFit/>
          </a:bodyPr>
          <a:lstStyle/>
          <a:p>
            <a:pPr algn="ctr"/>
            <a:r>
              <a:rPr sz="1800" b="0">
                <a:solidFill>
                  <a:srgbClr val="CCCCCC"/>
                </a:solidFill>
              </a:rPr>
              <a:t>→</a:t>
            </a:r>
          </a:p>
        </p:txBody>
      </p:sp>
      <p:sp>
        <p:nvSpPr>
          <p:cNvPr id="18" name="Rectangle 17"/>
          <p:cNvSpPr/>
          <p:nvPr/>
        </p:nvSpPr>
        <p:spPr>
          <a:xfrm>
            <a:off x="6766560" y="1371600"/>
            <a:ext cx="2011680" cy="1097280"/>
          </a:xfrm>
          <a:prstGeom prst="rect">
            <a:avLst/>
          </a:prstGeom>
          <a:solidFill>
            <a:srgbClr val="2D2D44"/>
          </a:solidFill>
          <a:ln w="19050">
            <a:solidFill>
              <a:srgbClr val="4EC97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766560" y="1417320"/>
            <a:ext cx="2011680" cy="548640"/>
          </a:xfrm>
          <a:prstGeom prst="rect">
            <a:avLst/>
          </a:prstGeom>
          <a:noFill/>
        </p:spPr>
        <p:txBody>
          <a:bodyPr wrap="square">
            <a:spAutoFit/>
          </a:bodyPr>
          <a:lstStyle/>
          <a:p>
            <a:pPr algn="ctr"/>
            <a:r>
              <a:rPr sz="1400" b="1">
                <a:solidFill>
                  <a:srgbClr val="4EC97E"/>
                </a:solidFill>
              </a:rPr>
              <a:t>一時的な
認証情報</a:t>
            </a:r>
          </a:p>
        </p:txBody>
      </p:sp>
      <p:sp>
        <p:nvSpPr>
          <p:cNvPr id="20" name="TextBox 19"/>
          <p:cNvSpPr txBox="1"/>
          <p:nvPr/>
        </p:nvSpPr>
        <p:spPr>
          <a:xfrm>
            <a:off x="6766560" y="1920240"/>
            <a:ext cx="2011680" cy="457200"/>
          </a:xfrm>
          <a:prstGeom prst="rect">
            <a:avLst/>
          </a:prstGeom>
          <a:noFill/>
        </p:spPr>
        <p:txBody>
          <a:bodyPr wrap="square">
            <a:spAutoFit/>
          </a:bodyPr>
          <a:lstStyle/>
          <a:p>
            <a:pPr algn="ctr"/>
            <a:r>
              <a:rPr sz="1100" b="0">
                <a:solidFill>
                  <a:srgbClr val="CCCCCC"/>
                </a:solidFill>
              </a:rPr>
              <a:t>有効期限: 15分</a:t>
            </a:r>
          </a:p>
        </p:txBody>
      </p:sp>
      <p:sp>
        <p:nvSpPr>
          <p:cNvPr id="21" name="TextBox 20"/>
          <p:cNvSpPr txBox="1"/>
          <p:nvPr/>
        </p:nvSpPr>
        <p:spPr>
          <a:xfrm>
            <a:off x="8778240" y="1600200"/>
            <a:ext cx="155448" cy="548640"/>
          </a:xfrm>
          <a:prstGeom prst="rect">
            <a:avLst/>
          </a:prstGeom>
          <a:noFill/>
        </p:spPr>
        <p:txBody>
          <a:bodyPr wrap="square">
            <a:spAutoFit/>
          </a:bodyPr>
          <a:lstStyle/>
          <a:p>
            <a:pPr algn="ctr"/>
            <a:r>
              <a:rPr sz="1800" b="0">
                <a:solidFill>
                  <a:srgbClr val="CCCCCC"/>
                </a:solidFill>
              </a:rPr>
              <a:t>→</a:t>
            </a:r>
          </a:p>
        </p:txBody>
      </p:sp>
      <p:sp>
        <p:nvSpPr>
          <p:cNvPr id="22" name="Rectangle 21"/>
          <p:cNvSpPr/>
          <p:nvPr/>
        </p:nvSpPr>
        <p:spPr>
          <a:xfrm>
            <a:off x="8915400" y="1371600"/>
            <a:ext cx="2011680" cy="1097280"/>
          </a:xfrm>
          <a:prstGeom prst="rect">
            <a:avLst/>
          </a:prstGeom>
          <a:solidFill>
            <a:srgbClr val="2D2D44"/>
          </a:solidFill>
          <a:ln w="19050">
            <a:solidFill>
              <a:srgbClr val="4EC97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915400" y="1417320"/>
            <a:ext cx="2011680" cy="548640"/>
          </a:xfrm>
          <a:prstGeom prst="rect">
            <a:avLst/>
          </a:prstGeom>
          <a:noFill/>
        </p:spPr>
        <p:txBody>
          <a:bodyPr wrap="square">
            <a:spAutoFit/>
          </a:bodyPr>
          <a:lstStyle/>
          <a:p>
            <a:pPr algn="ctr"/>
            <a:r>
              <a:rPr sz="1400" b="1">
                <a:solidFill>
                  <a:srgbClr val="4EC97E"/>
                </a:solidFill>
              </a:rPr>
              <a:t>AWS操作</a:t>
            </a:r>
          </a:p>
        </p:txBody>
      </p:sp>
      <p:sp>
        <p:nvSpPr>
          <p:cNvPr id="24" name="TextBox 23"/>
          <p:cNvSpPr txBox="1"/>
          <p:nvPr/>
        </p:nvSpPr>
        <p:spPr>
          <a:xfrm>
            <a:off x="8915400" y="1920240"/>
            <a:ext cx="2011680" cy="457200"/>
          </a:xfrm>
          <a:prstGeom prst="rect">
            <a:avLst/>
          </a:prstGeom>
          <a:noFill/>
        </p:spPr>
        <p:txBody>
          <a:bodyPr wrap="square">
            <a:spAutoFit/>
          </a:bodyPr>
          <a:lstStyle/>
          <a:p>
            <a:pPr algn="ctr"/>
            <a:r>
              <a:rPr sz="1100" b="0">
                <a:solidFill>
                  <a:srgbClr val="CCCCCC"/>
                </a:solidFill>
              </a:rPr>
              <a:t>Terraform apply
ECR push / ECS</a:t>
            </a:r>
          </a:p>
        </p:txBody>
      </p:sp>
      <p:sp>
        <p:nvSpPr>
          <p:cNvPr id="25" name="Rectangle 24"/>
          <p:cNvSpPr/>
          <p:nvPr/>
        </p:nvSpPr>
        <p:spPr>
          <a:xfrm>
            <a:off x="320040" y="2834640"/>
            <a:ext cx="3657600" cy="3566160"/>
          </a:xfrm>
          <a:prstGeom prst="rect">
            <a:avLst/>
          </a:prstGeom>
          <a:solidFill>
            <a:srgbClr val="2D2D44"/>
          </a:solidFill>
          <a:ln w="19050">
            <a:solidFill>
              <a:srgbClr val="4EC97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57200" y="2926080"/>
            <a:ext cx="3383280" cy="411480"/>
          </a:xfrm>
          <a:prstGeom prst="rect">
            <a:avLst/>
          </a:prstGeom>
          <a:noFill/>
        </p:spPr>
        <p:txBody>
          <a:bodyPr wrap="square">
            <a:spAutoFit/>
          </a:bodyPr>
          <a:lstStyle/>
          <a:p>
            <a:pPr algn="l"/>
            <a:r>
              <a:rPr sz="1400" b="1">
                <a:solidFill>
                  <a:srgbClr val="4EC97E"/>
                </a:solidFill>
              </a:rPr>
              <a:t>長期アクセスキー不要</a:t>
            </a:r>
          </a:p>
        </p:txBody>
      </p:sp>
      <p:sp>
        <p:nvSpPr>
          <p:cNvPr id="27" name="TextBox 26"/>
          <p:cNvSpPr txBox="1"/>
          <p:nvPr/>
        </p:nvSpPr>
        <p:spPr>
          <a:xfrm>
            <a:off x="457200" y="3429000"/>
            <a:ext cx="3383280" cy="2743200"/>
          </a:xfrm>
          <a:prstGeom prst="rect">
            <a:avLst/>
          </a:prstGeom>
          <a:noFill/>
        </p:spPr>
        <p:txBody>
          <a:bodyPr wrap="square">
            <a:spAutoFit/>
          </a:bodyPr>
          <a:lstStyle/>
          <a:p>
            <a:pPr algn="l"/>
            <a:r>
              <a:rPr sz="1200" b="0">
                <a:solidFill>
                  <a:srgbClr val="CCCCCC"/>
                </a:solidFill>
              </a:rPr>
              <a:t>シークレットが漏えいしても期限切れで無効
GitHub Secretsに永続的なキーを保存しない</a:t>
            </a:r>
          </a:p>
        </p:txBody>
      </p:sp>
      <p:sp>
        <p:nvSpPr>
          <p:cNvPr id="28" name="Rectangle 27"/>
          <p:cNvSpPr/>
          <p:nvPr/>
        </p:nvSpPr>
        <p:spPr>
          <a:xfrm>
            <a:off x="4206240" y="2834640"/>
            <a:ext cx="3657600" cy="3566160"/>
          </a:xfrm>
          <a:prstGeom prst="rect">
            <a:avLst/>
          </a:prstGeom>
          <a:solidFill>
            <a:srgbClr val="2D2D44"/>
          </a:solidFill>
          <a:ln w="19050">
            <a:solidFill>
              <a:srgbClr val="589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343400" y="2926080"/>
            <a:ext cx="3383280" cy="411480"/>
          </a:xfrm>
          <a:prstGeom prst="rect">
            <a:avLst/>
          </a:prstGeom>
          <a:noFill/>
        </p:spPr>
        <p:txBody>
          <a:bodyPr wrap="square">
            <a:spAutoFit/>
          </a:bodyPr>
          <a:lstStyle/>
          <a:p>
            <a:pPr algn="l"/>
            <a:r>
              <a:rPr sz="1400" b="1">
                <a:solidFill>
                  <a:srgbClr val="589DE8"/>
                </a:solidFill>
              </a:rPr>
              <a:t>最小権限原則</a:t>
            </a:r>
          </a:p>
        </p:txBody>
      </p:sp>
      <p:sp>
        <p:nvSpPr>
          <p:cNvPr id="30" name="TextBox 29"/>
          <p:cNvSpPr txBox="1"/>
          <p:nvPr/>
        </p:nvSpPr>
        <p:spPr>
          <a:xfrm>
            <a:off x="4343400" y="3429000"/>
            <a:ext cx="3383280" cy="2743200"/>
          </a:xfrm>
          <a:prstGeom prst="rect">
            <a:avLst/>
          </a:prstGeom>
          <a:noFill/>
        </p:spPr>
        <p:txBody>
          <a:bodyPr wrap="square">
            <a:spAutoFit/>
          </a:bodyPr>
          <a:lstStyle/>
          <a:p>
            <a:pPr algn="l"/>
            <a:r>
              <a:rPr sz="1200" b="0">
                <a:solidFill>
                  <a:srgbClr val="CCCCCC"/>
                </a:solidFill>
              </a:rPr>
              <a:t>IAMロールに必要なAPI操作のみ許可
S3・ECR・ECS・Terraform Stateの操作に限定</a:t>
            </a:r>
          </a:p>
        </p:txBody>
      </p:sp>
      <p:sp>
        <p:nvSpPr>
          <p:cNvPr id="31" name="Rectangle 30"/>
          <p:cNvSpPr/>
          <p:nvPr/>
        </p:nvSpPr>
        <p:spPr>
          <a:xfrm>
            <a:off x="8092440" y="2834640"/>
            <a:ext cx="3657600" cy="3566160"/>
          </a:xfrm>
          <a:prstGeom prst="rect">
            <a:avLst/>
          </a:prstGeom>
          <a:solidFill>
            <a:srgbClr val="2D2D44"/>
          </a:solidFill>
          <a:ln w="19050">
            <a:solidFill>
              <a:srgbClr val="FF9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229600" y="2926080"/>
            <a:ext cx="3383280" cy="411480"/>
          </a:xfrm>
          <a:prstGeom prst="rect">
            <a:avLst/>
          </a:prstGeom>
          <a:noFill/>
        </p:spPr>
        <p:txBody>
          <a:bodyPr wrap="square">
            <a:spAutoFit/>
          </a:bodyPr>
          <a:lstStyle/>
          <a:p>
            <a:pPr algn="l"/>
            <a:r>
              <a:rPr sz="1400" b="1">
                <a:solidFill>
                  <a:srgbClr val="FF9900"/>
                </a:solidFill>
              </a:rPr>
              <a:t>リポジトリスコープ</a:t>
            </a:r>
          </a:p>
        </p:txBody>
      </p:sp>
      <p:sp>
        <p:nvSpPr>
          <p:cNvPr id="33" name="TextBox 32"/>
          <p:cNvSpPr txBox="1"/>
          <p:nvPr/>
        </p:nvSpPr>
        <p:spPr>
          <a:xfrm>
            <a:off x="8229600" y="3429000"/>
            <a:ext cx="3383280" cy="2743200"/>
          </a:xfrm>
          <a:prstGeom prst="rect">
            <a:avLst/>
          </a:prstGeom>
          <a:noFill/>
        </p:spPr>
        <p:txBody>
          <a:bodyPr wrap="square">
            <a:spAutoFit/>
          </a:bodyPr>
          <a:lstStyle/>
          <a:p>
            <a:pPr algn="l"/>
            <a:r>
              <a:rPr sz="1200" b="0">
                <a:solidFill>
                  <a:srgbClr val="CCCCCC"/>
                </a:solidFill>
              </a:rPr>
              <a:t>特定のリポジトリ・ブランチからのみ
AssumeRoleを許可するポリシー設定</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E1E2E"/>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589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10972800" cy="640080"/>
          </a:xfrm>
          <a:prstGeom prst="rect">
            <a:avLst/>
          </a:prstGeom>
          <a:noFill/>
        </p:spPr>
        <p:txBody>
          <a:bodyPr wrap="square">
            <a:spAutoFit/>
          </a:bodyPr>
          <a:lstStyle/>
          <a:p>
            <a:pPr algn="l"/>
            <a:r>
              <a:rPr sz="2800" b="1">
                <a:solidFill>
                  <a:srgbClr val="FFFFFF"/>
                </a:solidFill>
              </a:rPr>
              <a:t>CD: 段階的デプロイ戦略</a:t>
            </a:r>
          </a:p>
        </p:txBody>
      </p:sp>
      <p:sp>
        <p:nvSpPr>
          <p:cNvPr id="4" name="TextBox 3"/>
          <p:cNvSpPr txBox="1"/>
          <p:nvPr/>
        </p:nvSpPr>
        <p:spPr>
          <a:xfrm>
            <a:off x="457200" y="731520"/>
            <a:ext cx="10972800" cy="365760"/>
          </a:xfrm>
          <a:prstGeom prst="rect">
            <a:avLst/>
          </a:prstGeom>
          <a:noFill/>
        </p:spPr>
        <p:txBody>
          <a:bodyPr wrap="square">
            <a:spAutoFit/>
          </a:bodyPr>
          <a:lstStyle/>
          <a:p>
            <a:pPr algn="l"/>
            <a:r>
              <a:rPr sz="1400" b="0">
                <a:solidFill>
                  <a:srgbClr val="589DE8"/>
                </a:solidFill>
              </a:rPr>
              <a:t>dev → stg → prod + 手動承認フロー</a:t>
            </a:r>
          </a:p>
        </p:txBody>
      </p:sp>
      <p:sp>
        <p:nvSpPr>
          <p:cNvPr id="5" name="Rectangle 4"/>
          <p:cNvSpPr/>
          <p:nvPr/>
        </p:nvSpPr>
        <p:spPr>
          <a:xfrm>
            <a:off x="0" y="6675120"/>
            <a:ext cx="12188952" cy="182880"/>
          </a:xfrm>
          <a:prstGeom prst="rect">
            <a:avLst/>
          </a:prstGeom>
          <a:solidFill>
            <a:srgbClr val="589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20040" y="1234440"/>
            <a:ext cx="3474720" cy="5029200"/>
          </a:xfrm>
          <a:prstGeom prst="rect">
            <a:avLst/>
          </a:prstGeom>
          <a:solidFill>
            <a:srgbClr val="2D2D44"/>
          </a:solidFill>
          <a:ln w="19050">
            <a:solidFill>
              <a:srgbClr val="4EC97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20040" y="1234440"/>
            <a:ext cx="3474720" cy="457200"/>
          </a:xfrm>
          <a:prstGeom prst="rect">
            <a:avLst/>
          </a:prstGeom>
          <a:solidFill>
            <a:srgbClr val="4EC9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20040" y="1234440"/>
            <a:ext cx="3474720" cy="457200"/>
          </a:xfrm>
          <a:prstGeom prst="rect">
            <a:avLst/>
          </a:prstGeom>
          <a:noFill/>
        </p:spPr>
        <p:txBody>
          <a:bodyPr wrap="square">
            <a:spAutoFit/>
          </a:bodyPr>
          <a:lstStyle/>
          <a:p>
            <a:pPr algn="ctr"/>
            <a:r>
              <a:rPr sz="1500" b="1">
                <a:solidFill>
                  <a:srgbClr val="FFFFFF"/>
                </a:solidFill>
              </a:rPr>
              <a:t>deploy-dev</a:t>
            </a:r>
          </a:p>
        </p:txBody>
      </p:sp>
      <p:sp>
        <p:nvSpPr>
          <p:cNvPr id="9" name="Rectangle 8"/>
          <p:cNvSpPr/>
          <p:nvPr/>
        </p:nvSpPr>
        <p:spPr>
          <a:xfrm>
            <a:off x="457200" y="1783080"/>
            <a:ext cx="3200400" cy="365760"/>
          </a:xfrm>
          <a:prstGeom prst="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1783080"/>
            <a:ext cx="3200400" cy="365760"/>
          </a:xfrm>
          <a:prstGeom prst="rect">
            <a:avLst/>
          </a:prstGeom>
          <a:noFill/>
        </p:spPr>
        <p:txBody>
          <a:bodyPr wrap="square">
            <a:spAutoFit/>
          </a:bodyPr>
          <a:lstStyle/>
          <a:p>
            <a:pPr algn="ctr"/>
            <a:r>
              <a:rPr sz="1300" b="1">
                <a:solidFill>
                  <a:srgbClr val="4EC97E"/>
                </a:solidFill>
              </a:rPr>
              <a:t>[ 自動 ]</a:t>
            </a:r>
          </a:p>
        </p:txBody>
      </p:sp>
      <p:sp>
        <p:nvSpPr>
          <p:cNvPr id="11" name="Rectangle 10"/>
          <p:cNvSpPr/>
          <p:nvPr/>
        </p:nvSpPr>
        <p:spPr>
          <a:xfrm>
            <a:off x="457200" y="2286000"/>
            <a:ext cx="3200400" cy="502920"/>
          </a:xfrm>
          <a:prstGeom prst="rect">
            <a:avLst/>
          </a:prstGeom>
          <a:solidFill>
            <a:srgbClr val="1E1E2E"/>
          </a:solidFill>
          <a:ln w="19050">
            <a:solidFill>
              <a:srgbClr val="4EC97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48640" y="2331720"/>
            <a:ext cx="3017520" cy="411480"/>
          </a:xfrm>
          <a:prstGeom prst="rect">
            <a:avLst/>
          </a:prstGeom>
          <a:noFill/>
        </p:spPr>
        <p:txBody>
          <a:bodyPr wrap="square">
            <a:spAutoFit/>
          </a:bodyPr>
          <a:lstStyle/>
          <a:p>
            <a:pPr algn="l"/>
            <a:r>
              <a:rPr sz="1200" b="0">
                <a:solidFill>
                  <a:srgbClr val="FFFFFF"/>
                </a:solidFill>
              </a:rPr>
              <a:t>terraform init</a:t>
            </a:r>
          </a:p>
        </p:txBody>
      </p:sp>
      <p:sp>
        <p:nvSpPr>
          <p:cNvPr id="13" name="Rectangle 12"/>
          <p:cNvSpPr/>
          <p:nvPr/>
        </p:nvSpPr>
        <p:spPr>
          <a:xfrm>
            <a:off x="457200" y="2880360"/>
            <a:ext cx="3200400" cy="502920"/>
          </a:xfrm>
          <a:prstGeom prst="rect">
            <a:avLst/>
          </a:prstGeom>
          <a:solidFill>
            <a:srgbClr val="1E1E2E"/>
          </a:solidFill>
          <a:ln w="19050">
            <a:solidFill>
              <a:srgbClr val="4EC97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48640" y="2926080"/>
            <a:ext cx="3017520" cy="411480"/>
          </a:xfrm>
          <a:prstGeom prst="rect">
            <a:avLst/>
          </a:prstGeom>
          <a:noFill/>
        </p:spPr>
        <p:txBody>
          <a:bodyPr wrap="square">
            <a:spAutoFit/>
          </a:bodyPr>
          <a:lstStyle/>
          <a:p>
            <a:pPr algn="l"/>
            <a:r>
              <a:rPr sz="1200" b="0">
                <a:solidFill>
                  <a:srgbClr val="FFFFFF"/>
                </a:solidFill>
              </a:rPr>
              <a:t>terraform apply</a:t>
            </a:r>
          </a:p>
        </p:txBody>
      </p:sp>
      <p:sp>
        <p:nvSpPr>
          <p:cNvPr id="15" name="Rectangle 14"/>
          <p:cNvSpPr/>
          <p:nvPr/>
        </p:nvSpPr>
        <p:spPr>
          <a:xfrm>
            <a:off x="457200" y="3474720"/>
            <a:ext cx="3200400" cy="502920"/>
          </a:xfrm>
          <a:prstGeom prst="rect">
            <a:avLst/>
          </a:prstGeom>
          <a:solidFill>
            <a:srgbClr val="1E1E2E"/>
          </a:solidFill>
          <a:ln w="19050">
            <a:solidFill>
              <a:srgbClr val="4EC97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48640" y="3520440"/>
            <a:ext cx="3017520" cy="411480"/>
          </a:xfrm>
          <a:prstGeom prst="rect">
            <a:avLst/>
          </a:prstGeom>
          <a:noFill/>
        </p:spPr>
        <p:txBody>
          <a:bodyPr wrap="square">
            <a:spAutoFit/>
          </a:bodyPr>
          <a:lstStyle/>
          <a:p>
            <a:pPr algn="l"/>
            <a:r>
              <a:rPr sz="1200" b="0">
                <a:solidFill>
                  <a:srgbClr val="FFFFFF"/>
                </a:solidFill>
              </a:rPr>
              <a:t>health check</a:t>
            </a:r>
          </a:p>
        </p:txBody>
      </p:sp>
      <p:sp>
        <p:nvSpPr>
          <p:cNvPr id="17" name="TextBox 16"/>
          <p:cNvSpPr txBox="1"/>
          <p:nvPr/>
        </p:nvSpPr>
        <p:spPr>
          <a:xfrm>
            <a:off x="457200" y="4206240"/>
            <a:ext cx="3200400" cy="365760"/>
          </a:xfrm>
          <a:prstGeom prst="rect">
            <a:avLst/>
          </a:prstGeom>
          <a:noFill/>
        </p:spPr>
        <p:txBody>
          <a:bodyPr wrap="square">
            <a:spAutoFit/>
          </a:bodyPr>
          <a:lstStyle/>
          <a:p>
            <a:pPr algn="l"/>
            <a:r>
              <a:rPr sz="1100" b="0">
                <a:solidFill>
                  <a:srgbClr val="4EC97E"/>
                </a:solidFill>
              </a:rPr>
              <a:t>main マージで即実行</a:t>
            </a:r>
          </a:p>
        </p:txBody>
      </p:sp>
      <p:sp>
        <p:nvSpPr>
          <p:cNvPr id="18" name="TextBox 17"/>
          <p:cNvSpPr txBox="1"/>
          <p:nvPr/>
        </p:nvSpPr>
        <p:spPr>
          <a:xfrm>
            <a:off x="3794760" y="2651760"/>
            <a:ext cx="246888" cy="548640"/>
          </a:xfrm>
          <a:prstGeom prst="rect">
            <a:avLst/>
          </a:prstGeom>
          <a:noFill/>
        </p:spPr>
        <p:txBody>
          <a:bodyPr wrap="square">
            <a:spAutoFit/>
          </a:bodyPr>
          <a:lstStyle/>
          <a:p>
            <a:pPr algn="ctr"/>
            <a:r>
              <a:rPr sz="2200" b="0">
                <a:solidFill>
                  <a:srgbClr val="CCCCCC"/>
                </a:solidFill>
              </a:rPr>
              <a:t>→</a:t>
            </a:r>
          </a:p>
        </p:txBody>
      </p:sp>
      <p:sp>
        <p:nvSpPr>
          <p:cNvPr id="19" name="Rectangle 18"/>
          <p:cNvSpPr/>
          <p:nvPr/>
        </p:nvSpPr>
        <p:spPr>
          <a:xfrm>
            <a:off x="4023360" y="1234440"/>
            <a:ext cx="3474720" cy="5029200"/>
          </a:xfrm>
          <a:prstGeom prst="rect">
            <a:avLst/>
          </a:prstGeom>
          <a:solidFill>
            <a:srgbClr val="2D2D44"/>
          </a:solidFill>
          <a:ln w="19050">
            <a:solidFill>
              <a:srgbClr val="FF9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4023360" y="1234440"/>
            <a:ext cx="3474720" cy="457200"/>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023360" y="1234440"/>
            <a:ext cx="3474720" cy="457200"/>
          </a:xfrm>
          <a:prstGeom prst="rect">
            <a:avLst/>
          </a:prstGeom>
          <a:noFill/>
        </p:spPr>
        <p:txBody>
          <a:bodyPr wrap="square">
            <a:spAutoFit/>
          </a:bodyPr>
          <a:lstStyle/>
          <a:p>
            <a:pPr algn="ctr"/>
            <a:r>
              <a:rPr sz="1500" b="1">
                <a:solidFill>
                  <a:srgbClr val="FFFFFF"/>
                </a:solidFill>
              </a:rPr>
              <a:t>deploy-stg</a:t>
            </a:r>
          </a:p>
        </p:txBody>
      </p:sp>
      <p:sp>
        <p:nvSpPr>
          <p:cNvPr id="22" name="Rectangle 21"/>
          <p:cNvSpPr/>
          <p:nvPr/>
        </p:nvSpPr>
        <p:spPr>
          <a:xfrm>
            <a:off x="4160520" y="1783080"/>
            <a:ext cx="3200400" cy="365760"/>
          </a:xfrm>
          <a:prstGeom prst="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160520" y="1783080"/>
            <a:ext cx="3200400" cy="365760"/>
          </a:xfrm>
          <a:prstGeom prst="rect">
            <a:avLst/>
          </a:prstGeom>
          <a:noFill/>
        </p:spPr>
        <p:txBody>
          <a:bodyPr wrap="square">
            <a:spAutoFit/>
          </a:bodyPr>
          <a:lstStyle/>
          <a:p>
            <a:pPr algn="ctr"/>
            <a:r>
              <a:rPr sz="1300" b="1">
                <a:solidFill>
                  <a:srgbClr val="FF9900"/>
                </a:solidFill>
              </a:rPr>
              <a:t>[ 承認後 ]</a:t>
            </a:r>
          </a:p>
        </p:txBody>
      </p:sp>
      <p:sp>
        <p:nvSpPr>
          <p:cNvPr id="24" name="Rectangle 23"/>
          <p:cNvSpPr/>
          <p:nvPr/>
        </p:nvSpPr>
        <p:spPr>
          <a:xfrm>
            <a:off x="4160520" y="2286000"/>
            <a:ext cx="3200400" cy="502920"/>
          </a:xfrm>
          <a:prstGeom prst="rect">
            <a:avLst/>
          </a:prstGeom>
          <a:solidFill>
            <a:srgbClr val="1E1E2E"/>
          </a:solidFill>
          <a:ln w="19050">
            <a:solidFill>
              <a:srgbClr val="FF9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251960" y="2331720"/>
            <a:ext cx="3017520" cy="411480"/>
          </a:xfrm>
          <a:prstGeom prst="rect">
            <a:avLst/>
          </a:prstGeom>
          <a:noFill/>
        </p:spPr>
        <p:txBody>
          <a:bodyPr wrap="square">
            <a:spAutoFit/>
          </a:bodyPr>
          <a:lstStyle/>
          <a:p>
            <a:pPr algn="l"/>
            <a:r>
              <a:rPr sz="1200" b="0">
                <a:solidFill>
                  <a:srgbClr val="FFFFFF"/>
                </a:solidFill>
              </a:rPr>
              <a:t>承認者レビュー</a:t>
            </a:r>
          </a:p>
        </p:txBody>
      </p:sp>
      <p:sp>
        <p:nvSpPr>
          <p:cNvPr id="26" name="Rectangle 25"/>
          <p:cNvSpPr/>
          <p:nvPr/>
        </p:nvSpPr>
        <p:spPr>
          <a:xfrm>
            <a:off x="4160520" y="2880360"/>
            <a:ext cx="3200400" cy="502920"/>
          </a:xfrm>
          <a:prstGeom prst="rect">
            <a:avLst/>
          </a:prstGeom>
          <a:solidFill>
            <a:srgbClr val="1E1E2E"/>
          </a:solidFill>
          <a:ln w="19050">
            <a:solidFill>
              <a:srgbClr val="FF9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251960" y="2926080"/>
            <a:ext cx="3017520" cy="411480"/>
          </a:xfrm>
          <a:prstGeom prst="rect">
            <a:avLst/>
          </a:prstGeom>
          <a:noFill/>
        </p:spPr>
        <p:txBody>
          <a:bodyPr wrap="square">
            <a:spAutoFit/>
          </a:bodyPr>
          <a:lstStyle/>
          <a:p>
            <a:pPr algn="l"/>
            <a:r>
              <a:rPr sz="1200" b="0">
                <a:solidFill>
                  <a:srgbClr val="FFFFFF"/>
                </a:solidFill>
              </a:rPr>
              <a:t>terraform apply</a:t>
            </a:r>
          </a:p>
        </p:txBody>
      </p:sp>
      <p:sp>
        <p:nvSpPr>
          <p:cNvPr id="28" name="Rectangle 27"/>
          <p:cNvSpPr/>
          <p:nvPr/>
        </p:nvSpPr>
        <p:spPr>
          <a:xfrm>
            <a:off x="4160520" y="3474720"/>
            <a:ext cx="3200400" cy="502920"/>
          </a:xfrm>
          <a:prstGeom prst="rect">
            <a:avLst/>
          </a:prstGeom>
          <a:solidFill>
            <a:srgbClr val="1E1E2E"/>
          </a:solidFill>
          <a:ln w="19050">
            <a:solidFill>
              <a:srgbClr val="FF9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251960" y="3520440"/>
            <a:ext cx="3017520" cy="411480"/>
          </a:xfrm>
          <a:prstGeom prst="rect">
            <a:avLst/>
          </a:prstGeom>
          <a:noFill/>
        </p:spPr>
        <p:txBody>
          <a:bodyPr wrap="square">
            <a:spAutoFit/>
          </a:bodyPr>
          <a:lstStyle/>
          <a:p>
            <a:pPr algn="l"/>
            <a:r>
              <a:rPr sz="1200" b="0">
                <a:solidFill>
                  <a:srgbClr val="FFFFFF"/>
                </a:solidFill>
              </a:rPr>
              <a:t>health check</a:t>
            </a:r>
          </a:p>
        </p:txBody>
      </p:sp>
      <p:sp>
        <p:nvSpPr>
          <p:cNvPr id="30" name="TextBox 29"/>
          <p:cNvSpPr txBox="1"/>
          <p:nvPr/>
        </p:nvSpPr>
        <p:spPr>
          <a:xfrm>
            <a:off x="4160520" y="4206240"/>
            <a:ext cx="3200400" cy="365760"/>
          </a:xfrm>
          <a:prstGeom prst="rect">
            <a:avLst/>
          </a:prstGeom>
          <a:noFill/>
        </p:spPr>
        <p:txBody>
          <a:bodyPr wrap="square">
            <a:spAutoFit/>
          </a:bodyPr>
          <a:lstStyle/>
          <a:p>
            <a:pPr algn="l"/>
            <a:r>
              <a:rPr sz="1100" b="0">
                <a:solidFill>
                  <a:srgbClr val="FF9900"/>
                </a:solidFill>
              </a:rPr>
              <a:t>STG環境で動作確認</a:t>
            </a:r>
          </a:p>
        </p:txBody>
      </p:sp>
      <p:sp>
        <p:nvSpPr>
          <p:cNvPr id="31" name="TextBox 30"/>
          <p:cNvSpPr txBox="1"/>
          <p:nvPr/>
        </p:nvSpPr>
        <p:spPr>
          <a:xfrm>
            <a:off x="7498080" y="2651760"/>
            <a:ext cx="246888" cy="548640"/>
          </a:xfrm>
          <a:prstGeom prst="rect">
            <a:avLst/>
          </a:prstGeom>
          <a:noFill/>
        </p:spPr>
        <p:txBody>
          <a:bodyPr wrap="square">
            <a:spAutoFit/>
          </a:bodyPr>
          <a:lstStyle/>
          <a:p>
            <a:pPr algn="ctr"/>
            <a:r>
              <a:rPr sz="2200" b="0">
                <a:solidFill>
                  <a:srgbClr val="CCCCCC"/>
                </a:solidFill>
              </a:rPr>
              <a:t>→</a:t>
            </a:r>
          </a:p>
        </p:txBody>
      </p:sp>
      <p:sp>
        <p:nvSpPr>
          <p:cNvPr id="32" name="Rectangle 31"/>
          <p:cNvSpPr/>
          <p:nvPr/>
        </p:nvSpPr>
        <p:spPr>
          <a:xfrm>
            <a:off x="7726680" y="1234440"/>
            <a:ext cx="3474720" cy="5029200"/>
          </a:xfrm>
          <a:prstGeom prst="rect">
            <a:avLst/>
          </a:prstGeom>
          <a:solidFill>
            <a:srgbClr val="2D2D44"/>
          </a:solidFill>
          <a:ln w="19050">
            <a:solidFill>
              <a:srgbClr val="FF5F5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7726680" y="1234440"/>
            <a:ext cx="3474720" cy="457200"/>
          </a:xfrm>
          <a:prstGeom prst="rect">
            <a:avLst/>
          </a:prstGeom>
          <a:solidFill>
            <a:srgbClr val="FF5F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7726680" y="1234440"/>
            <a:ext cx="3474720" cy="457200"/>
          </a:xfrm>
          <a:prstGeom prst="rect">
            <a:avLst/>
          </a:prstGeom>
          <a:noFill/>
        </p:spPr>
        <p:txBody>
          <a:bodyPr wrap="square">
            <a:spAutoFit/>
          </a:bodyPr>
          <a:lstStyle/>
          <a:p>
            <a:pPr algn="ctr"/>
            <a:r>
              <a:rPr sz="1500" b="1">
                <a:solidFill>
                  <a:srgbClr val="FFFFFF"/>
                </a:solidFill>
              </a:rPr>
              <a:t>deploy-prod</a:t>
            </a:r>
          </a:p>
        </p:txBody>
      </p:sp>
      <p:sp>
        <p:nvSpPr>
          <p:cNvPr id="35" name="Rectangle 34"/>
          <p:cNvSpPr/>
          <p:nvPr/>
        </p:nvSpPr>
        <p:spPr>
          <a:xfrm>
            <a:off x="7863840" y="1783080"/>
            <a:ext cx="3200400" cy="365760"/>
          </a:xfrm>
          <a:prstGeom prst="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7863840" y="1783080"/>
            <a:ext cx="3200400" cy="365760"/>
          </a:xfrm>
          <a:prstGeom prst="rect">
            <a:avLst/>
          </a:prstGeom>
          <a:noFill/>
        </p:spPr>
        <p:txBody>
          <a:bodyPr wrap="square">
            <a:spAutoFit/>
          </a:bodyPr>
          <a:lstStyle/>
          <a:p>
            <a:pPr algn="ctr"/>
            <a:r>
              <a:rPr sz="1300" b="1">
                <a:solidFill>
                  <a:srgbClr val="FF9900"/>
                </a:solidFill>
              </a:rPr>
              <a:t>[ 承認後 ]</a:t>
            </a:r>
          </a:p>
        </p:txBody>
      </p:sp>
      <p:sp>
        <p:nvSpPr>
          <p:cNvPr id="37" name="Rectangle 36"/>
          <p:cNvSpPr/>
          <p:nvPr/>
        </p:nvSpPr>
        <p:spPr>
          <a:xfrm>
            <a:off x="7863840" y="2286000"/>
            <a:ext cx="3200400" cy="502920"/>
          </a:xfrm>
          <a:prstGeom prst="rect">
            <a:avLst/>
          </a:prstGeom>
          <a:solidFill>
            <a:srgbClr val="1E1E2E"/>
          </a:solidFill>
          <a:ln w="19050">
            <a:solidFill>
              <a:srgbClr val="FF5F5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7955280" y="2331720"/>
            <a:ext cx="3017520" cy="411480"/>
          </a:xfrm>
          <a:prstGeom prst="rect">
            <a:avLst/>
          </a:prstGeom>
          <a:noFill/>
        </p:spPr>
        <p:txBody>
          <a:bodyPr wrap="square">
            <a:spAutoFit/>
          </a:bodyPr>
          <a:lstStyle/>
          <a:p>
            <a:pPr algn="l"/>
            <a:r>
              <a:rPr sz="1200" b="0">
                <a:solidFill>
                  <a:srgbClr val="FFFFFF"/>
                </a:solidFill>
              </a:rPr>
              <a:t>責任者承認必須</a:t>
            </a:r>
          </a:p>
        </p:txBody>
      </p:sp>
      <p:sp>
        <p:nvSpPr>
          <p:cNvPr id="39" name="Rectangle 38"/>
          <p:cNvSpPr/>
          <p:nvPr/>
        </p:nvSpPr>
        <p:spPr>
          <a:xfrm>
            <a:off x="7863840" y="2880360"/>
            <a:ext cx="3200400" cy="502920"/>
          </a:xfrm>
          <a:prstGeom prst="rect">
            <a:avLst/>
          </a:prstGeom>
          <a:solidFill>
            <a:srgbClr val="1E1E2E"/>
          </a:solidFill>
          <a:ln w="19050">
            <a:solidFill>
              <a:srgbClr val="FF5F5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7955280" y="2926080"/>
            <a:ext cx="3017520" cy="411480"/>
          </a:xfrm>
          <a:prstGeom prst="rect">
            <a:avLst/>
          </a:prstGeom>
          <a:noFill/>
        </p:spPr>
        <p:txBody>
          <a:bodyPr wrap="square">
            <a:spAutoFit/>
          </a:bodyPr>
          <a:lstStyle/>
          <a:p>
            <a:pPr algn="l"/>
            <a:r>
              <a:rPr sz="1200" b="0">
                <a:solidFill>
                  <a:srgbClr val="FFFFFF"/>
                </a:solidFill>
              </a:rPr>
              <a:t>terraform apply</a:t>
            </a:r>
          </a:p>
        </p:txBody>
      </p:sp>
      <p:sp>
        <p:nvSpPr>
          <p:cNvPr id="41" name="Rectangle 40"/>
          <p:cNvSpPr/>
          <p:nvPr/>
        </p:nvSpPr>
        <p:spPr>
          <a:xfrm>
            <a:off x="7863840" y="3474720"/>
            <a:ext cx="3200400" cy="502920"/>
          </a:xfrm>
          <a:prstGeom prst="rect">
            <a:avLst/>
          </a:prstGeom>
          <a:solidFill>
            <a:srgbClr val="1E1E2E"/>
          </a:solidFill>
          <a:ln w="19050">
            <a:solidFill>
              <a:srgbClr val="FF5F5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7955280" y="3520440"/>
            <a:ext cx="3017520" cy="411480"/>
          </a:xfrm>
          <a:prstGeom prst="rect">
            <a:avLst/>
          </a:prstGeom>
          <a:noFill/>
        </p:spPr>
        <p:txBody>
          <a:bodyPr wrap="square">
            <a:spAutoFit/>
          </a:bodyPr>
          <a:lstStyle/>
          <a:p>
            <a:pPr algn="l"/>
            <a:r>
              <a:rPr sz="1200" b="0">
                <a:solidFill>
                  <a:srgbClr val="FFFFFF"/>
                </a:solidFill>
              </a:rPr>
              <a:t>health check</a:t>
            </a:r>
          </a:p>
        </p:txBody>
      </p:sp>
      <p:sp>
        <p:nvSpPr>
          <p:cNvPr id="43" name="TextBox 42"/>
          <p:cNvSpPr txBox="1"/>
          <p:nvPr/>
        </p:nvSpPr>
        <p:spPr>
          <a:xfrm>
            <a:off x="7863840" y="4206240"/>
            <a:ext cx="3200400" cy="365760"/>
          </a:xfrm>
          <a:prstGeom prst="rect">
            <a:avLst/>
          </a:prstGeom>
          <a:noFill/>
        </p:spPr>
        <p:txBody>
          <a:bodyPr wrap="square">
            <a:spAutoFit/>
          </a:bodyPr>
          <a:lstStyle/>
          <a:p>
            <a:pPr algn="l"/>
            <a:r>
              <a:rPr sz="1100" b="0">
                <a:solidFill>
                  <a:srgbClr val="FF5F57"/>
                </a:solidFill>
              </a:rPr>
              <a:t>本番リリース</a:t>
            </a:r>
          </a:p>
        </p:txBody>
      </p:sp>
      <p:sp>
        <p:nvSpPr>
          <p:cNvPr id="44" name="Rectangle 43"/>
          <p:cNvSpPr/>
          <p:nvPr/>
        </p:nvSpPr>
        <p:spPr>
          <a:xfrm>
            <a:off x="274320" y="4937760"/>
            <a:ext cx="11612880" cy="1371600"/>
          </a:xfrm>
          <a:prstGeom prst="rect">
            <a:avLst/>
          </a:prstGeom>
          <a:solidFill>
            <a:srgbClr val="2D2D44"/>
          </a:solidFill>
          <a:ln w="19050">
            <a:solidFill>
              <a:srgbClr val="589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57200" y="5029200"/>
            <a:ext cx="3657600" cy="365760"/>
          </a:xfrm>
          <a:prstGeom prst="rect">
            <a:avLst/>
          </a:prstGeom>
          <a:noFill/>
        </p:spPr>
        <p:txBody>
          <a:bodyPr wrap="square">
            <a:spAutoFit/>
          </a:bodyPr>
          <a:lstStyle/>
          <a:p>
            <a:pPr algn="l"/>
            <a:r>
              <a:rPr sz="1300" b="1">
                <a:solidFill>
                  <a:srgbClr val="589DE8"/>
                </a:solidFill>
              </a:rPr>
              <a:t>本番保護設計</a:t>
            </a:r>
          </a:p>
        </p:txBody>
      </p:sp>
      <p:sp>
        <p:nvSpPr>
          <p:cNvPr id="46" name="TextBox 45"/>
          <p:cNvSpPr txBox="1"/>
          <p:nvPr/>
        </p:nvSpPr>
        <p:spPr>
          <a:xfrm>
            <a:off x="457200" y="5440680"/>
            <a:ext cx="11430000" cy="685800"/>
          </a:xfrm>
          <a:prstGeom prst="rect">
            <a:avLst/>
          </a:prstGeom>
          <a:noFill/>
        </p:spPr>
        <p:txBody>
          <a:bodyPr wrap="square">
            <a:spAutoFit/>
          </a:bodyPr>
          <a:lstStyle/>
          <a:p>
            <a:pPr algn="l"/>
            <a:r>
              <a:rPr sz="1100" b="0">
                <a:solidFill>
                  <a:srgbClr val="CCCCCC"/>
                </a:solidFill>
              </a:rPr>
              <a:t>lifecycle { prevent_destroy = true } でS3・DB等の重要リソース誤削除を防止  /  stg/prod は GitHub Environment の Approvers 設定で強制承認  /  ECR イミュータブルタグで意図しないイメージ上書きを禁止</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E1E2E"/>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589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10972800" cy="640080"/>
          </a:xfrm>
          <a:prstGeom prst="rect">
            <a:avLst/>
          </a:prstGeom>
          <a:noFill/>
        </p:spPr>
        <p:txBody>
          <a:bodyPr wrap="square">
            <a:spAutoFit/>
          </a:bodyPr>
          <a:lstStyle/>
          <a:p>
            <a:pPr algn="l"/>
            <a:r>
              <a:rPr sz="2800" b="1">
                <a:solidFill>
                  <a:srgbClr val="FFFFFF"/>
                </a:solidFill>
              </a:rPr>
              <a:t>実際に解決したトラブル: 11件</a:t>
            </a:r>
          </a:p>
        </p:txBody>
      </p:sp>
      <p:sp>
        <p:nvSpPr>
          <p:cNvPr id="4" name="TextBox 3"/>
          <p:cNvSpPr txBox="1"/>
          <p:nvPr/>
        </p:nvSpPr>
        <p:spPr>
          <a:xfrm>
            <a:off x="457200" y="731520"/>
            <a:ext cx="10972800" cy="365760"/>
          </a:xfrm>
          <a:prstGeom prst="rect">
            <a:avLst/>
          </a:prstGeom>
          <a:noFill/>
        </p:spPr>
        <p:txBody>
          <a:bodyPr wrap="square">
            <a:spAutoFit/>
          </a:bodyPr>
          <a:lstStyle/>
          <a:p>
            <a:pPr algn="l"/>
            <a:r>
              <a:rPr sz="1400" b="0">
                <a:solidFill>
                  <a:srgbClr val="589DE8"/>
                </a:solidFill>
              </a:rPr>
              <a:t>エラーから根本原因を特定し再発防止策まで設計</a:t>
            </a:r>
          </a:p>
        </p:txBody>
      </p:sp>
      <p:sp>
        <p:nvSpPr>
          <p:cNvPr id="5" name="Rectangle 4"/>
          <p:cNvSpPr/>
          <p:nvPr/>
        </p:nvSpPr>
        <p:spPr>
          <a:xfrm>
            <a:off x="0" y="6675120"/>
            <a:ext cx="12188952" cy="182880"/>
          </a:xfrm>
          <a:prstGeom prst="rect">
            <a:avLst/>
          </a:prstGeom>
          <a:solidFill>
            <a:srgbClr val="589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28600" y="1234440"/>
            <a:ext cx="502920" cy="457200"/>
          </a:xfrm>
          <a:prstGeom prst="rect">
            <a:avLst/>
          </a:prstGeom>
          <a:solidFill>
            <a:srgbClr val="589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1234440"/>
            <a:ext cx="411480" cy="457200"/>
          </a:xfrm>
          <a:prstGeom prst="rect">
            <a:avLst/>
          </a:prstGeom>
          <a:noFill/>
        </p:spPr>
        <p:txBody>
          <a:bodyPr wrap="square">
            <a:spAutoFit/>
          </a:bodyPr>
          <a:lstStyle/>
          <a:p>
            <a:pPr algn="ctr"/>
            <a:r>
              <a:rPr sz="1200" b="1">
                <a:solidFill>
                  <a:srgbClr val="FFFFFF"/>
                </a:solidFill>
              </a:rPr>
              <a:t>#</a:t>
            </a:r>
          </a:p>
        </p:txBody>
      </p:sp>
      <p:sp>
        <p:nvSpPr>
          <p:cNvPr id="8" name="Rectangle 7"/>
          <p:cNvSpPr/>
          <p:nvPr/>
        </p:nvSpPr>
        <p:spPr>
          <a:xfrm>
            <a:off x="777240" y="1234440"/>
            <a:ext cx="2194560" cy="457200"/>
          </a:xfrm>
          <a:prstGeom prst="rect">
            <a:avLst/>
          </a:prstGeom>
          <a:solidFill>
            <a:srgbClr val="589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 y="1234440"/>
            <a:ext cx="2103120" cy="457200"/>
          </a:xfrm>
          <a:prstGeom prst="rect">
            <a:avLst/>
          </a:prstGeom>
          <a:noFill/>
        </p:spPr>
        <p:txBody>
          <a:bodyPr wrap="square">
            <a:spAutoFit/>
          </a:bodyPr>
          <a:lstStyle/>
          <a:p>
            <a:pPr algn="ctr"/>
            <a:r>
              <a:rPr sz="1200" b="1">
                <a:solidFill>
                  <a:srgbClr val="FFFFFF"/>
                </a:solidFill>
              </a:rPr>
              <a:t>問題</a:t>
            </a:r>
          </a:p>
        </p:txBody>
      </p:sp>
      <p:sp>
        <p:nvSpPr>
          <p:cNvPr id="10" name="Rectangle 9"/>
          <p:cNvSpPr/>
          <p:nvPr/>
        </p:nvSpPr>
        <p:spPr>
          <a:xfrm>
            <a:off x="3017520" y="1234440"/>
            <a:ext cx="3017520" cy="457200"/>
          </a:xfrm>
          <a:prstGeom prst="rect">
            <a:avLst/>
          </a:prstGeom>
          <a:solidFill>
            <a:srgbClr val="589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063240" y="1234440"/>
            <a:ext cx="2926080" cy="457200"/>
          </a:xfrm>
          <a:prstGeom prst="rect">
            <a:avLst/>
          </a:prstGeom>
          <a:noFill/>
        </p:spPr>
        <p:txBody>
          <a:bodyPr wrap="square">
            <a:spAutoFit/>
          </a:bodyPr>
          <a:lstStyle/>
          <a:p>
            <a:pPr algn="ctr"/>
            <a:r>
              <a:rPr sz="1200" b="1">
                <a:solidFill>
                  <a:srgbClr val="FFFFFF"/>
                </a:solidFill>
              </a:rPr>
              <a:t>根本原因</a:t>
            </a:r>
          </a:p>
        </p:txBody>
      </p:sp>
      <p:sp>
        <p:nvSpPr>
          <p:cNvPr id="12" name="Rectangle 11"/>
          <p:cNvSpPr/>
          <p:nvPr/>
        </p:nvSpPr>
        <p:spPr>
          <a:xfrm>
            <a:off x="6080760" y="1234440"/>
            <a:ext cx="2926080" cy="457200"/>
          </a:xfrm>
          <a:prstGeom prst="rect">
            <a:avLst/>
          </a:prstGeom>
          <a:solidFill>
            <a:srgbClr val="589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126480" y="1234440"/>
            <a:ext cx="2834640" cy="457200"/>
          </a:xfrm>
          <a:prstGeom prst="rect">
            <a:avLst/>
          </a:prstGeom>
          <a:noFill/>
        </p:spPr>
        <p:txBody>
          <a:bodyPr wrap="square">
            <a:spAutoFit/>
          </a:bodyPr>
          <a:lstStyle/>
          <a:p>
            <a:pPr algn="ctr"/>
            <a:r>
              <a:rPr sz="1200" b="1">
                <a:solidFill>
                  <a:srgbClr val="FFFFFF"/>
                </a:solidFill>
              </a:rPr>
              <a:t>対策</a:t>
            </a:r>
          </a:p>
        </p:txBody>
      </p:sp>
      <p:sp>
        <p:nvSpPr>
          <p:cNvPr id="14" name="Rectangle 13"/>
          <p:cNvSpPr/>
          <p:nvPr/>
        </p:nvSpPr>
        <p:spPr>
          <a:xfrm>
            <a:off x="228600" y="1691640"/>
            <a:ext cx="502920" cy="457200"/>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74320" y="1737360"/>
            <a:ext cx="411480" cy="365760"/>
          </a:xfrm>
          <a:prstGeom prst="rect">
            <a:avLst/>
          </a:prstGeom>
          <a:noFill/>
        </p:spPr>
        <p:txBody>
          <a:bodyPr wrap="square">
            <a:spAutoFit/>
          </a:bodyPr>
          <a:lstStyle/>
          <a:p>
            <a:pPr algn="l"/>
            <a:r>
              <a:rPr sz="1100" b="1">
                <a:solidFill>
                  <a:srgbClr val="FF5F57"/>
                </a:solidFill>
              </a:rPr>
              <a:t>#1</a:t>
            </a:r>
          </a:p>
        </p:txBody>
      </p:sp>
      <p:sp>
        <p:nvSpPr>
          <p:cNvPr id="16" name="Rectangle 15"/>
          <p:cNvSpPr/>
          <p:nvPr/>
        </p:nvSpPr>
        <p:spPr>
          <a:xfrm>
            <a:off x="777240" y="1691640"/>
            <a:ext cx="2194560" cy="457200"/>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2960" y="1737360"/>
            <a:ext cx="2103120" cy="365760"/>
          </a:xfrm>
          <a:prstGeom prst="rect">
            <a:avLst/>
          </a:prstGeom>
          <a:noFill/>
        </p:spPr>
        <p:txBody>
          <a:bodyPr wrap="square">
            <a:spAutoFit/>
          </a:bodyPr>
          <a:lstStyle/>
          <a:p>
            <a:pPr algn="l"/>
            <a:r>
              <a:rPr sz="1100" b="0">
                <a:solidFill>
                  <a:srgbClr val="FFFFFF"/>
                </a:solidFill>
              </a:rPr>
              <a:t>CD がスキップ</a:t>
            </a:r>
          </a:p>
        </p:txBody>
      </p:sp>
      <p:sp>
        <p:nvSpPr>
          <p:cNvPr id="18" name="Rectangle 17"/>
          <p:cNvSpPr/>
          <p:nvPr/>
        </p:nvSpPr>
        <p:spPr>
          <a:xfrm>
            <a:off x="3017520" y="1691640"/>
            <a:ext cx="3017520" cy="457200"/>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063240" y="1737360"/>
            <a:ext cx="2926080" cy="365760"/>
          </a:xfrm>
          <a:prstGeom prst="rect">
            <a:avLst/>
          </a:prstGeom>
          <a:noFill/>
        </p:spPr>
        <p:txBody>
          <a:bodyPr wrap="square">
            <a:spAutoFit/>
          </a:bodyPr>
          <a:lstStyle/>
          <a:p>
            <a:pPr algn="l"/>
            <a:r>
              <a:rPr sz="1100" b="0">
                <a:solidFill>
                  <a:srgbClr val="CCCCCC"/>
                </a:solidFill>
              </a:rPr>
              <a:t>Repository Variables 未設定</a:t>
            </a:r>
          </a:p>
        </p:txBody>
      </p:sp>
      <p:sp>
        <p:nvSpPr>
          <p:cNvPr id="20" name="Rectangle 19"/>
          <p:cNvSpPr/>
          <p:nvPr/>
        </p:nvSpPr>
        <p:spPr>
          <a:xfrm>
            <a:off x="6080760" y="1691640"/>
            <a:ext cx="2926080" cy="457200"/>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126480" y="1737360"/>
            <a:ext cx="2834640" cy="365760"/>
          </a:xfrm>
          <a:prstGeom prst="rect">
            <a:avLst/>
          </a:prstGeom>
          <a:noFill/>
        </p:spPr>
        <p:txBody>
          <a:bodyPr wrap="square">
            <a:spAutoFit/>
          </a:bodyPr>
          <a:lstStyle/>
          <a:p>
            <a:pPr algn="l"/>
            <a:r>
              <a:rPr sz="1100" b="0">
                <a:solidFill>
                  <a:srgbClr val="CCCCCC"/>
                </a:solidFill>
              </a:rPr>
              <a:t>Variables + Environment を正しく設定</a:t>
            </a:r>
          </a:p>
        </p:txBody>
      </p:sp>
      <p:sp>
        <p:nvSpPr>
          <p:cNvPr id="22" name="Rectangle 21"/>
          <p:cNvSpPr/>
          <p:nvPr/>
        </p:nvSpPr>
        <p:spPr>
          <a:xfrm>
            <a:off x="228600" y="2148840"/>
            <a:ext cx="502920" cy="457200"/>
          </a:xfrm>
          <a:prstGeom prst="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274320" y="2194560"/>
            <a:ext cx="411480" cy="365760"/>
          </a:xfrm>
          <a:prstGeom prst="rect">
            <a:avLst/>
          </a:prstGeom>
          <a:noFill/>
        </p:spPr>
        <p:txBody>
          <a:bodyPr wrap="square">
            <a:spAutoFit/>
          </a:bodyPr>
          <a:lstStyle/>
          <a:p>
            <a:pPr algn="l"/>
            <a:r>
              <a:rPr sz="1100" b="1">
                <a:solidFill>
                  <a:srgbClr val="FF5F57"/>
                </a:solidFill>
              </a:rPr>
              <a:t>#2</a:t>
            </a:r>
          </a:p>
        </p:txBody>
      </p:sp>
      <p:sp>
        <p:nvSpPr>
          <p:cNvPr id="24" name="Rectangle 23"/>
          <p:cNvSpPr/>
          <p:nvPr/>
        </p:nvSpPr>
        <p:spPr>
          <a:xfrm>
            <a:off x="777240" y="2148840"/>
            <a:ext cx="2194560" cy="457200"/>
          </a:xfrm>
          <a:prstGeom prst="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22960" y="2194560"/>
            <a:ext cx="2103120" cy="365760"/>
          </a:xfrm>
          <a:prstGeom prst="rect">
            <a:avLst/>
          </a:prstGeom>
          <a:noFill/>
        </p:spPr>
        <p:txBody>
          <a:bodyPr wrap="square">
            <a:spAutoFit/>
          </a:bodyPr>
          <a:lstStyle/>
          <a:p>
            <a:pPr algn="l"/>
            <a:r>
              <a:rPr sz="1100" b="0">
                <a:solidFill>
                  <a:srgbClr val="FFFFFF"/>
                </a:solidFill>
              </a:rPr>
              <a:t>OIDC 認証失敗</a:t>
            </a:r>
          </a:p>
        </p:txBody>
      </p:sp>
      <p:sp>
        <p:nvSpPr>
          <p:cNvPr id="26" name="Rectangle 25"/>
          <p:cNvSpPr/>
          <p:nvPr/>
        </p:nvSpPr>
        <p:spPr>
          <a:xfrm>
            <a:off x="3017520" y="2148840"/>
            <a:ext cx="3017520" cy="457200"/>
          </a:xfrm>
          <a:prstGeom prst="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063240" y="2194560"/>
            <a:ext cx="2926080" cy="365760"/>
          </a:xfrm>
          <a:prstGeom prst="rect">
            <a:avLst/>
          </a:prstGeom>
          <a:noFill/>
        </p:spPr>
        <p:txBody>
          <a:bodyPr wrap="square">
            <a:spAutoFit/>
          </a:bodyPr>
          <a:lstStyle/>
          <a:p>
            <a:pPr algn="l"/>
            <a:r>
              <a:rPr sz="1100" b="0">
                <a:solidFill>
                  <a:srgbClr val="CCCCCC"/>
                </a:solidFill>
              </a:rPr>
              <a:t>IAM 信頼ポリシー sub 条件が厳しすぎ</a:t>
            </a:r>
          </a:p>
        </p:txBody>
      </p:sp>
      <p:sp>
        <p:nvSpPr>
          <p:cNvPr id="28" name="Rectangle 27"/>
          <p:cNvSpPr/>
          <p:nvPr/>
        </p:nvSpPr>
        <p:spPr>
          <a:xfrm>
            <a:off x="6080760" y="2148840"/>
            <a:ext cx="2926080" cy="457200"/>
          </a:xfrm>
          <a:prstGeom prst="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126480" y="2194560"/>
            <a:ext cx="2834640" cy="365760"/>
          </a:xfrm>
          <a:prstGeom prst="rect">
            <a:avLst/>
          </a:prstGeom>
          <a:noFill/>
        </p:spPr>
        <p:txBody>
          <a:bodyPr wrap="square">
            <a:spAutoFit/>
          </a:bodyPr>
          <a:lstStyle/>
          <a:p>
            <a:pPr algn="l"/>
            <a:r>
              <a:rPr sz="1100" b="0">
                <a:solidFill>
                  <a:srgbClr val="CCCCCC"/>
                </a:solidFill>
              </a:rPr>
              <a:t>StringLike + リポジトリスコープに調整</a:t>
            </a:r>
          </a:p>
        </p:txBody>
      </p:sp>
      <p:sp>
        <p:nvSpPr>
          <p:cNvPr id="30" name="Rectangle 29"/>
          <p:cNvSpPr/>
          <p:nvPr/>
        </p:nvSpPr>
        <p:spPr>
          <a:xfrm>
            <a:off x="228600" y="2606040"/>
            <a:ext cx="502920" cy="457200"/>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274320" y="2651760"/>
            <a:ext cx="411480" cy="365760"/>
          </a:xfrm>
          <a:prstGeom prst="rect">
            <a:avLst/>
          </a:prstGeom>
          <a:noFill/>
        </p:spPr>
        <p:txBody>
          <a:bodyPr wrap="square">
            <a:spAutoFit/>
          </a:bodyPr>
          <a:lstStyle/>
          <a:p>
            <a:pPr algn="l"/>
            <a:r>
              <a:rPr sz="1100" b="1">
                <a:solidFill>
                  <a:srgbClr val="FF9900"/>
                </a:solidFill>
              </a:rPr>
              <a:t>#3</a:t>
            </a:r>
          </a:p>
        </p:txBody>
      </p:sp>
      <p:sp>
        <p:nvSpPr>
          <p:cNvPr id="32" name="Rectangle 31"/>
          <p:cNvSpPr/>
          <p:nvPr/>
        </p:nvSpPr>
        <p:spPr>
          <a:xfrm>
            <a:off x="777240" y="2606040"/>
            <a:ext cx="2194560" cy="457200"/>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22960" y="2651760"/>
            <a:ext cx="2103120" cy="365760"/>
          </a:xfrm>
          <a:prstGeom prst="rect">
            <a:avLst/>
          </a:prstGeom>
          <a:noFill/>
        </p:spPr>
        <p:txBody>
          <a:bodyPr wrap="square">
            <a:spAutoFit/>
          </a:bodyPr>
          <a:lstStyle/>
          <a:p>
            <a:pPr algn="l"/>
            <a:r>
              <a:rPr sz="1100" b="0">
                <a:solidFill>
                  <a:srgbClr val="FFFFFF"/>
                </a:solidFill>
              </a:rPr>
              <a:t>YAML 構文エラー</a:t>
            </a:r>
          </a:p>
        </p:txBody>
      </p:sp>
      <p:sp>
        <p:nvSpPr>
          <p:cNvPr id="34" name="Rectangle 33"/>
          <p:cNvSpPr/>
          <p:nvPr/>
        </p:nvSpPr>
        <p:spPr>
          <a:xfrm>
            <a:off x="3017520" y="2606040"/>
            <a:ext cx="3017520" cy="457200"/>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063240" y="2651760"/>
            <a:ext cx="2926080" cy="365760"/>
          </a:xfrm>
          <a:prstGeom prst="rect">
            <a:avLst/>
          </a:prstGeom>
          <a:noFill/>
        </p:spPr>
        <p:txBody>
          <a:bodyPr wrap="square">
            <a:spAutoFit/>
          </a:bodyPr>
          <a:lstStyle/>
          <a:p>
            <a:pPr algn="l"/>
            <a:r>
              <a:rPr sz="1100" b="0">
                <a:solidFill>
                  <a:srgbClr val="CCCCCC"/>
                </a:solidFill>
              </a:rPr>
              <a:t>BOM付きUTF-8・インデント崩れ</a:t>
            </a:r>
          </a:p>
        </p:txBody>
      </p:sp>
      <p:sp>
        <p:nvSpPr>
          <p:cNvPr id="36" name="Rectangle 35"/>
          <p:cNvSpPr/>
          <p:nvPr/>
        </p:nvSpPr>
        <p:spPr>
          <a:xfrm>
            <a:off x="6080760" y="2606040"/>
            <a:ext cx="2926080" cy="457200"/>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126480" y="2651760"/>
            <a:ext cx="2834640" cy="365760"/>
          </a:xfrm>
          <a:prstGeom prst="rect">
            <a:avLst/>
          </a:prstGeom>
          <a:noFill/>
        </p:spPr>
        <p:txBody>
          <a:bodyPr wrap="square">
            <a:spAutoFit/>
          </a:bodyPr>
          <a:lstStyle/>
          <a:p>
            <a:pPr algn="l"/>
            <a:r>
              <a:rPr sz="1100" b="0">
                <a:solidFill>
                  <a:srgbClr val="CCCCCC"/>
                </a:solidFill>
              </a:rPr>
              <a:t>BOMなしUTF-8、インデント全修正</a:t>
            </a:r>
          </a:p>
        </p:txBody>
      </p:sp>
      <p:sp>
        <p:nvSpPr>
          <p:cNvPr id="38" name="Rectangle 37"/>
          <p:cNvSpPr/>
          <p:nvPr/>
        </p:nvSpPr>
        <p:spPr>
          <a:xfrm>
            <a:off x="228600" y="3063240"/>
            <a:ext cx="502920" cy="457200"/>
          </a:xfrm>
          <a:prstGeom prst="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274320" y="3108960"/>
            <a:ext cx="411480" cy="365760"/>
          </a:xfrm>
          <a:prstGeom prst="rect">
            <a:avLst/>
          </a:prstGeom>
          <a:noFill/>
        </p:spPr>
        <p:txBody>
          <a:bodyPr wrap="square">
            <a:spAutoFit/>
          </a:bodyPr>
          <a:lstStyle/>
          <a:p>
            <a:pPr algn="l"/>
            <a:r>
              <a:rPr sz="1100" b="1">
                <a:solidFill>
                  <a:srgbClr val="FF9900"/>
                </a:solidFill>
              </a:rPr>
              <a:t>#4</a:t>
            </a:r>
          </a:p>
        </p:txBody>
      </p:sp>
      <p:sp>
        <p:nvSpPr>
          <p:cNvPr id="40" name="Rectangle 39"/>
          <p:cNvSpPr/>
          <p:nvPr/>
        </p:nvSpPr>
        <p:spPr>
          <a:xfrm>
            <a:off x="777240" y="3063240"/>
            <a:ext cx="2194560" cy="457200"/>
          </a:xfrm>
          <a:prstGeom prst="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22960" y="3108960"/>
            <a:ext cx="2103120" cy="365760"/>
          </a:xfrm>
          <a:prstGeom prst="rect">
            <a:avLst/>
          </a:prstGeom>
          <a:noFill/>
        </p:spPr>
        <p:txBody>
          <a:bodyPr wrap="square">
            <a:spAutoFit/>
          </a:bodyPr>
          <a:lstStyle/>
          <a:p>
            <a:pPr algn="l"/>
            <a:r>
              <a:rPr sz="1100" b="0">
                <a:solidFill>
                  <a:srgbClr val="FFFFFF"/>
                </a:solidFill>
              </a:rPr>
              <a:t>ruff I001 エラー</a:t>
            </a:r>
          </a:p>
        </p:txBody>
      </p:sp>
      <p:sp>
        <p:nvSpPr>
          <p:cNvPr id="42" name="Rectangle 41"/>
          <p:cNvSpPr/>
          <p:nvPr/>
        </p:nvSpPr>
        <p:spPr>
          <a:xfrm>
            <a:off x="3017520" y="3063240"/>
            <a:ext cx="3017520" cy="457200"/>
          </a:xfrm>
          <a:prstGeom prst="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3063240" y="3108960"/>
            <a:ext cx="2926080" cy="365760"/>
          </a:xfrm>
          <a:prstGeom prst="rect">
            <a:avLst/>
          </a:prstGeom>
          <a:noFill/>
        </p:spPr>
        <p:txBody>
          <a:bodyPr wrap="square">
            <a:spAutoFit/>
          </a:bodyPr>
          <a:lstStyle/>
          <a:p>
            <a:pPr algn="l"/>
            <a:r>
              <a:rPr sz="1100" b="0">
                <a:solidFill>
                  <a:srgbClr val="CCCCCC"/>
                </a:solidFill>
              </a:rPr>
              <a:t>import 並び順が規約不一致</a:t>
            </a:r>
          </a:p>
        </p:txBody>
      </p:sp>
      <p:sp>
        <p:nvSpPr>
          <p:cNvPr id="44" name="Rectangle 43"/>
          <p:cNvSpPr/>
          <p:nvPr/>
        </p:nvSpPr>
        <p:spPr>
          <a:xfrm>
            <a:off x="6080760" y="3063240"/>
            <a:ext cx="2926080" cy="457200"/>
          </a:xfrm>
          <a:prstGeom prst="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6126480" y="3108960"/>
            <a:ext cx="2834640" cy="365760"/>
          </a:xfrm>
          <a:prstGeom prst="rect">
            <a:avLst/>
          </a:prstGeom>
          <a:noFill/>
        </p:spPr>
        <p:txBody>
          <a:bodyPr wrap="square">
            <a:spAutoFit/>
          </a:bodyPr>
          <a:lstStyle/>
          <a:p>
            <a:pPr algn="l"/>
            <a:r>
              <a:rPr sz="1100" b="0">
                <a:solidFill>
                  <a:srgbClr val="CCCCCC"/>
                </a:solidFill>
              </a:rPr>
              <a:t>stdlib/third-party を空行で区切り</a:t>
            </a:r>
          </a:p>
        </p:txBody>
      </p:sp>
      <p:sp>
        <p:nvSpPr>
          <p:cNvPr id="46" name="Rectangle 45"/>
          <p:cNvSpPr/>
          <p:nvPr/>
        </p:nvSpPr>
        <p:spPr>
          <a:xfrm>
            <a:off x="228600" y="3520440"/>
            <a:ext cx="502920" cy="457200"/>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274320" y="3566160"/>
            <a:ext cx="411480" cy="365760"/>
          </a:xfrm>
          <a:prstGeom prst="rect">
            <a:avLst/>
          </a:prstGeom>
          <a:noFill/>
        </p:spPr>
        <p:txBody>
          <a:bodyPr wrap="square">
            <a:spAutoFit/>
          </a:bodyPr>
          <a:lstStyle/>
          <a:p>
            <a:pPr algn="l"/>
            <a:r>
              <a:rPr sz="1100" b="1">
                <a:solidFill>
                  <a:srgbClr val="FF9900"/>
                </a:solidFill>
              </a:rPr>
              <a:t>#5</a:t>
            </a:r>
          </a:p>
        </p:txBody>
      </p:sp>
      <p:sp>
        <p:nvSpPr>
          <p:cNvPr id="48" name="Rectangle 47"/>
          <p:cNvSpPr/>
          <p:nvPr/>
        </p:nvSpPr>
        <p:spPr>
          <a:xfrm>
            <a:off x="777240" y="3520440"/>
            <a:ext cx="2194560" cy="457200"/>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822960" y="3566160"/>
            <a:ext cx="2103120" cy="365760"/>
          </a:xfrm>
          <a:prstGeom prst="rect">
            <a:avLst/>
          </a:prstGeom>
          <a:noFill/>
        </p:spPr>
        <p:txBody>
          <a:bodyPr wrap="square">
            <a:spAutoFit/>
          </a:bodyPr>
          <a:lstStyle/>
          <a:p>
            <a:pPr algn="l"/>
            <a:r>
              <a:rPr sz="1100" b="0">
                <a:solidFill>
                  <a:srgbClr val="FFFFFF"/>
                </a:solidFill>
              </a:rPr>
              <a:t>mypy boto3 型エラー</a:t>
            </a:r>
          </a:p>
        </p:txBody>
      </p:sp>
      <p:sp>
        <p:nvSpPr>
          <p:cNvPr id="50" name="Rectangle 49"/>
          <p:cNvSpPr/>
          <p:nvPr/>
        </p:nvSpPr>
        <p:spPr>
          <a:xfrm>
            <a:off x="3017520" y="3520440"/>
            <a:ext cx="3017520" cy="457200"/>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3063240" y="3566160"/>
            <a:ext cx="2926080" cy="365760"/>
          </a:xfrm>
          <a:prstGeom prst="rect">
            <a:avLst/>
          </a:prstGeom>
          <a:noFill/>
        </p:spPr>
        <p:txBody>
          <a:bodyPr wrap="square">
            <a:spAutoFit/>
          </a:bodyPr>
          <a:lstStyle/>
          <a:p>
            <a:pPr algn="l"/>
            <a:r>
              <a:rPr sz="1100" b="0">
                <a:solidFill>
                  <a:srgbClr val="CCCCCC"/>
                </a:solidFill>
              </a:rPr>
              <a:t>運用スクリプトが型チェック対象に混入</a:t>
            </a:r>
          </a:p>
        </p:txBody>
      </p:sp>
      <p:sp>
        <p:nvSpPr>
          <p:cNvPr id="52" name="Rectangle 51"/>
          <p:cNvSpPr/>
          <p:nvPr/>
        </p:nvSpPr>
        <p:spPr>
          <a:xfrm>
            <a:off x="6080760" y="3520440"/>
            <a:ext cx="2926080" cy="457200"/>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6126480" y="3566160"/>
            <a:ext cx="2834640" cy="365760"/>
          </a:xfrm>
          <a:prstGeom prst="rect">
            <a:avLst/>
          </a:prstGeom>
          <a:noFill/>
        </p:spPr>
        <p:txBody>
          <a:bodyPr wrap="square">
            <a:spAutoFit/>
          </a:bodyPr>
          <a:lstStyle/>
          <a:p>
            <a:pPr algn="l"/>
            <a:r>
              <a:rPr sz="1100" b="0">
                <a:solidFill>
                  <a:srgbClr val="CCCCCC"/>
                </a:solidFill>
              </a:rPr>
              <a:t>pyproject.toml でスコープを分離</a:t>
            </a:r>
          </a:p>
        </p:txBody>
      </p:sp>
      <p:sp>
        <p:nvSpPr>
          <p:cNvPr id="54" name="Rectangle 53"/>
          <p:cNvSpPr/>
          <p:nvPr/>
        </p:nvSpPr>
        <p:spPr>
          <a:xfrm>
            <a:off x="228600" y="3977640"/>
            <a:ext cx="502920" cy="457200"/>
          </a:xfrm>
          <a:prstGeom prst="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274320" y="4023360"/>
            <a:ext cx="411480" cy="365760"/>
          </a:xfrm>
          <a:prstGeom prst="rect">
            <a:avLst/>
          </a:prstGeom>
          <a:noFill/>
        </p:spPr>
        <p:txBody>
          <a:bodyPr wrap="square">
            <a:spAutoFit/>
          </a:bodyPr>
          <a:lstStyle/>
          <a:p>
            <a:pPr algn="l"/>
            <a:r>
              <a:rPr sz="1100" b="1">
                <a:solidFill>
                  <a:srgbClr val="4EC97E"/>
                </a:solidFill>
              </a:rPr>
              <a:t>#6</a:t>
            </a:r>
          </a:p>
        </p:txBody>
      </p:sp>
      <p:sp>
        <p:nvSpPr>
          <p:cNvPr id="56" name="Rectangle 55"/>
          <p:cNvSpPr/>
          <p:nvPr/>
        </p:nvSpPr>
        <p:spPr>
          <a:xfrm>
            <a:off x="777240" y="3977640"/>
            <a:ext cx="2194560" cy="457200"/>
          </a:xfrm>
          <a:prstGeom prst="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822960" y="4023360"/>
            <a:ext cx="2103120" cy="365760"/>
          </a:xfrm>
          <a:prstGeom prst="rect">
            <a:avLst/>
          </a:prstGeom>
          <a:noFill/>
        </p:spPr>
        <p:txBody>
          <a:bodyPr wrap="square">
            <a:spAutoFit/>
          </a:bodyPr>
          <a:lstStyle/>
          <a:p>
            <a:pPr algn="l"/>
            <a:r>
              <a:rPr sz="1100" b="0">
                <a:solidFill>
                  <a:srgbClr val="FFFFFF"/>
                </a:solidFill>
              </a:rPr>
              <a:t>Terraform init 失敗</a:t>
            </a:r>
          </a:p>
        </p:txBody>
      </p:sp>
      <p:sp>
        <p:nvSpPr>
          <p:cNvPr id="58" name="Rectangle 57"/>
          <p:cNvSpPr/>
          <p:nvPr/>
        </p:nvSpPr>
        <p:spPr>
          <a:xfrm>
            <a:off x="3017520" y="3977640"/>
            <a:ext cx="3017520" cy="457200"/>
          </a:xfrm>
          <a:prstGeom prst="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3063240" y="4023360"/>
            <a:ext cx="2926080" cy="365760"/>
          </a:xfrm>
          <a:prstGeom prst="rect">
            <a:avLst/>
          </a:prstGeom>
          <a:noFill/>
        </p:spPr>
        <p:txBody>
          <a:bodyPr wrap="square">
            <a:spAutoFit/>
          </a:bodyPr>
          <a:lstStyle/>
          <a:p>
            <a:pPr algn="l"/>
            <a:r>
              <a:rPr sz="1100" b="0">
                <a:solidFill>
                  <a:srgbClr val="CCCCCC"/>
                </a:solidFill>
              </a:rPr>
              <a:t>同一 data ブロックが重複定義</a:t>
            </a:r>
          </a:p>
        </p:txBody>
      </p:sp>
      <p:sp>
        <p:nvSpPr>
          <p:cNvPr id="60" name="Rectangle 59"/>
          <p:cNvSpPr/>
          <p:nvPr/>
        </p:nvSpPr>
        <p:spPr>
          <a:xfrm>
            <a:off x="6080760" y="3977640"/>
            <a:ext cx="2926080" cy="457200"/>
          </a:xfrm>
          <a:prstGeom prst="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6126480" y="4023360"/>
            <a:ext cx="2834640" cy="365760"/>
          </a:xfrm>
          <a:prstGeom prst="rect">
            <a:avLst/>
          </a:prstGeom>
          <a:noFill/>
        </p:spPr>
        <p:txBody>
          <a:bodyPr wrap="square">
            <a:spAutoFit/>
          </a:bodyPr>
          <a:lstStyle/>
          <a:p>
            <a:pPr algn="l"/>
            <a:r>
              <a:rPr sz="1100" b="0">
                <a:solidFill>
                  <a:srgbClr val="CCCCCC"/>
                </a:solidFill>
              </a:rPr>
              <a:t>重複削除 + validate を CI に追加</a:t>
            </a:r>
          </a:p>
        </p:txBody>
      </p:sp>
      <p:sp>
        <p:nvSpPr>
          <p:cNvPr id="62" name="Rectangle 61"/>
          <p:cNvSpPr/>
          <p:nvPr/>
        </p:nvSpPr>
        <p:spPr>
          <a:xfrm>
            <a:off x="6263640" y="1234440"/>
            <a:ext cx="502920" cy="457200"/>
          </a:xfrm>
          <a:prstGeom prst="rect">
            <a:avLst/>
          </a:prstGeom>
          <a:solidFill>
            <a:srgbClr val="589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6309360" y="1234440"/>
            <a:ext cx="411480" cy="457200"/>
          </a:xfrm>
          <a:prstGeom prst="rect">
            <a:avLst/>
          </a:prstGeom>
          <a:noFill/>
        </p:spPr>
        <p:txBody>
          <a:bodyPr wrap="square">
            <a:spAutoFit/>
          </a:bodyPr>
          <a:lstStyle/>
          <a:p>
            <a:pPr algn="ctr"/>
            <a:r>
              <a:rPr sz="1200" b="1">
                <a:solidFill>
                  <a:srgbClr val="FFFFFF"/>
                </a:solidFill>
              </a:rPr>
              <a:t>#</a:t>
            </a:r>
          </a:p>
        </p:txBody>
      </p:sp>
      <p:sp>
        <p:nvSpPr>
          <p:cNvPr id="64" name="Rectangle 63"/>
          <p:cNvSpPr/>
          <p:nvPr/>
        </p:nvSpPr>
        <p:spPr>
          <a:xfrm>
            <a:off x="6812280" y="1234440"/>
            <a:ext cx="2194560" cy="457200"/>
          </a:xfrm>
          <a:prstGeom prst="rect">
            <a:avLst/>
          </a:prstGeom>
          <a:solidFill>
            <a:srgbClr val="589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6858000" y="1234440"/>
            <a:ext cx="2103120" cy="457200"/>
          </a:xfrm>
          <a:prstGeom prst="rect">
            <a:avLst/>
          </a:prstGeom>
          <a:noFill/>
        </p:spPr>
        <p:txBody>
          <a:bodyPr wrap="square">
            <a:spAutoFit/>
          </a:bodyPr>
          <a:lstStyle/>
          <a:p>
            <a:pPr algn="ctr"/>
            <a:r>
              <a:rPr sz="1200" b="1">
                <a:solidFill>
                  <a:srgbClr val="FFFFFF"/>
                </a:solidFill>
              </a:rPr>
              <a:t>問題</a:t>
            </a:r>
          </a:p>
        </p:txBody>
      </p:sp>
      <p:sp>
        <p:nvSpPr>
          <p:cNvPr id="66" name="Rectangle 65"/>
          <p:cNvSpPr/>
          <p:nvPr/>
        </p:nvSpPr>
        <p:spPr>
          <a:xfrm>
            <a:off x="9052560" y="1234440"/>
            <a:ext cx="3017520" cy="457200"/>
          </a:xfrm>
          <a:prstGeom prst="rect">
            <a:avLst/>
          </a:prstGeom>
          <a:solidFill>
            <a:srgbClr val="589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9098280" y="1234440"/>
            <a:ext cx="2926080" cy="457200"/>
          </a:xfrm>
          <a:prstGeom prst="rect">
            <a:avLst/>
          </a:prstGeom>
          <a:noFill/>
        </p:spPr>
        <p:txBody>
          <a:bodyPr wrap="square">
            <a:spAutoFit/>
          </a:bodyPr>
          <a:lstStyle/>
          <a:p>
            <a:pPr algn="ctr"/>
            <a:r>
              <a:rPr sz="1200" b="1">
                <a:solidFill>
                  <a:srgbClr val="FFFFFF"/>
                </a:solidFill>
              </a:rPr>
              <a:t>根本原因</a:t>
            </a:r>
          </a:p>
        </p:txBody>
      </p:sp>
      <p:sp>
        <p:nvSpPr>
          <p:cNvPr id="68" name="Rectangle 67"/>
          <p:cNvSpPr/>
          <p:nvPr/>
        </p:nvSpPr>
        <p:spPr>
          <a:xfrm>
            <a:off x="12115800" y="1234440"/>
            <a:ext cx="2926080" cy="457200"/>
          </a:xfrm>
          <a:prstGeom prst="rect">
            <a:avLst/>
          </a:prstGeom>
          <a:solidFill>
            <a:srgbClr val="589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12161520" y="1234440"/>
            <a:ext cx="2834640" cy="457200"/>
          </a:xfrm>
          <a:prstGeom prst="rect">
            <a:avLst/>
          </a:prstGeom>
          <a:noFill/>
        </p:spPr>
        <p:txBody>
          <a:bodyPr wrap="square">
            <a:spAutoFit/>
          </a:bodyPr>
          <a:lstStyle/>
          <a:p>
            <a:pPr algn="ctr"/>
            <a:r>
              <a:rPr sz="1200" b="1">
                <a:solidFill>
                  <a:srgbClr val="FFFFFF"/>
                </a:solidFill>
              </a:rPr>
              <a:t>対策</a:t>
            </a:r>
          </a:p>
        </p:txBody>
      </p:sp>
      <p:sp>
        <p:nvSpPr>
          <p:cNvPr id="70" name="Rectangle 69"/>
          <p:cNvSpPr/>
          <p:nvPr/>
        </p:nvSpPr>
        <p:spPr>
          <a:xfrm>
            <a:off x="6263640" y="1691640"/>
            <a:ext cx="502920" cy="457200"/>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6309360" y="1737360"/>
            <a:ext cx="411480" cy="365760"/>
          </a:xfrm>
          <a:prstGeom prst="rect">
            <a:avLst/>
          </a:prstGeom>
          <a:noFill/>
        </p:spPr>
        <p:txBody>
          <a:bodyPr wrap="square">
            <a:spAutoFit/>
          </a:bodyPr>
          <a:lstStyle/>
          <a:p>
            <a:pPr algn="l"/>
            <a:r>
              <a:rPr sz="1100" b="1">
                <a:solidFill>
                  <a:srgbClr val="4EC97E"/>
                </a:solidFill>
              </a:rPr>
              <a:t>#7</a:t>
            </a:r>
          </a:p>
        </p:txBody>
      </p:sp>
      <p:sp>
        <p:nvSpPr>
          <p:cNvPr id="72" name="Rectangle 71"/>
          <p:cNvSpPr/>
          <p:nvPr/>
        </p:nvSpPr>
        <p:spPr>
          <a:xfrm>
            <a:off x="6812280" y="1691640"/>
            <a:ext cx="2194560" cy="457200"/>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6858000" y="1737360"/>
            <a:ext cx="2103120" cy="365760"/>
          </a:xfrm>
          <a:prstGeom prst="rect">
            <a:avLst/>
          </a:prstGeom>
          <a:noFill/>
        </p:spPr>
        <p:txBody>
          <a:bodyPr wrap="square">
            <a:spAutoFit/>
          </a:bodyPr>
          <a:lstStyle/>
          <a:p>
            <a:pPr algn="l"/>
            <a:r>
              <a:rPr sz="1100" b="0">
                <a:solidFill>
                  <a:srgbClr val="FFFFFF"/>
                </a:solidFill>
              </a:rPr>
              <a:t>S3 409 エラー</a:t>
            </a:r>
          </a:p>
        </p:txBody>
      </p:sp>
      <p:sp>
        <p:nvSpPr>
          <p:cNvPr id="74" name="Rectangle 73"/>
          <p:cNvSpPr/>
          <p:nvPr/>
        </p:nvSpPr>
        <p:spPr>
          <a:xfrm>
            <a:off x="9052560" y="1691640"/>
            <a:ext cx="3017520" cy="457200"/>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9098280" y="1737360"/>
            <a:ext cx="2926080" cy="365760"/>
          </a:xfrm>
          <a:prstGeom prst="rect">
            <a:avLst/>
          </a:prstGeom>
          <a:noFill/>
        </p:spPr>
        <p:txBody>
          <a:bodyPr wrap="square">
            <a:spAutoFit/>
          </a:bodyPr>
          <a:lstStyle/>
          <a:p>
            <a:pPr algn="l"/>
            <a:r>
              <a:rPr sz="1100" b="0">
                <a:solidFill>
                  <a:srgbClr val="CCCCCC"/>
                </a:solidFill>
              </a:rPr>
              <a:t>state と実リソースの不整合</a:t>
            </a:r>
          </a:p>
        </p:txBody>
      </p:sp>
      <p:sp>
        <p:nvSpPr>
          <p:cNvPr id="76" name="Rectangle 75"/>
          <p:cNvSpPr/>
          <p:nvPr/>
        </p:nvSpPr>
        <p:spPr>
          <a:xfrm>
            <a:off x="12115800" y="1691640"/>
            <a:ext cx="2926080" cy="457200"/>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12161520" y="1737360"/>
            <a:ext cx="2834640" cy="365760"/>
          </a:xfrm>
          <a:prstGeom prst="rect">
            <a:avLst/>
          </a:prstGeom>
          <a:noFill/>
        </p:spPr>
        <p:txBody>
          <a:bodyPr wrap="square">
            <a:spAutoFit/>
          </a:bodyPr>
          <a:lstStyle/>
          <a:p>
            <a:pPr algn="l"/>
            <a:r>
              <a:rPr sz="1100" b="0">
                <a:solidFill>
                  <a:srgbClr val="CCCCCC"/>
                </a:solidFill>
              </a:rPr>
              <a:t>terraform import で state を同期</a:t>
            </a:r>
          </a:p>
        </p:txBody>
      </p:sp>
      <p:sp>
        <p:nvSpPr>
          <p:cNvPr id="78" name="Rectangle 77"/>
          <p:cNvSpPr/>
          <p:nvPr/>
        </p:nvSpPr>
        <p:spPr>
          <a:xfrm>
            <a:off x="6263640" y="2148840"/>
            <a:ext cx="502920" cy="457200"/>
          </a:xfrm>
          <a:prstGeom prst="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p:cNvSpPr txBox="1"/>
          <p:nvPr/>
        </p:nvSpPr>
        <p:spPr>
          <a:xfrm>
            <a:off x="6309360" y="2194560"/>
            <a:ext cx="411480" cy="365760"/>
          </a:xfrm>
          <a:prstGeom prst="rect">
            <a:avLst/>
          </a:prstGeom>
          <a:noFill/>
        </p:spPr>
        <p:txBody>
          <a:bodyPr wrap="square">
            <a:spAutoFit/>
          </a:bodyPr>
          <a:lstStyle/>
          <a:p>
            <a:pPr algn="l"/>
            <a:r>
              <a:rPr sz="1100" b="1">
                <a:solidFill>
                  <a:srgbClr val="589DE8"/>
                </a:solidFill>
              </a:rPr>
              <a:t>#8</a:t>
            </a:r>
          </a:p>
        </p:txBody>
      </p:sp>
      <p:sp>
        <p:nvSpPr>
          <p:cNvPr id="80" name="Rectangle 79"/>
          <p:cNvSpPr/>
          <p:nvPr/>
        </p:nvSpPr>
        <p:spPr>
          <a:xfrm>
            <a:off x="6812280" y="2148840"/>
            <a:ext cx="2194560" cy="457200"/>
          </a:xfrm>
          <a:prstGeom prst="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p:cNvSpPr txBox="1"/>
          <p:nvPr/>
        </p:nvSpPr>
        <p:spPr>
          <a:xfrm>
            <a:off x="6858000" y="2194560"/>
            <a:ext cx="2103120" cy="365760"/>
          </a:xfrm>
          <a:prstGeom prst="rect">
            <a:avLst/>
          </a:prstGeom>
          <a:noFill/>
        </p:spPr>
        <p:txBody>
          <a:bodyPr wrap="square">
            <a:spAutoFit/>
          </a:bodyPr>
          <a:lstStyle/>
          <a:p>
            <a:pPr algn="l"/>
            <a:r>
              <a:rPr sz="1100" b="0">
                <a:solidFill>
                  <a:srgbClr val="FFFFFF"/>
                </a:solidFill>
              </a:rPr>
              <a:t>ヘルスチェック 403</a:t>
            </a:r>
          </a:p>
        </p:txBody>
      </p:sp>
      <p:sp>
        <p:nvSpPr>
          <p:cNvPr id="82" name="Rectangle 81"/>
          <p:cNvSpPr/>
          <p:nvPr/>
        </p:nvSpPr>
        <p:spPr>
          <a:xfrm>
            <a:off x="9052560" y="2148840"/>
            <a:ext cx="3017520" cy="457200"/>
          </a:xfrm>
          <a:prstGeom prst="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p:cNvSpPr txBox="1"/>
          <p:nvPr/>
        </p:nvSpPr>
        <p:spPr>
          <a:xfrm>
            <a:off x="9098280" y="2194560"/>
            <a:ext cx="2926080" cy="365760"/>
          </a:xfrm>
          <a:prstGeom prst="rect">
            <a:avLst/>
          </a:prstGeom>
          <a:noFill/>
        </p:spPr>
        <p:txBody>
          <a:bodyPr wrap="square">
            <a:spAutoFit/>
          </a:bodyPr>
          <a:lstStyle/>
          <a:p>
            <a:pPr algn="l"/>
            <a:r>
              <a:rPr sz="1100" b="0">
                <a:solidFill>
                  <a:srgbClr val="CCCCCC"/>
                </a:solidFill>
              </a:rPr>
              <a:t>Actions ロールの S3 権限不足</a:t>
            </a:r>
          </a:p>
        </p:txBody>
      </p:sp>
      <p:sp>
        <p:nvSpPr>
          <p:cNvPr id="84" name="Rectangle 83"/>
          <p:cNvSpPr/>
          <p:nvPr/>
        </p:nvSpPr>
        <p:spPr>
          <a:xfrm>
            <a:off x="12115800" y="2148840"/>
            <a:ext cx="2926080" cy="457200"/>
          </a:xfrm>
          <a:prstGeom prst="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12161520" y="2194560"/>
            <a:ext cx="2834640" cy="365760"/>
          </a:xfrm>
          <a:prstGeom prst="rect">
            <a:avLst/>
          </a:prstGeom>
          <a:noFill/>
        </p:spPr>
        <p:txBody>
          <a:bodyPr wrap="square">
            <a:spAutoFit/>
          </a:bodyPr>
          <a:lstStyle/>
          <a:p>
            <a:pPr algn="l"/>
            <a:r>
              <a:rPr sz="1100" b="0">
                <a:solidFill>
                  <a:srgbClr val="CCCCCC"/>
                </a:solidFill>
              </a:rPr>
              <a:t>List/Get/Tagging 権限を追加</a:t>
            </a:r>
          </a:p>
        </p:txBody>
      </p:sp>
      <p:sp>
        <p:nvSpPr>
          <p:cNvPr id="86" name="Rectangle 85"/>
          <p:cNvSpPr/>
          <p:nvPr/>
        </p:nvSpPr>
        <p:spPr>
          <a:xfrm>
            <a:off x="6263640" y="2606040"/>
            <a:ext cx="502920" cy="457200"/>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p:cNvSpPr txBox="1"/>
          <p:nvPr/>
        </p:nvSpPr>
        <p:spPr>
          <a:xfrm>
            <a:off x="6309360" y="2651760"/>
            <a:ext cx="411480" cy="365760"/>
          </a:xfrm>
          <a:prstGeom prst="rect">
            <a:avLst/>
          </a:prstGeom>
          <a:noFill/>
        </p:spPr>
        <p:txBody>
          <a:bodyPr wrap="square">
            <a:spAutoFit/>
          </a:bodyPr>
          <a:lstStyle/>
          <a:p>
            <a:pPr algn="l"/>
            <a:r>
              <a:rPr sz="1100" b="1">
                <a:solidFill>
                  <a:srgbClr val="589DE8"/>
                </a:solidFill>
              </a:rPr>
              <a:t>#9</a:t>
            </a:r>
          </a:p>
        </p:txBody>
      </p:sp>
      <p:sp>
        <p:nvSpPr>
          <p:cNvPr id="88" name="Rectangle 87"/>
          <p:cNvSpPr/>
          <p:nvPr/>
        </p:nvSpPr>
        <p:spPr>
          <a:xfrm>
            <a:off x="6812280" y="2606040"/>
            <a:ext cx="2194560" cy="457200"/>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TextBox 88"/>
          <p:cNvSpPr txBox="1"/>
          <p:nvPr/>
        </p:nvSpPr>
        <p:spPr>
          <a:xfrm>
            <a:off x="6858000" y="2651760"/>
            <a:ext cx="2103120" cy="365760"/>
          </a:xfrm>
          <a:prstGeom prst="rect">
            <a:avLst/>
          </a:prstGeom>
          <a:noFill/>
        </p:spPr>
        <p:txBody>
          <a:bodyPr wrap="square">
            <a:spAutoFit/>
          </a:bodyPr>
          <a:lstStyle/>
          <a:p>
            <a:pPr algn="l"/>
            <a:r>
              <a:rPr sz="1100" b="0">
                <a:solidFill>
                  <a:srgbClr val="FFFFFF"/>
                </a:solidFill>
              </a:rPr>
              <a:t>aws_s3_bucket_tagging</a:t>
            </a:r>
          </a:p>
        </p:txBody>
      </p:sp>
      <p:sp>
        <p:nvSpPr>
          <p:cNvPr id="90" name="Rectangle 89"/>
          <p:cNvSpPr/>
          <p:nvPr/>
        </p:nvSpPr>
        <p:spPr>
          <a:xfrm>
            <a:off x="9052560" y="2606040"/>
            <a:ext cx="3017520" cy="457200"/>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TextBox 90"/>
          <p:cNvSpPr txBox="1"/>
          <p:nvPr/>
        </p:nvSpPr>
        <p:spPr>
          <a:xfrm>
            <a:off x="9098280" y="2651760"/>
            <a:ext cx="2926080" cy="365760"/>
          </a:xfrm>
          <a:prstGeom prst="rect">
            <a:avLst/>
          </a:prstGeom>
          <a:noFill/>
        </p:spPr>
        <p:txBody>
          <a:bodyPr wrap="square">
            <a:spAutoFit/>
          </a:bodyPr>
          <a:lstStyle/>
          <a:p>
            <a:pPr algn="l"/>
            <a:r>
              <a:rPr sz="1100" b="0">
                <a:solidFill>
                  <a:srgbClr val="CCCCCC"/>
                </a:solidFill>
              </a:rPr>
              <a:t>provider バージョン非対応</a:t>
            </a:r>
          </a:p>
        </p:txBody>
      </p:sp>
      <p:sp>
        <p:nvSpPr>
          <p:cNvPr id="92" name="Rectangle 91"/>
          <p:cNvSpPr/>
          <p:nvPr/>
        </p:nvSpPr>
        <p:spPr>
          <a:xfrm>
            <a:off x="12115800" y="2606040"/>
            <a:ext cx="2926080" cy="457200"/>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TextBox 92"/>
          <p:cNvSpPr txBox="1"/>
          <p:nvPr/>
        </p:nvSpPr>
        <p:spPr>
          <a:xfrm>
            <a:off x="12161520" y="2651760"/>
            <a:ext cx="2834640" cy="365760"/>
          </a:xfrm>
          <a:prstGeom prst="rect">
            <a:avLst/>
          </a:prstGeom>
          <a:noFill/>
        </p:spPr>
        <p:txBody>
          <a:bodyPr wrap="square">
            <a:spAutoFit/>
          </a:bodyPr>
          <a:lstStyle/>
          <a:p>
            <a:pPr algn="l"/>
            <a:r>
              <a:rPr sz="1100" b="0">
                <a:solidFill>
                  <a:srgbClr val="CCCCCC"/>
                </a:solidFill>
              </a:rPr>
              <a:t>該当リソースを外し CLI 側で処理</a:t>
            </a:r>
          </a:p>
        </p:txBody>
      </p:sp>
      <p:sp>
        <p:nvSpPr>
          <p:cNvPr id="94" name="Rectangle 93"/>
          <p:cNvSpPr/>
          <p:nvPr/>
        </p:nvSpPr>
        <p:spPr>
          <a:xfrm>
            <a:off x="6263640" y="3063240"/>
            <a:ext cx="502920" cy="457200"/>
          </a:xfrm>
          <a:prstGeom prst="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TextBox 94"/>
          <p:cNvSpPr txBox="1"/>
          <p:nvPr/>
        </p:nvSpPr>
        <p:spPr>
          <a:xfrm>
            <a:off x="6309360" y="3108960"/>
            <a:ext cx="411480" cy="365760"/>
          </a:xfrm>
          <a:prstGeom prst="rect">
            <a:avLst/>
          </a:prstGeom>
          <a:noFill/>
        </p:spPr>
        <p:txBody>
          <a:bodyPr wrap="square">
            <a:spAutoFit/>
          </a:bodyPr>
          <a:lstStyle/>
          <a:p>
            <a:pPr algn="l"/>
            <a:r>
              <a:rPr sz="1100" b="1">
                <a:solidFill>
                  <a:srgbClr val="FF9900"/>
                </a:solidFill>
              </a:rPr>
              <a:t>#10</a:t>
            </a:r>
          </a:p>
        </p:txBody>
      </p:sp>
      <p:sp>
        <p:nvSpPr>
          <p:cNvPr id="96" name="Rectangle 95"/>
          <p:cNvSpPr/>
          <p:nvPr/>
        </p:nvSpPr>
        <p:spPr>
          <a:xfrm>
            <a:off x="6812280" y="3063240"/>
            <a:ext cx="2194560" cy="457200"/>
          </a:xfrm>
          <a:prstGeom prst="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TextBox 96"/>
          <p:cNvSpPr txBox="1"/>
          <p:nvPr/>
        </p:nvSpPr>
        <p:spPr>
          <a:xfrm>
            <a:off x="6858000" y="3108960"/>
            <a:ext cx="2103120" cy="365760"/>
          </a:xfrm>
          <a:prstGeom prst="rect">
            <a:avLst/>
          </a:prstGeom>
          <a:noFill/>
        </p:spPr>
        <p:txBody>
          <a:bodyPr wrap="square">
            <a:spAutoFit/>
          </a:bodyPr>
          <a:lstStyle/>
          <a:p>
            <a:pPr algn="l"/>
            <a:r>
              <a:rPr sz="1100" b="0">
                <a:solidFill>
                  <a:srgbClr val="FFFFFF"/>
                </a:solidFill>
              </a:rPr>
              <a:t>ECR 409 エラー</a:t>
            </a:r>
          </a:p>
        </p:txBody>
      </p:sp>
      <p:sp>
        <p:nvSpPr>
          <p:cNvPr id="98" name="Rectangle 97"/>
          <p:cNvSpPr/>
          <p:nvPr/>
        </p:nvSpPr>
        <p:spPr>
          <a:xfrm>
            <a:off x="9052560" y="3063240"/>
            <a:ext cx="3017520" cy="457200"/>
          </a:xfrm>
          <a:prstGeom prst="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TextBox 98"/>
          <p:cNvSpPr txBox="1"/>
          <p:nvPr/>
        </p:nvSpPr>
        <p:spPr>
          <a:xfrm>
            <a:off x="9098280" y="3108960"/>
            <a:ext cx="2926080" cy="365760"/>
          </a:xfrm>
          <a:prstGeom prst="rect">
            <a:avLst/>
          </a:prstGeom>
          <a:noFill/>
        </p:spPr>
        <p:txBody>
          <a:bodyPr wrap="square">
            <a:spAutoFit/>
          </a:bodyPr>
          <a:lstStyle/>
          <a:p>
            <a:pPr algn="l"/>
            <a:r>
              <a:rPr sz="1100" b="0">
                <a:solidFill>
                  <a:srgbClr val="CCCCCC"/>
                </a:solidFill>
              </a:rPr>
              <a:t>イミュータブルタグで上書き禁止</a:t>
            </a:r>
          </a:p>
        </p:txBody>
      </p:sp>
      <p:sp>
        <p:nvSpPr>
          <p:cNvPr id="100" name="Rectangle 99"/>
          <p:cNvSpPr/>
          <p:nvPr/>
        </p:nvSpPr>
        <p:spPr>
          <a:xfrm>
            <a:off x="12115800" y="3063240"/>
            <a:ext cx="2926080" cy="457200"/>
          </a:xfrm>
          <a:prstGeom prst="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TextBox 100"/>
          <p:cNvSpPr txBox="1"/>
          <p:nvPr/>
        </p:nvSpPr>
        <p:spPr>
          <a:xfrm>
            <a:off x="12161520" y="3108960"/>
            <a:ext cx="2834640" cy="365760"/>
          </a:xfrm>
          <a:prstGeom prst="rect">
            <a:avLst/>
          </a:prstGeom>
          <a:noFill/>
        </p:spPr>
        <p:txBody>
          <a:bodyPr wrap="square">
            <a:spAutoFit/>
          </a:bodyPr>
          <a:lstStyle/>
          <a:p>
            <a:pPr algn="l"/>
            <a:r>
              <a:rPr sz="1100" b="0">
                <a:solidFill>
                  <a:srgbClr val="CCCCCC"/>
                </a:solidFill>
              </a:rPr>
              <a:t>github.sha をユニークタグとして使用</a:t>
            </a:r>
          </a:p>
        </p:txBody>
      </p:sp>
      <p:sp>
        <p:nvSpPr>
          <p:cNvPr id="102" name="Rectangle 101"/>
          <p:cNvSpPr/>
          <p:nvPr/>
        </p:nvSpPr>
        <p:spPr>
          <a:xfrm>
            <a:off x="6263640" y="3520440"/>
            <a:ext cx="502920" cy="457200"/>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TextBox 102"/>
          <p:cNvSpPr txBox="1"/>
          <p:nvPr/>
        </p:nvSpPr>
        <p:spPr>
          <a:xfrm>
            <a:off x="6309360" y="3566160"/>
            <a:ext cx="411480" cy="365760"/>
          </a:xfrm>
          <a:prstGeom prst="rect">
            <a:avLst/>
          </a:prstGeom>
          <a:noFill/>
        </p:spPr>
        <p:txBody>
          <a:bodyPr wrap="square">
            <a:spAutoFit/>
          </a:bodyPr>
          <a:lstStyle/>
          <a:p>
            <a:pPr algn="l"/>
            <a:r>
              <a:rPr sz="1100" b="1">
                <a:solidFill>
                  <a:srgbClr val="FF5F57"/>
                </a:solidFill>
              </a:rPr>
              <a:t>#11</a:t>
            </a:r>
          </a:p>
        </p:txBody>
      </p:sp>
      <p:sp>
        <p:nvSpPr>
          <p:cNvPr id="104" name="Rectangle 103"/>
          <p:cNvSpPr/>
          <p:nvPr/>
        </p:nvSpPr>
        <p:spPr>
          <a:xfrm>
            <a:off x="6812280" y="3520440"/>
            <a:ext cx="2194560" cy="457200"/>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TextBox 104"/>
          <p:cNvSpPr txBox="1"/>
          <p:nvPr/>
        </p:nvSpPr>
        <p:spPr>
          <a:xfrm>
            <a:off x="6858000" y="3566160"/>
            <a:ext cx="2103120" cy="365760"/>
          </a:xfrm>
          <a:prstGeom prst="rect">
            <a:avLst/>
          </a:prstGeom>
          <a:noFill/>
        </p:spPr>
        <p:txBody>
          <a:bodyPr wrap="square">
            <a:spAutoFit/>
          </a:bodyPr>
          <a:lstStyle/>
          <a:p>
            <a:pPr algn="l"/>
            <a:r>
              <a:rPr sz="1100" b="0">
                <a:solidFill>
                  <a:srgbClr val="FFFFFF"/>
                </a:solidFill>
              </a:rPr>
              <a:t>Trivy 脆弱性多数</a:t>
            </a:r>
          </a:p>
        </p:txBody>
      </p:sp>
      <p:sp>
        <p:nvSpPr>
          <p:cNvPr id="106" name="Rectangle 105"/>
          <p:cNvSpPr/>
          <p:nvPr/>
        </p:nvSpPr>
        <p:spPr>
          <a:xfrm>
            <a:off x="9052560" y="3520440"/>
            <a:ext cx="3017520" cy="457200"/>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TextBox 106"/>
          <p:cNvSpPr txBox="1"/>
          <p:nvPr/>
        </p:nvSpPr>
        <p:spPr>
          <a:xfrm>
            <a:off x="9098280" y="3566160"/>
            <a:ext cx="2926080" cy="365760"/>
          </a:xfrm>
          <a:prstGeom prst="rect">
            <a:avLst/>
          </a:prstGeom>
          <a:noFill/>
        </p:spPr>
        <p:txBody>
          <a:bodyPr wrap="square">
            <a:spAutoFit/>
          </a:bodyPr>
          <a:lstStyle/>
          <a:p>
            <a:pPr algn="l"/>
            <a:r>
              <a:rPr sz="1100" b="0">
                <a:solidFill>
                  <a:srgbClr val="CCCCCC"/>
                </a:solidFill>
              </a:rPr>
              <a:t>python:3.12-slim パッケージが古い</a:t>
            </a:r>
          </a:p>
        </p:txBody>
      </p:sp>
      <p:sp>
        <p:nvSpPr>
          <p:cNvPr id="108" name="Rectangle 107"/>
          <p:cNvSpPr/>
          <p:nvPr/>
        </p:nvSpPr>
        <p:spPr>
          <a:xfrm>
            <a:off x="12115800" y="3520440"/>
            <a:ext cx="2926080" cy="457200"/>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TextBox 108"/>
          <p:cNvSpPr txBox="1"/>
          <p:nvPr/>
        </p:nvSpPr>
        <p:spPr>
          <a:xfrm>
            <a:off x="12161520" y="3566160"/>
            <a:ext cx="2834640" cy="365760"/>
          </a:xfrm>
          <a:prstGeom prst="rect">
            <a:avLst/>
          </a:prstGeom>
          <a:noFill/>
        </p:spPr>
        <p:txBody>
          <a:bodyPr wrap="square">
            <a:spAutoFit/>
          </a:bodyPr>
          <a:lstStyle/>
          <a:p>
            <a:pPr algn="l"/>
            <a:r>
              <a:rPr sz="1100" b="0">
                <a:solidFill>
                  <a:srgbClr val="CCCCCC"/>
                </a:solidFill>
              </a:rPr>
              <a:t>python:3.14-slim に更新</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E1E2E"/>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589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10972800" cy="640080"/>
          </a:xfrm>
          <a:prstGeom prst="rect">
            <a:avLst/>
          </a:prstGeom>
          <a:noFill/>
        </p:spPr>
        <p:txBody>
          <a:bodyPr wrap="square">
            <a:spAutoFit/>
          </a:bodyPr>
          <a:lstStyle/>
          <a:p>
            <a:pPr algn="l"/>
            <a:r>
              <a:rPr sz="2800" b="1">
                <a:solidFill>
                  <a:srgbClr val="FFFFFF"/>
                </a:solidFill>
              </a:rPr>
              <a:t>技術スタック &amp; 習得スキル</a:t>
            </a:r>
          </a:p>
        </p:txBody>
      </p:sp>
      <p:sp>
        <p:nvSpPr>
          <p:cNvPr id="4" name="TextBox 3"/>
          <p:cNvSpPr txBox="1"/>
          <p:nvPr/>
        </p:nvSpPr>
        <p:spPr>
          <a:xfrm>
            <a:off x="457200" y="731520"/>
            <a:ext cx="10972800" cy="365760"/>
          </a:xfrm>
          <a:prstGeom prst="rect">
            <a:avLst/>
          </a:prstGeom>
          <a:noFill/>
        </p:spPr>
        <p:txBody>
          <a:bodyPr wrap="square">
            <a:spAutoFit/>
          </a:bodyPr>
          <a:lstStyle/>
          <a:p>
            <a:pPr algn="l"/>
            <a:r>
              <a:rPr sz="1400" b="0">
                <a:solidFill>
                  <a:srgbClr val="589DE8"/>
                </a:solidFill>
              </a:rPr>
              <a:t>このプロジェクトで実践的に習得した技術</a:t>
            </a:r>
          </a:p>
        </p:txBody>
      </p:sp>
      <p:sp>
        <p:nvSpPr>
          <p:cNvPr id="5" name="Rectangle 4"/>
          <p:cNvSpPr/>
          <p:nvPr/>
        </p:nvSpPr>
        <p:spPr>
          <a:xfrm>
            <a:off x="0" y="6675120"/>
            <a:ext cx="12188952" cy="182880"/>
          </a:xfrm>
          <a:prstGeom prst="rect">
            <a:avLst/>
          </a:prstGeom>
          <a:solidFill>
            <a:srgbClr val="589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28600" y="1234440"/>
            <a:ext cx="2194560" cy="5029200"/>
          </a:xfrm>
          <a:prstGeom prst="rect">
            <a:avLst/>
          </a:prstGeom>
          <a:solidFill>
            <a:srgbClr val="2D2D44"/>
          </a:solidFill>
          <a:ln w="19050">
            <a:solidFill>
              <a:srgbClr val="589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28600" y="1234440"/>
            <a:ext cx="2194560" cy="457200"/>
          </a:xfrm>
          <a:prstGeom prst="rect">
            <a:avLst/>
          </a:prstGeom>
          <a:solidFill>
            <a:srgbClr val="589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28600" y="1234440"/>
            <a:ext cx="2194560" cy="457200"/>
          </a:xfrm>
          <a:prstGeom prst="rect">
            <a:avLst/>
          </a:prstGeom>
          <a:noFill/>
        </p:spPr>
        <p:txBody>
          <a:bodyPr wrap="square">
            <a:spAutoFit/>
          </a:bodyPr>
          <a:lstStyle/>
          <a:p>
            <a:pPr algn="ctr"/>
            <a:r>
              <a:rPr sz="1200" b="1">
                <a:solidFill>
                  <a:srgbClr val="FFFFFF"/>
                </a:solidFill>
              </a:rPr>
              <a:t>GitHub Actions</a:t>
            </a:r>
          </a:p>
        </p:txBody>
      </p:sp>
      <p:sp>
        <p:nvSpPr>
          <p:cNvPr id="9" name="TextBox 8"/>
          <p:cNvSpPr txBox="1"/>
          <p:nvPr/>
        </p:nvSpPr>
        <p:spPr>
          <a:xfrm>
            <a:off x="320040" y="1783080"/>
            <a:ext cx="2011680" cy="4389120"/>
          </a:xfrm>
          <a:prstGeom prst="rect">
            <a:avLst/>
          </a:prstGeom>
          <a:noFill/>
        </p:spPr>
        <p:txBody>
          <a:bodyPr wrap="square">
            <a:spAutoFit/>
          </a:bodyPr>
          <a:lstStyle/>
          <a:p>
            <a:r>
              <a:rPr sz="1100">
                <a:solidFill>
                  <a:srgbClr val="CCCCCC"/>
                </a:solidFill>
              </a:rPr>
              <a:t>✓ ワークフロー設計 (on: / jobs / steps)</a:t>
            </a:r>
          </a:p>
          <a:p>
            <a:r>
              <a:rPr sz="1100">
                <a:solidFill>
                  <a:srgbClr val="CCCCCC"/>
                </a:solidFill>
              </a:rPr>
              <a:t>✓ Environment approval 実装</a:t>
            </a:r>
          </a:p>
          <a:p>
            <a:r>
              <a:rPr sz="1100">
                <a:solidFill>
                  <a:srgbClr val="CCCCCC"/>
                </a:solidFill>
              </a:rPr>
              <a:t>✓ OIDC認証連携</a:t>
            </a:r>
          </a:p>
          <a:p>
            <a:r>
              <a:rPr sz="1100">
                <a:solidFill>
                  <a:srgbClr val="CCCCCC"/>
                </a:solidFill>
              </a:rPr>
              <a:t>✓ 条件付き実行・依存ジョブ設計</a:t>
            </a:r>
          </a:p>
        </p:txBody>
      </p:sp>
      <p:sp>
        <p:nvSpPr>
          <p:cNvPr id="10" name="Rectangle 9"/>
          <p:cNvSpPr/>
          <p:nvPr/>
        </p:nvSpPr>
        <p:spPr>
          <a:xfrm>
            <a:off x="2532888" y="1234440"/>
            <a:ext cx="2194560" cy="5029200"/>
          </a:xfrm>
          <a:prstGeom prst="rect">
            <a:avLst/>
          </a:prstGeom>
          <a:solidFill>
            <a:srgbClr val="2D2D44"/>
          </a:solidFill>
          <a:ln w="19050">
            <a:solidFill>
              <a:srgbClr val="FF9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532888" y="1234440"/>
            <a:ext cx="2194560" cy="457200"/>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532888" y="1234440"/>
            <a:ext cx="2194560" cy="457200"/>
          </a:xfrm>
          <a:prstGeom prst="rect">
            <a:avLst/>
          </a:prstGeom>
          <a:noFill/>
        </p:spPr>
        <p:txBody>
          <a:bodyPr wrap="square">
            <a:spAutoFit/>
          </a:bodyPr>
          <a:lstStyle/>
          <a:p>
            <a:pPr algn="ctr"/>
            <a:r>
              <a:rPr sz="1200" b="1">
                <a:solidFill>
                  <a:srgbClr val="FFFFFF"/>
                </a:solidFill>
              </a:rPr>
              <a:t>AWS</a:t>
            </a:r>
          </a:p>
        </p:txBody>
      </p:sp>
      <p:sp>
        <p:nvSpPr>
          <p:cNvPr id="13" name="TextBox 12"/>
          <p:cNvSpPr txBox="1"/>
          <p:nvPr/>
        </p:nvSpPr>
        <p:spPr>
          <a:xfrm>
            <a:off x="2624328" y="1783080"/>
            <a:ext cx="2011680" cy="4389120"/>
          </a:xfrm>
          <a:prstGeom prst="rect">
            <a:avLst/>
          </a:prstGeom>
          <a:noFill/>
        </p:spPr>
        <p:txBody>
          <a:bodyPr wrap="square">
            <a:spAutoFit/>
          </a:bodyPr>
          <a:lstStyle/>
          <a:p>
            <a:r>
              <a:rPr sz="1100">
                <a:solidFill>
                  <a:srgbClr val="CCCCCC"/>
                </a:solidFill>
              </a:rPr>
              <a:t>✓ ECR（イミュータブルタグ・ライフサイクル）</a:t>
            </a:r>
          </a:p>
          <a:p>
            <a:r>
              <a:rPr sz="1100">
                <a:solidFill>
                  <a:srgbClr val="CCCCCC"/>
                </a:solidFill>
              </a:rPr>
              <a:t>✓ ECS Fargate デプロイ</a:t>
            </a:r>
          </a:p>
          <a:p>
            <a:r>
              <a:rPr sz="1100">
                <a:solidFill>
                  <a:srgbClr val="CCCCCC"/>
                </a:solidFill>
              </a:rPr>
              <a:t>✓ IAM OIDC 連携・最小権限設計</a:t>
            </a:r>
          </a:p>
          <a:p>
            <a:r>
              <a:rPr sz="1100">
                <a:solidFill>
                  <a:srgbClr val="CCCCCC"/>
                </a:solidFill>
              </a:rPr>
              <a:t>✓ S3 リソース管理</a:t>
            </a:r>
          </a:p>
        </p:txBody>
      </p:sp>
      <p:sp>
        <p:nvSpPr>
          <p:cNvPr id="14" name="Rectangle 13"/>
          <p:cNvSpPr/>
          <p:nvPr/>
        </p:nvSpPr>
        <p:spPr>
          <a:xfrm>
            <a:off x="4837176" y="1234440"/>
            <a:ext cx="2194560" cy="5029200"/>
          </a:xfrm>
          <a:prstGeom prst="rect">
            <a:avLst/>
          </a:prstGeom>
          <a:solidFill>
            <a:srgbClr val="2D2D44"/>
          </a:solidFill>
          <a:ln w="19050">
            <a:solidFill>
              <a:srgbClr val="FF5F5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837176" y="1234440"/>
            <a:ext cx="2194560" cy="457200"/>
          </a:xfrm>
          <a:prstGeom prst="rect">
            <a:avLst/>
          </a:prstGeom>
          <a:solidFill>
            <a:srgbClr val="FF5F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837176" y="1234440"/>
            <a:ext cx="2194560" cy="457200"/>
          </a:xfrm>
          <a:prstGeom prst="rect">
            <a:avLst/>
          </a:prstGeom>
          <a:noFill/>
        </p:spPr>
        <p:txBody>
          <a:bodyPr wrap="square">
            <a:spAutoFit/>
          </a:bodyPr>
          <a:lstStyle/>
          <a:p>
            <a:pPr algn="ctr"/>
            <a:r>
              <a:rPr sz="1200" b="1">
                <a:solidFill>
                  <a:srgbClr val="FFFFFF"/>
                </a:solidFill>
              </a:rPr>
              <a:t>セキュリティ</a:t>
            </a:r>
          </a:p>
        </p:txBody>
      </p:sp>
      <p:sp>
        <p:nvSpPr>
          <p:cNvPr id="17" name="TextBox 16"/>
          <p:cNvSpPr txBox="1"/>
          <p:nvPr/>
        </p:nvSpPr>
        <p:spPr>
          <a:xfrm>
            <a:off x="4928616" y="1783080"/>
            <a:ext cx="2011680" cy="4389120"/>
          </a:xfrm>
          <a:prstGeom prst="rect">
            <a:avLst/>
          </a:prstGeom>
          <a:noFill/>
        </p:spPr>
        <p:txBody>
          <a:bodyPr wrap="square">
            <a:spAutoFit/>
          </a:bodyPr>
          <a:lstStyle/>
          <a:p>
            <a:r>
              <a:rPr sz="1100">
                <a:solidFill>
                  <a:srgbClr val="CCCCCC"/>
                </a:solidFill>
              </a:rPr>
              <a:t>✓ Trivy FS + imageスキャン</a:t>
            </a:r>
          </a:p>
          <a:p>
            <a:r>
              <a:rPr sz="1100">
                <a:solidFill>
                  <a:srgbClr val="CCCCCC"/>
                </a:solidFill>
              </a:rPr>
              <a:t>✓ CodeQL SAST (Python)</a:t>
            </a:r>
          </a:p>
          <a:p>
            <a:r>
              <a:rPr sz="1100">
                <a:solidFill>
                  <a:srgbClr val="CCCCCC"/>
                </a:solidFill>
              </a:rPr>
              <a:t>✓ pip-audit / gitleaks / checkov</a:t>
            </a:r>
          </a:p>
          <a:p>
            <a:r>
              <a:rPr sz="1100">
                <a:solidFill>
                  <a:srgbClr val="CCCCCC"/>
                </a:solidFill>
              </a:rPr>
              <a:t>✓ 多層防御設計の実践</a:t>
            </a:r>
          </a:p>
        </p:txBody>
      </p:sp>
      <p:sp>
        <p:nvSpPr>
          <p:cNvPr id="18" name="Rectangle 17"/>
          <p:cNvSpPr/>
          <p:nvPr/>
        </p:nvSpPr>
        <p:spPr>
          <a:xfrm>
            <a:off x="7141464" y="1234440"/>
            <a:ext cx="2194560" cy="5029200"/>
          </a:xfrm>
          <a:prstGeom prst="rect">
            <a:avLst/>
          </a:prstGeom>
          <a:solidFill>
            <a:srgbClr val="2D2D44"/>
          </a:solidFill>
          <a:ln w="19050">
            <a:solidFill>
              <a:srgbClr val="4EC97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7141464" y="1234440"/>
            <a:ext cx="2194560" cy="457200"/>
          </a:xfrm>
          <a:prstGeom prst="rect">
            <a:avLst/>
          </a:prstGeom>
          <a:solidFill>
            <a:srgbClr val="4EC9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141464" y="1234440"/>
            <a:ext cx="2194560" cy="457200"/>
          </a:xfrm>
          <a:prstGeom prst="rect">
            <a:avLst/>
          </a:prstGeom>
          <a:noFill/>
        </p:spPr>
        <p:txBody>
          <a:bodyPr wrap="square">
            <a:spAutoFit/>
          </a:bodyPr>
          <a:lstStyle/>
          <a:p>
            <a:pPr algn="ctr"/>
            <a:r>
              <a:rPr sz="1200" b="1">
                <a:solidFill>
                  <a:srgbClr val="FFFFFF"/>
                </a:solidFill>
              </a:rPr>
              <a:t>IaC / Docker</a:t>
            </a:r>
          </a:p>
        </p:txBody>
      </p:sp>
      <p:sp>
        <p:nvSpPr>
          <p:cNvPr id="21" name="TextBox 20"/>
          <p:cNvSpPr txBox="1"/>
          <p:nvPr/>
        </p:nvSpPr>
        <p:spPr>
          <a:xfrm>
            <a:off x="7232904" y="1783080"/>
            <a:ext cx="2011680" cy="4389120"/>
          </a:xfrm>
          <a:prstGeom prst="rect">
            <a:avLst/>
          </a:prstGeom>
          <a:noFill/>
        </p:spPr>
        <p:txBody>
          <a:bodyPr wrap="square">
            <a:spAutoFit/>
          </a:bodyPr>
          <a:lstStyle/>
          <a:p>
            <a:r>
              <a:rPr sz="1100">
                <a:solidFill>
                  <a:srgbClr val="CCCCCC"/>
                </a:solidFill>
              </a:rPr>
              <a:t>✓ Terraform マルチ環境構成</a:t>
            </a:r>
          </a:p>
          <a:p>
            <a:r>
              <a:rPr sz="1100">
                <a:solidFill>
                  <a:srgbClr val="CCCCCC"/>
                </a:solidFill>
              </a:rPr>
              <a:t>✓ checkov IaC セキュリティ</a:t>
            </a:r>
          </a:p>
          <a:p>
            <a:r>
              <a:rPr sz="1100">
                <a:solidFill>
                  <a:srgbClr val="CCCCCC"/>
                </a:solidFill>
              </a:rPr>
              <a:t>✓ マルチステージビルド</a:t>
            </a:r>
          </a:p>
          <a:p>
            <a:r>
              <a:rPr sz="1100">
                <a:solidFill>
                  <a:srgbClr val="CCCCCC"/>
                </a:solidFill>
              </a:rPr>
              <a:t>✓ コンテナセキュリティベストプラクティス</a:t>
            </a:r>
          </a:p>
        </p:txBody>
      </p:sp>
      <p:sp>
        <p:nvSpPr>
          <p:cNvPr id="22" name="Rectangle 21"/>
          <p:cNvSpPr/>
          <p:nvPr/>
        </p:nvSpPr>
        <p:spPr>
          <a:xfrm>
            <a:off x="9445752" y="1234440"/>
            <a:ext cx="2194560" cy="5029200"/>
          </a:xfrm>
          <a:prstGeom prst="rect">
            <a:avLst/>
          </a:prstGeom>
          <a:solidFill>
            <a:srgbClr val="2D2D44"/>
          </a:solidFill>
          <a:ln w="190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9445752" y="1234440"/>
            <a:ext cx="2194560" cy="45720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445752" y="1234440"/>
            <a:ext cx="2194560" cy="457200"/>
          </a:xfrm>
          <a:prstGeom prst="rect">
            <a:avLst/>
          </a:prstGeom>
          <a:noFill/>
        </p:spPr>
        <p:txBody>
          <a:bodyPr wrap="square">
            <a:spAutoFit/>
          </a:bodyPr>
          <a:lstStyle/>
          <a:p>
            <a:pPr algn="ctr"/>
            <a:r>
              <a:rPr sz="1200" b="1">
                <a:solidFill>
                  <a:srgbClr val="FFFFFF"/>
                </a:solidFill>
              </a:rPr>
              <a:t>Python</a:t>
            </a:r>
          </a:p>
        </p:txBody>
      </p:sp>
      <p:sp>
        <p:nvSpPr>
          <p:cNvPr id="25" name="TextBox 24"/>
          <p:cNvSpPr txBox="1"/>
          <p:nvPr/>
        </p:nvSpPr>
        <p:spPr>
          <a:xfrm>
            <a:off x="9537192" y="1783080"/>
            <a:ext cx="2011680" cy="4389120"/>
          </a:xfrm>
          <a:prstGeom prst="rect">
            <a:avLst/>
          </a:prstGeom>
          <a:noFill/>
        </p:spPr>
        <p:txBody>
          <a:bodyPr wrap="square">
            <a:spAutoFit/>
          </a:bodyPr>
          <a:lstStyle/>
          <a:p>
            <a:r>
              <a:rPr sz="1100">
                <a:solidFill>
                  <a:srgbClr val="CCCCCC"/>
                </a:solidFill>
              </a:rPr>
              <a:t>✓ Flask Web API 実装</a:t>
            </a:r>
          </a:p>
          <a:p>
            <a:r>
              <a:rPr sz="1100">
                <a:solidFill>
                  <a:srgbClr val="CCCCCC"/>
                </a:solidFill>
              </a:rPr>
              <a:t>✓ ruff (lint/format)</a:t>
            </a:r>
          </a:p>
          <a:p>
            <a:r>
              <a:rPr sz="1100">
                <a:solidFill>
                  <a:srgbClr val="CCCCCC"/>
                </a:solidFill>
              </a:rPr>
              <a:t>✓ mypy 型チェック</a:t>
            </a:r>
          </a:p>
          <a:p>
            <a:r>
              <a:rPr sz="1100">
                <a:solidFill>
                  <a:srgbClr val="CCCCCC"/>
                </a:solidFill>
              </a:rPr>
              <a:t>✓ pytest (coverage 92%)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E1E2E"/>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589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10972800" cy="640080"/>
          </a:xfrm>
          <a:prstGeom prst="rect">
            <a:avLst/>
          </a:prstGeom>
          <a:noFill/>
        </p:spPr>
        <p:txBody>
          <a:bodyPr wrap="square">
            <a:spAutoFit/>
          </a:bodyPr>
          <a:lstStyle/>
          <a:p>
            <a:pPr algn="l"/>
            <a:r>
              <a:rPr sz="2800" b="1">
                <a:solidFill>
                  <a:srgbClr val="FFFFFF"/>
                </a:solidFill>
              </a:rPr>
              <a:t>今後の拡張計画</a:t>
            </a:r>
          </a:p>
        </p:txBody>
      </p:sp>
      <p:sp>
        <p:nvSpPr>
          <p:cNvPr id="4" name="TextBox 3"/>
          <p:cNvSpPr txBox="1"/>
          <p:nvPr/>
        </p:nvSpPr>
        <p:spPr>
          <a:xfrm>
            <a:off x="457200" y="731520"/>
            <a:ext cx="10972800" cy="365760"/>
          </a:xfrm>
          <a:prstGeom prst="rect">
            <a:avLst/>
          </a:prstGeom>
          <a:noFill/>
        </p:spPr>
        <p:txBody>
          <a:bodyPr wrap="square">
            <a:spAutoFit/>
          </a:bodyPr>
          <a:lstStyle/>
          <a:p>
            <a:pPr algn="l"/>
            <a:r>
              <a:rPr sz="1400" b="0">
                <a:solidFill>
                  <a:srgbClr val="589DE8"/>
                </a:solidFill>
              </a:rPr>
              <a:t>現在の制限と次のステップ</a:t>
            </a:r>
          </a:p>
        </p:txBody>
      </p:sp>
      <p:sp>
        <p:nvSpPr>
          <p:cNvPr id="5" name="Rectangle 4"/>
          <p:cNvSpPr/>
          <p:nvPr/>
        </p:nvSpPr>
        <p:spPr>
          <a:xfrm>
            <a:off x="0" y="6675120"/>
            <a:ext cx="12188952" cy="182880"/>
          </a:xfrm>
          <a:prstGeom prst="rect">
            <a:avLst/>
          </a:prstGeom>
          <a:solidFill>
            <a:srgbClr val="589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20040" y="1234440"/>
            <a:ext cx="5029200" cy="365760"/>
          </a:xfrm>
          <a:prstGeom prst="rect">
            <a:avLst/>
          </a:prstGeom>
          <a:noFill/>
        </p:spPr>
        <p:txBody>
          <a:bodyPr wrap="square">
            <a:spAutoFit/>
          </a:bodyPr>
          <a:lstStyle/>
          <a:p>
            <a:pPr algn="l"/>
            <a:r>
              <a:rPr sz="1400" b="1">
                <a:solidFill>
                  <a:srgbClr val="FF5F57"/>
                </a:solidFill>
              </a:rPr>
              <a:t>現在の制限事項</a:t>
            </a:r>
          </a:p>
        </p:txBody>
      </p:sp>
      <p:sp>
        <p:nvSpPr>
          <p:cNvPr id="7" name="Rectangle 6"/>
          <p:cNvSpPr/>
          <p:nvPr/>
        </p:nvSpPr>
        <p:spPr>
          <a:xfrm>
            <a:off x="320040" y="1691640"/>
            <a:ext cx="5029200" cy="594360"/>
          </a:xfrm>
          <a:prstGeom prst="rect">
            <a:avLst/>
          </a:prstGeom>
          <a:solidFill>
            <a:srgbClr val="2D2D44"/>
          </a:solidFill>
          <a:ln w="19050">
            <a:solidFill>
              <a:srgbClr val="FF5F5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1709928"/>
            <a:ext cx="4754880" cy="320040"/>
          </a:xfrm>
          <a:prstGeom prst="rect">
            <a:avLst/>
          </a:prstGeom>
          <a:noFill/>
        </p:spPr>
        <p:txBody>
          <a:bodyPr wrap="square">
            <a:spAutoFit/>
          </a:bodyPr>
          <a:lstStyle/>
          <a:p>
            <a:pPr algn="l"/>
            <a:r>
              <a:rPr sz="1200" b="1">
                <a:solidFill>
                  <a:srgbClr val="FF5F57"/>
                </a:solidFill>
              </a:rPr>
              <a:t>❌  Slack 通知 未実装</a:t>
            </a:r>
          </a:p>
        </p:txBody>
      </p:sp>
      <p:sp>
        <p:nvSpPr>
          <p:cNvPr id="9" name="TextBox 8"/>
          <p:cNvSpPr txBox="1"/>
          <p:nvPr/>
        </p:nvSpPr>
        <p:spPr>
          <a:xfrm>
            <a:off x="457200" y="2011680"/>
            <a:ext cx="4754880" cy="256032"/>
          </a:xfrm>
          <a:prstGeom prst="rect">
            <a:avLst/>
          </a:prstGeom>
          <a:noFill/>
        </p:spPr>
        <p:txBody>
          <a:bodyPr wrap="square">
            <a:spAutoFit/>
          </a:bodyPr>
          <a:lstStyle/>
          <a:p>
            <a:pPr algn="l"/>
            <a:r>
              <a:rPr sz="1100" b="0">
                <a:solidFill>
                  <a:srgbClr val="CCCCCC"/>
                </a:solidFill>
              </a:rPr>
              <a:t>CDの成功・失敗をSlack webhookで通知する仕組みが未実装</a:t>
            </a:r>
          </a:p>
        </p:txBody>
      </p:sp>
      <p:sp>
        <p:nvSpPr>
          <p:cNvPr id="10" name="Rectangle 9"/>
          <p:cNvSpPr/>
          <p:nvPr/>
        </p:nvSpPr>
        <p:spPr>
          <a:xfrm>
            <a:off x="320040" y="2377440"/>
            <a:ext cx="5029200" cy="594360"/>
          </a:xfrm>
          <a:prstGeom prst="rect">
            <a:avLst/>
          </a:prstGeom>
          <a:solidFill>
            <a:srgbClr val="2D2D44"/>
          </a:solidFill>
          <a:ln w="19050">
            <a:solidFill>
              <a:srgbClr val="FF5F5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7200" y="2395728"/>
            <a:ext cx="4754880" cy="320040"/>
          </a:xfrm>
          <a:prstGeom prst="rect">
            <a:avLst/>
          </a:prstGeom>
          <a:noFill/>
        </p:spPr>
        <p:txBody>
          <a:bodyPr wrap="square">
            <a:spAutoFit/>
          </a:bodyPr>
          <a:lstStyle/>
          <a:p>
            <a:pPr algn="l"/>
            <a:r>
              <a:rPr sz="1200" b="1">
                <a:solidFill>
                  <a:srgbClr val="FF5F57"/>
                </a:solidFill>
              </a:rPr>
              <a:t>❌  Terraform remote state 未設定</a:t>
            </a:r>
          </a:p>
        </p:txBody>
      </p:sp>
      <p:sp>
        <p:nvSpPr>
          <p:cNvPr id="12" name="TextBox 11"/>
          <p:cNvSpPr txBox="1"/>
          <p:nvPr/>
        </p:nvSpPr>
        <p:spPr>
          <a:xfrm>
            <a:off x="457200" y="2697480"/>
            <a:ext cx="4754880" cy="256032"/>
          </a:xfrm>
          <a:prstGeom prst="rect">
            <a:avLst/>
          </a:prstGeom>
          <a:noFill/>
        </p:spPr>
        <p:txBody>
          <a:bodyPr wrap="square">
            <a:spAutoFit/>
          </a:bodyPr>
          <a:lstStyle/>
          <a:p>
            <a:pPr algn="l"/>
            <a:r>
              <a:rPr sz="1100" b="0">
                <a:solidFill>
                  <a:srgbClr val="CCCCCC"/>
                </a:solidFill>
              </a:rPr>
              <a:t>現在はローカル状態管理。S3 backend + DynamoDB state lockingが未設定</a:t>
            </a:r>
          </a:p>
        </p:txBody>
      </p:sp>
      <p:sp>
        <p:nvSpPr>
          <p:cNvPr id="13" name="Rectangle 12"/>
          <p:cNvSpPr/>
          <p:nvPr/>
        </p:nvSpPr>
        <p:spPr>
          <a:xfrm>
            <a:off x="320040" y="3063240"/>
            <a:ext cx="5029200" cy="594360"/>
          </a:xfrm>
          <a:prstGeom prst="rect">
            <a:avLst/>
          </a:prstGeom>
          <a:solidFill>
            <a:srgbClr val="2D2D44"/>
          </a:solidFill>
          <a:ln w="19050">
            <a:solidFill>
              <a:srgbClr val="FF5F5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7200" y="3081528"/>
            <a:ext cx="4754880" cy="320040"/>
          </a:xfrm>
          <a:prstGeom prst="rect">
            <a:avLst/>
          </a:prstGeom>
          <a:noFill/>
        </p:spPr>
        <p:txBody>
          <a:bodyPr wrap="square">
            <a:spAutoFit/>
          </a:bodyPr>
          <a:lstStyle/>
          <a:p>
            <a:pPr algn="l"/>
            <a:r>
              <a:rPr sz="1200" b="1">
                <a:solidFill>
                  <a:srgbClr val="FF5F57"/>
                </a:solidFill>
              </a:rPr>
              <a:t>❌  prod ECS デプロイ 未実装</a:t>
            </a:r>
          </a:p>
        </p:txBody>
      </p:sp>
      <p:sp>
        <p:nvSpPr>
          <p:cNvPr id="15" name="TextBox 14"/>
          <p:cNvSpPr txBox="1"/>
          <p:nvPr/>
        </p:nvSpPr>
        <p:spPr>
          <a:xfrm>
            <a:off x="457200" y="3383280"/>
            <a:ext cx="4754880" cy="256032"/>
          </a:xfrm>
          <a:prstGeom prst="rect">
            <a:avLst/>
          </a:prstGeom>
          <a:noFill/>
        </p:spPr>
        <p:txBody>
          <a:bodyPr wrap="square">
            <a:spAutoFit/>
          </a:bodyPr>
          <a:lstStyle/>
          <a:p>
            <a:pPr algn="l"/>
            <a:r>
              <a:rPr sz="1100" b="0">
                <a:solidFill>
                  <a:srgbClr val="CCCCCC"/>
                </a:solidFill>
              </a:rPr>
              <a:t>dev環境のみ。stg/prod環境のECS承認フローが未実装</a:t>
            </a:r>
          </a:p>
        </p:txBody>
      </p:sp>
      <p:sp>
        <p:nvSpPr>
          <p:cNvPr id="16" name="TextBox 15"/>
          <p:cNvSpPr txBox="1"/>
          <p:nvPr/>
        </p:nvSpPr>
        <p:spPr>
          <a:xfrm>
            <a:off x="5669280" y="1234440"/>
            <a:ext cx="6217920" cy="365760"/>
          </a:xfrm>
          <a:prstGeom prst="rect">
            <a:avLst/>
          </a:prstGeom>
          <a:noFill/>
        </p:spPr>
        <p:txBody>
          <a:bodyPr wrap="square">
            <a:spAutoFit/>
          </a:bodyPr>
          <a:lstStyle/>
          <a:p>
            <a:pPr algn="l"/>
            <a:r>
              <a:rPr sz="1400" b="1">
                <a:solidFill>
                  <a:srgbClr val="4EC97E"/>
                </a:solidFill>
              </a:rPr>
              <a:t>推奨される次のステップ</a:t>
            </a:r>
          </a:p>
        </p:txBody>
      </p:sp>
      <p:sp>
        <p:nvSpPr>
          <p:cNvPr id="17" name="Rectangle 16"/>
          <p:cNvSpPr/>
          <p:nvPr/>
        </p:nvSpPr>
        <p:spPr>
          <a:xfrm>
            <a:off x="5669280" y="1691640"/>
            <a:ext cx="2286000" cy="1737360"/>
          </a:xfrm>
          <a:prstGeom prst="rect">
            <a:avLst/>
          </a:prstGeom>
          <a:solidFill>
            <a:srgbClr val="2D2D44"/>
          </a:solidFill>
          <a:ln w="19050">
            <a:solidFill>
              <a:srgbClr val="589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760720" y="1783080"/>
            <a:ext cx="2103120" cy="365760"/>
          </a:xfrm>
          <a:prstGeom prst="rect">
            <a:avLst/>
          </a:prstGeom>
          <a:noFill/>
        </p:spPr>
        <p:txBody>
          <a:bodyPr wrap="square">
            <a:spAutoFit/>
          </a:bodyPr>
          <a:lstStyle/>
          <a:p>
            <a:pPr algn="l"/>
            <a:r>
              <a:rPr sz="1300" b="1">
                <a:solidFill>
                  <a:srgbClr val="589DE8"/>
                </a:solidFill>
              </a:rPr>
              <a:t>通知の統合</a:t>
            </a:r>
          </a:p>
        </p:txBody>
      </p:sp>
      <p:sp>
        <p:nvSpPr>
          <p:cNvPr id="19" name="TextBox 18"/>
          <p:cNvSpPr txBox="1"/>
          <p:nvPr/>
        </p:nvSpPr>
        <p:spPr>
          <a:xfrm>
            <a:off x="5760720" y="2194560"/>
            <a:ext cx="2103120" cy="1097280"/>
          </a:xfrm>
          <a:prstGeom prst="rect">
            <a:avLst/>
          </a:prstGeom>
          <a:noFill/>
        </p:spPr>
        <p:txBody>
          <a:bodyPr wrap="square">
            <a:spAutoFit/>
          </a:bodyPr>
          <a:lstStyle/>
          <a:p>
            <a:pPr algn="l"/>
            <a:r>
              <a:rPr sz="1200" b="0">
                <a:solidFill>
                  <a:srgbClr val="CCCCCC"/>
                </a:solidFill>
              </a:rPr>
              <a:t>Slack webhook による失敗通知
メール通知設定</a:t>
            </a:r>
          </a:p>
        </p:txBody>
      </p:sp>
      <p:sp>
        <p:nvSpPr>
          <p:cNvPr id="20" name="Rectangle 19"/>
          <p:cNvSpPr/>
          <p:nvPr/>
        </p:nvSpPr>
        <p:spPr>
          <a:xfrm>
            <a:off x="8092440" y="1691640"/>
            <a:ext cx="2286000" cy="1737360"/>
          </a:xfrm>
          <a:prstGeom prst="rect">
            <a:avLst/>
          </a:prstGeom>
          <a:solidFill>
            <a:srgbClr val="2D2D44"/>
          </a:solidFill>
          <a:ln w="19050">
            <a:solidFill>
              <a:srgbClr val="4EC97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183879" y="1783080"/>
            <a:ext cx="2103120" cy="365760"/>
          </a:xfrm>
          <a:prstGeom prst="rect">
            <a:avLst/>
          </a:prstGeom>
          <a:noFill/>
        </p:spPr>
        <p:txBody>
          <a:bodyPr wrap="square">
            <a:spAutoFit/>
          </a:bodyPr>
          <a:lstStyle/>
          <a:p>
            <a:pPr algn="l"/>
            <a:r>
              <a:rPr sz="1300" b="1">
                <a:solidFill>
                  <a:srgbClr val="4EC97E"/>
                </a:solidFill>
              </a:rPr>
              <a:t>監視の強化</a:t>
            </a:r>
          </a:p>
        </p:txBody>
      </p:sp>
      <p:sp>
        <p:nvSpPr>
          <p:cNvPr id="22" name="TextBox 21"/>
          <p:cNvSpPr txBox="1"/>
          <p:nvPr/>
        </p:nvSpPr>
        <p:spPr>
          <a:xfrm>
            <a:off x="8183879" y="2194560"/>
            <a:ext cx="2103120" cy="1097280"/>
          </a:xfrm>
          <a:prstGeom prst="rect">
            <a:avLst/>
          </a:prstGeom>
          <a:noFill/>
        </p:spPr>
        <p:txBody>
          <a:bodyPr wrap="square">
            <a:spAutoFit/>
          </a:bodyPr>
          <a:lstStyle/>
          <a:p>
            <a:pPr algn="l"/>
            <a:r>
              <a:rPr sz="1200" b="0">
                <a:solidFill>
                  <a:srgbClr val="CCCCCC"/>
                </a:solidFill>
              </a:rPr>
              <a:t>CloudWatch アラーム連携
デプロイ後のメトリクス監視</a:t>
            </a:r>
          </a:p>
        </p:txBody>
      </p:sp>
      <p:sp>
        <p:nvSpPr>
          <p:cNvPr id="23" name="Rectangle 22"/>
          <p:cNvSpPr/>
          <p:nvPr/>
        </p:nvSpPr>
        <p:spPr>
          <a:xfrm>
            <a:off x="5669280" y="3566160"/>
            <a:ext cx="2286000" cy="1737360"/>
          </a:xfrm>
          <a:prstGeom prst="rect">
            <a:avLst/>
          </a:prstGeom>
          <a:solidFill>
            <a:srgbClr val="2D2D44"/>
          </a:solidFill>
          <a:ln w="19050">
            <a:solidFill>
              <a:srgbClr val="FF9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760720" y="3657600"/>
            <a:ext cx="2103120" cy="365760"/>
          </a:xfrm>
          <a:prstGeom prst="rect">
            <a:avLst/>
          </a:prstGeom>
          <a:noFill/>
        </p:spPr>
        <p:txBody>
          <a:bodyPr wrap="square">
            <a:spAutoFit/>
          </a:bodyPr>
          <a:lstStyle/>
          <a:p>
            <a:pPr algn="l"/>
            <a:r>
              <a:rPr sz="1300" b="1">
                <a:solidFill>
                  <a:srgbClr val="FF9900"/>
                </a:solidFill>
              </a:rPr>
              <a:t>IaC 改善</a:t>
            </a:r>
          </a:p>
        </p:txBody>
      </p:sp>
      <p:sp>
        <p:nvSpPr>
          <p:cNvPr id="25" name="TextBox 24"/>
          <p:cNvSpPr txBox="1"/>
          <p:nvPr/>
        </p:nvSpPr>
        <p:spPr>
          <a:xfrm>
            <a:off x="5760720" y="4069080"/>
            <a:ext cx="2103120" cy="1097280"/>
          </a:xfrm>
          <a:prstGeom prst="rect">
            <a:avLst/>
          </a:prstGeom>
          <a:noFill/>
        </p:spPr>
        <p:txBody>
          <a:bodyPr wrap="square">
            <a:spAutoFit/>
          </a:bodyPr>
          <a:lstStyle/>
          <a:p>
            <a:pPr algn="l"/>
            <a:r>
              <a:rPr sz="1200" b="0">
                <a:solidFill>
                  <a:srgbClr val="CCCCCC"/>
                </a:solidFill>
              </a:rPr>
              <a:t>Terraform modules 化
S3 backend + DynamoDB state locking</a:t>
            </a:r>
          </a:p>
        </p:txBody>
      </p:sp>
      <p:sp>
        <p:nvSpPr>
          <p:cNvPr id="26" name="Rectangle 25"/>
          <p:cNvSpPr/>
          <p:nvPr/>
        </p:nvSpPr>
        <p:spPr>
          <a:xfrm>
            <a:off x="8092440" y="3566160"/>
            <a:ext cx="2286000" cy="1737360"/>
          </a:xfrm>
          <a:prstGeom prst="rect">
            <a:avLst/>
          </a:prstGeom>
          <a:solidFill>
            <a:srgbClr val="2D2D44"/>
          </a:solidFill>
          <a:ln w="19050">
            <a:solidFill>
              <a:srgbClr val="FF5F5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183879" y="3657600"/>
            <a:ext cx="2103120" cy="365760"/>
          </a:xfrm>
          <a:prstGeom prst="rect">
            <a:avLst/>
          </a:prstGeom>
          <a:noFill/>
        </p:spPr>
        <p:txBody>
          <a:bodyPr wrap="square">
            <a:spAutoFit/>
          </a:bodyPr>
          <a:lstStyle/>
          <a:p>
            <a:pPr algn="l"/>
            <a:r>
              <a:rPr sz="1300" b="1">
                <a:solidFill>
                  <a:srgbClr val="FF5F57"/>
                </a:solidFill>
              </a:rPr>
              <a:t>デプロイ高度化</a:t>
            </a:r>
          </a:p>
        </p:txBody>
      </p:sp>
      <p:sp>
        <p:nvSpPr>
          <p:cNvPr id="28" name="TextBox 27"/>
          <p:cNvSpPr txBox="1"/>
          <p:nvPr/>
        </p:nvSpPr>
        <p:spPr>
          <a:xfrm>
            <a:off x="8183879" y="4069080"/>
            <a:ext cx="2103120" cy="1097280"/>
          </a:xfrm>
          <a:prstGeom prst="rect">
            <a:avLst/>
          </a:prstGeom>
          <a:noFill/>
        </p:spPr>
        <p:txBody>
          <a:bodyPr wrap="square">
            <a:spAutoFit/>
          </a:bodyPr>
          <a:lstStyle/>
          <a:p>
            <a:pPr algn="l"/>
            <a:r>
              <a:rPr sz="1200" b="0">
                <a:solidFill>
                  <a:srgbClr val="CCCCCC"/>
                </a:solidFill>
              </a:rPr>
              <a:t>Blue/Green デプロイメント
段階的ローリングアップデート</a:t>
            </a:r>
          </a:p>
        </p:txBody>
      </p:sp>
      <p:sp>
        <p:nvSpPr>
          <p:cNvPr id="29" name="Rectangle 28"/>
          <p:cNvSpPr/>
          <p:nvPr/>
        </p:nvSpPr>
        <p:spPr>
          <a:xfrm>
            <a:off x="5669280" y="5349240"/>
            <a:ext cx="6309360" cy="1280160"/>
          </a:xfrm>
          <a:prstGeom prst="rect">
            <a:avLst/>
          </a:prstGeom>
          <a:solidFill>
            <a:srgbClr val="2D2D44"/>
          </a:solidFill>
          <a:ln w="190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806440" y="5440680"/>
            <a:ext cx="5943600" cy="365760"/>
          </a:xfrm>
          <a:prstGeom prst="rect">
            <a:avLst/>
          </a:prstGeom>
          <a:noFill/>
        </p:spPr>
        <p:txBody>
          <a:bodyPr wrap="square">
            <a:spAutoFit/>
          </a:bodyPr>
          <a:lstStyle/>
          <a:p>
            <a:pPr algn="l"/>
            <a:r>
              <a:rPr sz="1300" b="1">
                <a:solidFill>
                  <a:srgbClr val="CCCCCC"/>
                </a:solidFill>
              </a:rPr>
              <a:t>テスト拡充</a:t>
            </a:r>
          </a:p>
        </p:txBody>
      </p:sp>
      <p:sp>
        <p:nvSpPr>
          <p:cNvPr id="31" name="TextBox 30"/>
          <p:cNvSpPr txBox="1"/>
          <p:nvPr/>
        </p:nvSpPr>
        <p:spPr>
          <a:xfrm>
            <a:off x="5806440" y="5852160"/>
            <a:ext cx="5943600" cy="731520"/>
          </a:xfrm>
          <a:prstGeom prst="rect">
            <a:avLst/>
          </a:prstGeom>
          <a:noFill/>
        </p:spPr>
        <p:txBody>
          <a:bodyPr wrap="square">
            <a:spAutoFit/>
          </a:bodyPr>
          <a:lstStyle/>
          <a:p>
            <a:pPr algn="l"/>
            <a:r>
              <a:rPr sz="1200" b="0">
                <a:solidFill>
                  <a:srgbClr val="CCCCCC"/>
                </a:solidFill>
              </a:rPr>
              <a:t>E2E テスト追加
カオスエンジニアリング</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E1E2E"/>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589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675120"/>
            <a:ext cx="12188952" cy="182880"/>
          </a:xfrm>
          <a:prstGeom prst="rect">
            <a:avLst/>
          </a:prstGeom>
          <a:solidFill>
            <a:srgbClr val="589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
            <a:ext cx="10972800" cy="548640"/>
          </a:xfrm>
          <a:prstGeom prst="rect">
            <a:avLst/>
          </a:prstGeom>
          <a:noFill/>
        </p:spPr>
        <p:txBody>
          <a:bodyPr wrap="square">
            <a:spAutoFit/>
          </a:bodyPr>
          <a:lstStyle/>
          <a:p>
            <a:pPr algn="ctr"/>
            <a:r>
              <a:rPr sz="3200" b="1">
                <a:solidFill>
                  <a:srgbClr val="FFFFFF"/>
                </a:solidFill>
              </a:rPr>
              <a:t>まとめ</a:t>
            </a:r>
          </a:p>
        </p:txBody>
      </p:sp>
      <p:sp>
        <p:nvSpPr>
          <p:cNvPr id="5" name="Rectangle 4"/>
          <p:cNvSpPr/>
          <p:nvPr/>
        </p:nvSpPr>
        <p:spPr>
          <a:xfrm>
            <a:off x="274320" y="914400"/>
            <a:ext cx="11612880" cy="1325880"/>
          </a:xfrm>
          <a:prstGeom prst="rect">
            <a:avLst/>
          </a:prstGeom>
          <a:solidFill>
            <a:srgbClr val="2D2D44"/>
          </a:solidFill>
          <a:ln w="19050">
            <a:solidFill>
              <a:srgbClr val="589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74320" y="914400"/>
            <a:ext cx="228600" cy="1325880"/>
          </a:xfrm>
          <a:prstGeom prst="rect">
            <a:avLst/>
          </a:prstGeom>
          <a:solidFill>
            <a:srgbClr val="589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1024128"/>
            <a:ext cx="11155680" cy="457200"/>
          </a:xfrm>
          <a:prstGeom prst="rect">
            <a:avLst/>
          </a:prstGeom>
          <a:noFill/>
        </p:spPr>
        <p:txBody>
          <a:bodyPr wrap="square">
            <a:spAutoFit/>
          </a:bodyPr>
          <a:lstStyle/>
          <a:p>
            <a:pPr algn="l"/>
            <a:r>
              <a:rPr sz="1500" b="1">
                <a:solidFill>
                  <a:srgbClr val="589DE8"/>
                </a:solidFill>
              </a:rPr>
              <a:t>CI/CDパイプラインをゼロから設計・構築</a:t>
            </a:r>
          </a:p>
        </p:txBody>
      </p:sp>
      <p:sp>
        <p:nvSpPr>
          <p:cNvPr id="8" name="TextBox 7"/>
          <p:cNvSpPr txBox="1"/>
          <p:nvPr/>
        </p:nvSpPr>
        <p:spPr>
          <a:xfrm>
            <a:off x="594360" y="1508760"/>
            <a:ext cx="11155680" cy="594360"/>
          </a:xfrm>
          <a:prstGeom prst="rect">
            <a:avLst/>
          </a:prstGeom>
          <a:noFill/>
        </p:spPr>
        <p:txBody>
          <a:bodyPr wrap="square">
            <a:spAutoFit/>
          </a:bodyPr>
          <a:lstStyle/>
          <a:p>
            <a:pPr algn="l"/>
            <a:r>
              <a:rPr sz="1300" b="0">
                <a:solidFill>
                  <a:srgbClr val="CCCCCC"/>
                </a:solidFill>
              </a:rPr>
              <a:t>GitHub Actionsで品質チェック→セキュリティスキャン→段階的デプロイを一気通貫で実装</a:t>
            </a:r>
          </a:p>
        </p:txBody>
      </p:sp>
      <p:sp>
        <p:nvSpPr>
          <p:cNvPr id="9" name="Rectangle 8"/>
          <p:cNvSpPr/>
          <p:nvPr/>
        </p:nvSpPr>
        <p:spPr>
          <a:xfrm>
            <a:off x="274320" y="2331720"/>
            <a:ext cx="11612880" cy="1325880"/>
          </a:xfrm>
          <a:prstGeom prst="rect">
            <a:avLst/>
          </a:prstGeom>
          <a:solidFill>
            <a:srgbClr val="2D2D44"/>
          </a:solidFill>
          <a:ln w="19050">
            <a:solidFill>
              <a:srgbClr val="FF5F5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74320" y="2331720"/>
            <a:ext cx="228600" cy="1325880"/>
          </a:xfrm>
          <a:prstGeom prst="rect">
            <a:avLst/>
          </a:prstGeom>
          <a:solidFill>
            <a:srgbClr val="FF5F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94360" y="2441448"/>
            <a:ext cx="11155680" cy="457200"/>
          </a:xfrm>
          <a:prstGeom prst="rect">
            <a:avLst/>
          </a:prstGeom>
          <a:noFill/>
        </p:spPr>
        <p:txBody>
          <a:bodyPr wrap="square">
            <a:spAutoFit/>
          </a:bodyPr>
          <a:lstStyle/>
          <a:p>
            <a:pPr algn="l"/>
            <a:r>
              <a:rPr sz="1500" b="1">
                <a:solidFill>
                  <a:srgbClr val="FF5F57"/>
                </a:solidFill>
              </a:rPr>
              <a:t>5段階の多層セキュリティを実践</a:t>
            </a:r>
          </a:p>
        </p:txBody>
      </p:sp>
      <p:sp>
        <p:nvSpPr>
          <p:cNvPr id="12" name="TextBox 11"/>
          <p:cNvSpPr txBox="1"/>
          <p:nvPr/>
        </p:nvSpPr>
        <p:spPr>
          <a:xfrm>
            <a:off x="594360" y="2926080"/>
            <a:ext cx="11155680" cy="594360"/>
          </a:xfrm>
          <a:prstGeom prst="rect">
            <a:avLst/>
          </a:prstGeom>
          <a:noFill/>
        </p:spPr>
        <p:txBody>
          <a:bodyPr wrap="square">
            <a:spAutoFit/>
          </a:bodyPr>
          <a:lstStyle/>
          <a:p>
            <a:pPr algn="l"/>
            <a:r>
              <a:rPr sz="1300" b="0">
                <a:solidFill>
                  <a:srgbClr val="CCCCCC"/>
                </a:solidFill>
              </a:rPr>
              <a:t>コード・依存関係・IaC・コンテナイメージ・ランタイムをTrivy/CodeQL/checkov等で包括的に防御</a:t>
            </a:r>
          </a:p>
        </p:txBody>
      </p:sp>
      <p:sp>
        <p:nvSpPr>
          <p:cNvPr id="13" name="Rectangle 12"/>
          <p:cNvSpPr/>
          <p:nvPr/>
        </p:nvSpPr>
        <p:spPr>
          <a:xfrm>
            <a:off x="274320" y="3749040"/>
            <a:ext cx="11612880" cy="1325880"/>
          </a:xfrm>
          <a:prstGeom prst="rect">
            <a:avLst/>
          </a:prstGeom>
          <a:solidFill>
            <a:srgbClr val="2D2D44"/>
          </a:solidFill>
          <a:ln w="19050">
            <a:solidFill>
              <a:srgbClr val="FF9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274320" y="3749040"/>
            <a:ext cx="228600" cy="1325880"/>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94360" y="3858768"/>
            <a:ext cx="11155680" cy="457200"/>
          </a:xfrm>
          <a:prstGeom prst="rect">
            <a:avLst/>
          </a:prstGeom>
          <a:noFill/>
        </p:spPr>
        <p:txBody>
          <a:bodyPr wrap="square">
            <a:spAutoFit/>
          </a:bodyPr>
          <a:lstStyle/>
          <a:p>
            <a:pPr algn="l"/>
            <a:r>
              <a:rPr sz="1500" b="1">
                <a:solidFill>
                  <a:srgbClr val="FF9900"/>
                </a:solidFill>
              </a:rPr>
              <a:t>AWS本番環境を意識したインフラ設計</a:t>
            </a:r>
          </a:p>
        </p:txBody>
      </p:sp>
      <p:sp>
        <p:nvSpPr>
          <p:cNvPr id="16" name="TextBox 15"/>
          <p:cNvSpPr txBox="1"/>
          <p:nvPr/>
        </p:nvSpPr>
        <p:spPr>
          <a:xfrm>
            <a:off x="594360" y="4343400"/>
            <a:ext cx="11155680" cy="594360"/>
          </a:xfrm>
          <a:prstGeom prst="rect">
            <a:avLst/>
          </a:prstGeom>
          <a:noFill/>
        </p:spPr>
        <p:txBody>
          <a:bodyPr wrap="square">
            <a:spAutoFit/>
          </a:bodyPr>
          <a:lstStyle/>
          <a:p>
            <a:pPr algn="l"/>
            <a:r>
              <a:rPr sz="1300" b="0">
                <a:solidFill>
                  <a:srgbClr val="CCCCCC"/>
                </a:solidFill>
              </a:rPr>
              <a:t>OIDC認証・ECR/ECS・Terraform・最小権限・prevent_destroy等の本番運用ベストプラクティスを適用</a:t>
            </a:r>
          </a:p>
        </p:txBody>
      </p:sp>
      <p:sp>
        <p:nvSpPr>
          <p:cNvPr id="17" name="Rectangle 16"/>
          <p:cNvSpPr/>
          <p:nvPr/>
        </p:nvSpPr>
        <p:spPr>
          <a:xfrm>
            <a:off x="274320" y="5166360"/>
            <a:ext cx="11612880" cy="1325880"/>
          </a:xfrm>
          <a:prstGeom prst="rect">
            <a:avLst/>
          </a:prstGeom>
          <a:solidFill>
            <a:srgbClr val="2D2D44"/>
          </a:solidFill>
          <a:ln w="19050">
            <a:solidFill>
              <a:srgbClr val="4EC97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274320" y="5166360"/>
            <a:ext cx="228600" cy="1325880"/>
          </a:xfrm>
          <a:prstGeom prst="rect">
            <a:avLst/>
          </a:prstGeom>
          <a:solidFill>
            <a:srgbClr val="4EC9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4360" y="5276088"/>
            <a:ext cx="11155680" cy="457200"/>
          </a:xfrm>
          <a:prstGeom prst="rect">
            <a:avLst/>
          </a:prstGeom>
          <a:noFill/>
        </p:spPr>
        <p:txBody>
          <a:bodyPr wrap="square">
            <a:spAutoFit/>
          </a:bodyPr>
          <a:lstStyle/>
          <a:p>
            <a:pPr algn="l"/>
            <a:r>
              <a:rPr sz="1500" b="1">
                <a:solidFill>
                  <a:srgbClr val="4EC97E"/>
                </a:solidFill>
              </a:rPr>
              <a:t>11件のトラブルを実際に解決</a:t>
            </a:r>
          </a:p>
        </p:txBody>
      </p:sp>
      <p:sp>
        <p:nvSpPr>
          <p:cNvPr id="20" name="TextBox 19"/>
          <p:cNvSpPr txBox="1"/>
          <p:nvPr/>
        </p:nvSpPr>
        <p:spPr>
          <a:xfrm>
            <a:off x="594360" y="5760720"/>
            <a:ext cx="11155680" cy="594360"/>
          </a:xfrm>
          <a:prstGeom prst="rect">
            <a:avLst/>
          </a:prstGeom>
          <a:noFill/>
        </p:spPr>
        <p:txBody>
          <a:bodyPr wrap="square">
            <a:spAutoFit/>
          </a:bodyPr>
          <a:lstStyle/>
          <a:p>
            <a:pPr algn="l"/>
            <a:r>
              <a:rPr sz="1300" b="0">
                <a:solidFill>
                  <a:srgbClr val="CCCCCC"/>
                </a:solidFill>
              </a:rPr>
              <a:t>エラーから根本原因を特定し再発防止策まで設計。デバッグ力と問題解決力を実証</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1f8e20e6-048a-4bad-a26b-318dd1cd4d47}" enabled="1" method="Privileged" siteId="{66c65d8a-9158-4521-a2d8-664963db48e4}" contentBits="0" removed="0"/>
</clbl:labelList>
</file>

<file path=docProps/app.xml><?xml version="1.0" encoding="utf-8"?>
<Properties xmlns="http://schemas.openxmlformats.org/officeDocument/2006/extended-properties" xmlns:vt="http://schemas.openxmlformats.org/officeDocument/2006/docPropsVTypes">
  <TotalTime>2</TotalTime>
  <Words>2216</Words>
  <Application>Microsoft Office PowerPoint</Application>
  <PresentationFormat>ユーザー設定</PresentationFormat>
  <Paragraphs>435</Paragraphs>
  <Slides>14</Slides>
  <Notes>14</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14</vt:i4>
      </vt:variant>
    </vt:vector>
  </HeadingPairs>
  <TitlesOfParts>
    <vt:vector size="17" baseType="lpstr">
      <vt:lpstr>Arial</vt:lpstr>
      <vt:lpstr>Calibri</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Yoshida, Hiroshi (SMOJ)</cp:lastModifiedBy>
  <cp:revision>2</cp:revision>
  <dcterms:created xsi:type="dcterms:W3CDTF">2013-01-27T09:14:16Z</dcterms:created>
  <dcterms:modified xsi:type="dcterms:W3CDTF">2026-06-27T05:11:49Z</dcterms:modified>
  <cp:category/>
</cp:coreProperties>
</file>